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80" r:id="rId2"/>
    <p:sldId id="256" r:id="rId3"/>
    <p:sldId id="257" r:id="rId4"/>
    <p:sldId id="259" r:id="rId5"/>
    <p:sldId id="260" r:id="rId6"/>
    <p:sldId id="281" r:id="rId7"/>
    <p:sldId id="274" r:id="rId8"/>
    <p:sldId id="262" r:id="rId9"/>
    <p:sldId id="264" r:id="rId10"/>
    <p:sldId id="265" r:id="rId11"/>
    <p:sldId id="267" r:id="rId12"/>
    <p:sldId id="269" r:id="rId13"/>
    <p:sldId id="270" r:id="rId14"/>
    <p:sldId id="282" r:id="rId15"/>
    <p:sldId id="272" r:id="rId16"/>
    <p:sldId id="275" r:id="rId17"/>
    <p:sldId id="276" r:id="rId18"/>
    <p:sldId id="284" r:id="rId19"/>
    <p:sldId id="278" r:id="rId20"/>
    <p:sldId id="279" r:id="rId21"/>
    <p:sldId id="285"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5D3E59-0749-41B2-BF3D-788F5D72F1FA}" v="1" dt="2026-08-07T09:19:21.3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3447" autoAdjust="0"/>
  </p:normalViewPr>
  <p:slideViewPr>
    <p:cSldViewPr snapToGrid="0" snapToObjects="1">
      <p:cViewPr varScale="1">
        <p:scale>
          <a:sx n="60" d="100"/>
          <a:sy n="60" d="100"/>
        </p:scale>
        <p:origin x="8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een Prabhu Chinnadurai" userId="d0936850-59fd-4966-be14-3549ed0d6641" providerId="ADAL" clId="{A590E5A5-7125-46F7-B362-312843702992}"/>
    <pc:docChg chg="undo custSel modSld">
      <pc:chgData name="Naveen Prabhu Chinnadurai" userId="d0936850-59fd-4966-be14-3549ed0d6641" providerId="ADAL" clId="{A590E5A5-7125-46F7-B362-312843702992}" dt="2026-08-07T17:04:57.266" v="527" actId="20577"/>
      <pc:docMkLst>
        <pc:docMk/>
      </pc:docMkLst>
      <pc:sldChg chg="modSp mod modNotes modNotesTx">
        <pc:chgData name="Naveen Prabhu Chinnadurai" userId="d0936850-59fd-4966-be14-3549ed0d6641" providerId="ADAL" clId="{A590E5A5-7125-46F7-B362-312843702992}" dt="2026-08-05T14:02:13.093" v="269" actId="20577"/>
        <pc:sldMkLst>
          <pc:docMk/>
          <pc:sldMk cId="0" sldId="256"/>
        </pc:sldMkLst>
        <pc:spChg chg="mod">
          <ac:chgData name="Naveen Prabhu Chinnadurai" userId="d0936850-59fd-4966-be14-3549ed0d6641" providerId="ADAL" clId="{A590E5A5-7125-46F7-B362-312843702992}" dt="2026-08-03T08:52:09.644" v="137" actId="20577"/>
          <ac:spMkLst>
            <pc:docMk/>
            <pc:sldMk cId="0" sldId="256"/>
            <ac:spMk id="3" creationId="{00000000-0000-0000-0000-000000000000}"/>
          </ac:spMkLst>
        </pc:spChg>
      </pc:sldChg>
      <pc:sldChg chg="modSp mod modNotes modNotesTx">
        <pc:chgData name="Naveen Prabhu Chinnadurai" userId="d0936850-59fd-4966-be14-3549ed0d6641" providerId="ADAL" clId="{A590E5A5-7125-46F7-B362-312843702992}" dt="2026-08-05T14:02:25.592" v="270" actId="20577"/>
        <pc:sldMkLst>
          <pc:docMk/>
          <pc:sldMk cId="0" sldId="257"/>
        </pc:sldMkLst>
        <pc:spChg chg="mod">
          <ac:chgData name="Naveen Prabhu Chinnadurai" userId="d0936850-59fd-4966-be14-3549ed0d6641" providerId="ADAL" clId="{A590E5A5-7125-46F7-B362-312843702992}" dt="2026-08-05T13:26:25.638" v="268" actId="20577"/>
          <ac:spMkLst>
            <pc:docMk/>
            <pc:sldMk cId="0" sldId="257"/>
            <ac:spMk id="5" creationId="{00000000-0000-0000-0000-000000000000}"/>
          </ac:spMkLst>
        </pc:spChg>
      </pc:sldChg>
      <pc:sldChg chg="modSp modNotes modNotesTx">
        <pc:chgData name="Naveen Prabhu Chinnadurai" userId="d0936850-59fd-4966-be14-3549ed0d6641" providerId="ADAL" clId="{A590E5A5-7125-46F7-B362-312843702992}" dt="2026-08-05T14:02:28.176" v="271" actId="20577"/>
        <pc:sldMkLst>
          <pc:docMk/>
          <pc:sldMk cId="0" sldId="259"/>
        </pc:sldMkLst>
        <pc:spChg chg="mod">
          <ac:chgData name="Naveen Prabhu Chinnadurai" userId="d0936850-59fd-4966-be14-3549ed0d6641" providerId="ADAL" clId="{A590E5A5-7125-46F7-B362-312843702992}" dt="2026-08-05T13:22:27.232" v="186"/>
          <ac:spMkLst>
            <pc:docMk/>
            <pc:sldMk cId="0" sldId="259"/>
            <ac:spMk id="5" creationId="{00000000-0000-0000-0000-000000000000}"/>
          </ac:spMkLst>
        </pc:spChg>
      </pc:sldChg>
      <pc:sldChg chg="addSp delSp modSp mod modNotes modNotesTx">
        <pc:chgData name="Naveen Prabhu Chinnadurai" userId="d0936850-59fd-4966-be14-3549ed0d6641" providerId="ADAL" clId="{A590E5A5-7125-46F7-B362-312843702992}" dt="2026-08-07T12:01:10.387" v="523" actId="14100"/>
        <pc:sldMkLst>
          <pc:docMk/>
          <pc:sldMk cId="0" sldId="260"/>
        </pc:sldMkLst>
        <pc:spChg chg="mod">
          <ac:chgData name="Naveen Prabhu Chinnadurai" userId="d0936850-59fd-4966-be14-3549ed0d6641" providerId="ADAL" clId="{A590E5A5-7125-46F7-B362-312843702992}" dt="2026-08-03T08:45:31.131" v="30" actId="14100"/>
          <ac:spMkLst>
            <pc:docMk/>
            <pc:sldMk cId="0" sldId="260"/>
            <ac:spMk id="2" creationId="{00000000-0000-0000-0000-000000000000}"/>
          </ac:spMkLst>
        </pc:spChg>
        <pc:spChg chg="mod">
          <ac:chgData name="Naveen Prabhu Chinnadurai" userId="d0936850-59fd-4966-be14-3549ed0d6641" providerId="ADAL" clId="{A590E5A5-7125-46F7-B362-312843702992}" dt="2026-08-07T12:01:10.387" v="523" actId="14100"/>
          <ac:spMkLst>
            <pc:docMk/>
            <pc:sldMk cId="0" sldId="260"/>
            <ac:spMk id="4" creationId="{00000000-0000-0000-0000-000000000000}"/>
          </ac:spMkLst>
        </pc:spChg>
        <pc:spChg chg="mod">
          <ac:chgData name="Naveen Prabhu Chinnadurai" userId="d0936850-59fd-4966-be14-3549ed0d6641" providerId="ADAL" clId="{A590E5A5-7125-46F7-B362-312843702992}" dt="2026-08-07T12:01:10.387" v="523" actId="14100"/>
          <ac:spMkLst>
            <pc:docMk/>
            <pc:sldMk cId="0" sldId="260"/>
            <ac:spMk id="7" creationId="{00000000-0000-0000-0000-000000000000}"/>
          </ac:spMkLst>
        </pc:spChg>
        <pc:spChg chg="mod">
          <ac:chgData name="Naveen Prabhu Chinnadurai" userId="d0936850-59fd-4966-be14-3549ed0d6641" providerId="ADAL" clId="{A590E5A5-7125-46F7-B362-312843702992}" dt="2026-08-07T12:01:10.387" v="523" actId="14100"/>
          <ac:spMkLst>
            <pc:docMk/>
            <pc:sldMk cId="0" sldId="260"/>
            <ac:spMk id="10" creationId="{00000000-0000-0000-0000-000000000000}"/>
          </ac:spMkLst>
        </pc:spChg>
        <pc:spChg chg="mod">
          <ac:chgData name="Naveen Prabhu Chinnadurai" userId="d0936850-59fd-4966-be14-3549ed0d6641" providerId="ADAL" clId="{A590E5A5-7125-46F7-B362-312843702992}" dt="2026-08-05T13:22:33.543" v="187"/>
          <ac:spMkLst>
            <pc:docMk/>
            <pc:sldMk cId="0" sldId="260"/>
            <ac:spMk id="13" creationId="{00000000-0000-0000-0000-000000000000}"/>
          </ac:spMkLst>
        </pc:spChg>
        <pc:spChg chg="add mod">
          <ac:chgData name="Naveen Prabhu Chinnadurai" userId="d0936850-59fd-4966-be14-3549ed0d6641" providerId="ADAL" clId="{A590E5A5-7125-46F7-B362-312843702992}" dt="2026-08-03T08:45:10.187" v="29" actId="1076"/>
          <ac:spMkLst>
            <pc:docMk/>
            <pc:sldMk cId="0" sldId="260"/>
            <ac:spMk id="18" creationId="{092B81D3-D7EB-40C9-4104-93CD438A268D}"/>
          </ac:spMkLst>
        </pc:spChg>
      </pc:sldChg>
      <pc:sldChg chg="modSp mod modNotes modNotesTx">
        <pc:chgData name="Naveen Prabhu Chinnadurai" userId="d0936850-59fd-4966-be14-3549ed0d6641" providerId="ADAL" clId="{A590E5A5-7125-46F7-B362-312843702992}" dt="2026-08-07T11:52:33.878" v="337" actId="1035"/>
        <pc:sldMkLst>
          <pc:docMk/>
          <pc:sldMk cId="0" sldId="262"/>
        </pc:sldMkLst>
        <pc:spChg chg="mod">
          <ac:chgData name="Naveen Prabhu Chinnadurai" userId="d0936850-59fd-4966-be14-3549ed0d6641" providerId="ADAL" clId="{A590E5A5-7125-46F7-B362-312843702992}" dt="2026-08-05T13:22:37.242" v="188"/>
          <ac:spMkLst>
            <pc:docMk/>
            <pc:sldMk cId="0" sldId="262"/>
            <ac:spMk id="5" creationId="{00000000-0000-0000-0000-000000000000}"/>
          </ac:spMkLst>
        </pc:spChg>
        <pc:picChg chg="mod">
          <ac:chgData name="Naveen Prabhu Chinnadurai" userId="d0936850-59fd-4966-be14-3549ed0d6641" providerId="ADAL" clId="{A590E5A5-7125-46F7-B362-312843702992}" dt="2026-08-07T11:52:33.878" v="337" actId="1035"/>
          <ac:picMkLst>
            <pc:docMk/>
            <pc:sldMk cId="0" sldId="262"/>
            <ac:picMk id="91" creationId="{00000000-0000-0000-0000-000000000000}"/>
          </ac:picMkLst>
        </pc:picChg>
      </pc:sldChg>
      <pc:sldChg chg="modSp mod modNotes modNotesTx">
        <pc:chgData name="Naveen Prabhu Chinnadurai" userId="d0936850-59fd-4966-be14-3549ed0d6641" providerId="ADAL" clId="{A590E5A5-7125-46F7-B362-312843702992}" dt="2026-08-07T11:57:39.869" v="463" actId="1036"/>
        <pc:sldMkLst>
          <pc:docMk/>
          <pc:sldMk cId="0" sldId="264"/>
        </pc:sldMkLst>
        <pc:spChg chg="mod">
          <ac:chgData name="Naveen Prabhu Chinnadurai" userId="d0936850-59fd-4966-be14-3549ed0d6641" providerId="ADAL" clId="{A590E5A5-7125-46F7-B362-312843702992}" dt="2026-08-07T11:57:39.869" v="463" actId="1036"/>
          <ac:spMkLst>
            <pc:docMk/>
            <pc:sldMk cId="0" sldId="264"/>
            <ac:spMk id="4" creationId="{00000000-0000-0000-0000-000000000000}"/>
          </ac:spMkLst>
        </pc:spChg>
        <pc:spChg chg="mod">
          <ac:chgData name="Naveen Prabhu Chinnadurai" userId="d0936850-59fd-4966-be14-3549ed0d6641" providerId="ADAL" clId="{A590E5A5-7125-46F7-B362-312843702992}" dt="2026-08-07T11:56:49.164" v="407" actId="14100"/>
          <ac:spMkLst>
            <pc:docMk/>
            <pc:sldMk cId="0" sldId="264"/>
            <ac:spMk id="6"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7"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8" creationId="{00000000-0000-0000-0000-000000000000}"/>
          </ac:spMkLst>
        </pc:spChg>
        <pc:spChg chg="mod">
          <ac:chgData name="Naveen Prabhu Chinnadurai" userId="d0936850-59fd-4966-be14-3549ed0d6641" providerId="ADAL" clId="{A590E5A5-7125-46F7-B362-312843702992}" dt="2026-08-07T11:56:19.827" v="405" actId="1036"/>
          <ac:spMkLst>
            <pc:docMk/>
            <pc:sldMk cId="0" sldId="264"/>
            <ac:spMk id="9"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10" creationId="{00000000-0000-0000-0000-000000000000}"/>
          </ac:spMkLst>
        </pc:spChg>
        <pc:spChg chg="mod">
          <ac:chgData name="Naveen Prabhu Chinnadurai" userId="d0936850-59fd-4966-be14-3549ed0d6641" providerId="ADAL" clId="{A590E5A5-7125-46F7-B362-312843702992}" dt="2026-08-07T11:56:49.164" v="407" actId="14100"/>
          <ac:spMkLst>
            <pc:docMk/>
            <pc:sldMk cId="0" sldId="264"/>
            <ac:spMk id="12"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13" creationId="{00000000-0000-0000-0000-000000000000}"/>
          </ac:spMkLst>
        </pc:spChg>
        <pc:spChg chg="mod">
          <ac:chgData name="Naveen Prabhu Chinnadurai" userId="d0936850-59fd-4966-be14-3549ed0d6641" providerId="ADAL" clId="{A590E5A5-7125-46F7-B362-312843702992}" dt="2026-08-07T11:55:33.285" v="363" actId="1036"/>
          <ac:spMkLst>
            <pc:docMk/>
            <pc:sldMk cId="0" sldId="264"/>
            <ac:spMk id="15"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16" creationId="{00000000-0000-0000-0000-000000000000}"/>
          </ac:spMkLst>
        </pc:spChg>
        <pc:spChg chg="mod">
          <ac:chgData name="Naveen Prabhu Chinnadurai" userId="d0936850-59fd-4966-be14-3549ed0d6641" providerId="ADAL" clId="{A590E5A5-7125-46F7-B362-312843702992}" dt="2026-08-07T11:56:49.164" v="407" actId="14100"/>
          <ac:spMkLst>
            <pc:docMk/>
            <pc:sldMk cId="0" sldId="264"/>
            <ac:spMk id="18"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20" creationId="{00000000-0000-0000-0000-000000000000}"/>
          </ac:spMkLst>
        </pc:spChg>
        <pc:spChg chg="mod">
          <ac:chgData name="Naveen Prabhu Chinnadurai" userId="d0936850-59fd-4966-be14-3549ed0d6641" providerId="ADAL" clId="{A590E5A5-7125-46F7-B362-312843702992}" dt="2026-08-02T07:59:04.014" v="19" actId="14100"/>
          <ac:spMkLst>
            <pc:docMk/>
            <pc:sldMk cId="0" sldId="264"/>
            <ac:spMk id="21"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22"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24" creationId="{00000000-0000-0000-0000-000000000000}"/>
          </ac:spMkLst>
        </pc:spChg>
        <pc:spChg chg="mod">
          <ac:chgData name="Naveen Prabhu Chinnadurai" userId="d0936850-59fd-4966-be14-3549ed0d6641" providerId="ADAL" clId="{A590E5A5-7125-46F7-B362-312843702992}" dt="2026-08-07T11:57:39.869" v="463" actId="1036"/>
          <ac:spMkLst>
            <pc:docMk/>
            <pc:sldMk cId="0" sldId="264"/>
            <ac:spMk id="26" creationId="{00000000-0000-0000-0000-000000000000}"/>
          </ac:spMkLst>
        </pc:spChg>
        <pc:spChg chg="mod">
          <ac:chgData name="Naveen Prabhu Chinnadurai" userId="d0936850-59fd-4966-be14-3549ed0d6641" providerId="ADAL" clId="{A590E5A5-7125-46F7-B362-312843702992}" dt="2026-08-05T13:22:42.311" v="189"/>
          <ac:spMkLst>
            <pc:docMk/>
            <pc:sldMk cId="0" sldId="264"/>
            <ac:spMk id="27" creationId="{00000000-0000-0000-0000-000000000000}"/>
          </ac:spMkLst>
        </pc:spChg>
      </pc:sldChg>
      <pc:sldChg chg="addSp modSp mod modNotes modNotesTx">
        <pc:chgData name="Naveen Prabhu Chinnadurai" userId="d0936850-59fd-4966-be14-3549ed0d6641" providerId="ADAL" clId="{A590E5A5-7125-46F7-B362-312843702992}" dt="2026-08-07T17:04:57.266" v="527" actId="20577"/>
        <pc:sldMkLst>
          <pc:docMk/>
          <pc:sldMk cId="0" sldId="265"/>
        </pc:sldMkLst>
        <pc:spChg chg="mod">
          <ac:chgData name="Naveen Prabhu Chinnadurai" userId="d0936850-59fd-4966-be14-3549ed0d6641" providerId="ADAL" clId="{A590E5A5-7125-46F7-B362-312843702992}" dt="2026-08-03T08:45:49.168" v="32" actId="14100"/>
          <ac:spMkLst>
            <pc:docMk/>
            <pc:sldMk cId="0" sldId="265"/>
            <ac:spMk id="2" creationId="{00000000-0000-0000-0000-000000000000}"/>
          </ac:spMkLst>
        </pc:spChg>
        <pc:spChg chg="mod">
          <ac:chgData name="Naveen Prabhu Chinnadurai" userId="d0936850-59fd-4966-be14-3549ed0d6641" providerId="ADAL" clId="{A590E5A5-7125-46F7-B362-312843702992}" dt="2026-08-07T17:04:57.266" v="527" actId="20577"/>
          <ac:spMkLst>
            <pc:docMk/>
            <pc:sldMk cId="0" sldId="265"/>
            <ac:spMk id="4" creationId="{00000000-0000-0000-0000-000000000000}"/>
          </ac:spMkLst>
        </pc:spChg>
        <pc:spChg chg="mod">
          <ac:chgData name="Naveen Prabhu Chinnadurai" userId="d0936850-59fd-4966-be14-3549ed0d6641" providerId="ADAL" clId="{A590E5A5-7125-46F7-B362-312843702992}" dt="2026-08-05T13:22:46.591" v="190"/>
          <ac:spMkLst>
            <pc:docMk/>
            <pc:sldMk cId="0" sldId="265"/>
            <ac:spMk id="5" creationId="{00000000-0000-0000-0000-000000000000}"/>
          </ac:spMkLst>
        </pc:spChg>
        <pc:spChg chg="add">
          <ac:chgData name="Naveen Prabhu Chinnadurai" userId="d0936850-59fd-4966-be14-3549ed0d6641" providerId="ADAL" clId="{A590E5A5-7125-46F7-B362-312843702992}" dt="2026-08-03T08:45:43.397" v="31" actId="22"/>
          <ac:spMkLst>
            <pc:docMk/>
            <pc:sldMk cId="0" sldId="265"/>
            <ac:spMk id="8" creationId="{82A8B102-9CC8-A5AC-47F3-C47B33C96EA1}"/>
          </ac:spMkLst>
        </pc:spChg>
      </pc:sldChg>
      <pc:sldChg chg="modSp mod modNotes modNotesTx">
        <pc:chgData name="Naveen Prabhu Chinnadurai" userId="d0936850-59fd-4966-be14-3549ed0d6641" providerId="ADAL" clId="{A590E5A5-7125-46F7-B362-312843702992}" dt="2026-08-07T11:58:58.496" v="515" actId="1036"/>
        <pc:sldMkLst>
          <pc:docMk/>
          <pc:sldMk cId="0" sldId="267"/>
        </pc:sldMkLst>
        <pc:spChg chg="mod">
          <ac:chgData name="Naveen Prabhu Chinnadurai" userId="d0936850-59fd-4966-be14-3549ed0d6641" providerId="ADAL" clId="{A590E5A5-7125-46F7-B362-312843702992}" dt="2026-08-07T11:58:58.496" v="515" actId="1036"/>
          <ac:spMkLst>
            <pc:docMk/>
            <pc:sldMk cId="0" sldId="267"/>
            <ac:spMk id="4"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5"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6"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7"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8"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9"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10"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11" creationId="{00000000-0000-0000-0000-000000000000}"/>
          </ac:spMkLst>
        </pc:spChg>
        <pc:spChg chg="mod">
          <ac:chgData name="Naveen Prabhu Chinnadurai" userId="d0936850-59fd-4966-be14-3549ed0d6641" providerId="ADAL" clId="{A590E5A5-7125-46F7-B362-312843702992}" dt="2026-08-07T11:58:58.496" v="515" actId="1036"/>
          <ac:spMkLst>
            <pc:docMk/>
            <pc:sldMk cId="0" sldId="267"/>
            <ac:spMk id="12" creationId="{00000000-0000-0000-0000-000000000000}"/>
          </ac:spMkLst>
        </pc:spChg>
        <pc:spChg chg="mod">
          <ac:chgData name="Naveen Prabhu Chinnadurai" userId="d0936850-59fd-4966-be14-3549ed0d6641" providerId="ADAL" clId="{A590E5A5-7125-46F7-B362-312843702992}" dt="2026-08-05T13:23:06.059" v="197"/>
          <ac:spMkLst>
            <pc:docMk/>
            <pc:sldMk cId="0" sldId="267"/>
            <ac:spMk id="13" creationId="{00000000-0000-0000-0000-000000000000}"/>
          </ac:spMkLst>
        </pc:spChg>
      </pc:sldChg>
      <pc:sldChg chg="modSp modNotes modNotesTx">
        <pc:chgData name="Naveen Prabhu Chinnadurai" userId="d0936850-59fd-4966-be14-3549ed0d6641" providerId="ADAL" clId="{A590E5A5-7125-46F7-B362-312843702992}" dt="2026-08-05T14:02:48.022" v="278" actId="20577"/>
        <pc:sldMkLst>
          <pc:docMk/>
          <pc:sldMk cId="0" sldId="269"/>
        </pc:sldMkLst>
        <pc:spChg chg="mod">
          <ac:chgData name="Naveen Prabhu Chinnadurai" userId="d0936850-59fd-4966-be14-3549ed0d6641" providerId="ADAL" clId="{A590E5A5-7125-46F7-B362-312843702992}" dt="2026-08-05T13:24:26.337" v="198"/>
          <ac:spMkLst>
            <pc:docMk/>
            <pc:sldMk cId="0" sldId="269"/>
            <ac:spMk id="5" creationId="{00000000-0000-0000-0000-000000000000}"/>
          </ac:spMkLst>
        </pc:spChg>
      </pc:sldChg>
      <pc:sldChg chg="addSp delSp modSp mod modNotes modNotesTx">
        <pc:chgData name="Naveen Prabhu Chinnadurai" userId="d0936850-59fd-4966-be14-3549ed0d6641" providerId="ADAL" clId="{A590E5A5-7125-46F7-B362-312843702992}" dt="2026-08-05T14:02:52.208" v="279" actId="20577"/>
        <pc:sldMkLst>
          <pc:docMk/>
          <pc:sldMk cId="0" sldId="270"/>
        </pc:sldMkLst>
        <pc:spChg chg="mod">
          <ac:chgData name="Naveen Prabhu Chinnadurai" userId="d0936850-59fd-4966-be14-3549ed0d6641" providerId="ADAL" clId="{A590E5A5-7125-46F7-B362-312843702992}" dt="2026-08-03T08:46:21.606" v="38" actId="14100"/>
          <ac:spMkLst>
            <pc:docMk/>
            <pc:sldMk cId="0" sldId="270"/>
            <ac:spMk id="2" creationId="{00000000-0000-0000-0000-000000000000}"/>
          </ac:spMkLst>
        </pc:spChg>
        <pc:spChg chg="mod">
          <ac:chgData name="Naveen Prabhu Chinnadurai" userId="d0936850-59fd-4966-be14-3549ed0d6641" providerId="ADAL" clId="{A590E5A5-7125-46F7-B362-312843702992}" dt="2026-08-02T21:15:09.134" v="20" actId="14100"/>
          <ac:spMkLst>
            <pc:docMk/>
            <pc:sldMk cId="0" sldId="270"/>
            <ac:spMk id="19" creationId="{00000000-0000-0000-0000-000000000000}"/>
          </ac:spMkLst>
        </pc:spChg>
        <pc:spChg chg="mod">
          <ac:chgData name="Naveen Prabhu Chinnadurai" userId="d0936850-59fd-4966-be14-3549ed0d6641" providerId="ADAL" clId="{A590E5A5-7125-46F7-B362-312843702992}" dt="2026-08-05T13:24:32.226" v="199"/>
          <ac:spMkLst>
            <pc:docMk/>
            <pc:sldMk cId="0" sldId="270"/>
            <ac:spMk id="21" creationId="{00000000-0000-0000-0000-000000000000}"/>
          </ac:spMkLst>
        </pc:spChg>
        <pc:spChg chg="add">
          <ac:chgData name="Naveen Prabhu Chinnadurai" userId="d0936850-59fd-4966-be14-3549ed0d6641" providerId="ADAL" clId="{A590E5A5-7125-46F7-B362-312843702992}" dt="2026-08-03T08:46:13.956" v="37" actId="22"/>
          <ac:spMkLst>
            <pc:docMk/>
            <pc:sldMk cId="0" sldId="270"/>
            <ac:spMk id="28" creationId="{3FED0F6F-E7AC-CF99-8EA9-475B6A771197}"/>
          </ac:spMkLst>
        </pc:spChg>
      </pc:sldChg>
      <pc:sldChg chg="modSp modNotes modNotesTx">
        <pc:chgData name="Naveen Prabhu Chinnadurai" userId="d0936850-59fd-4966-be14-3549ed0d6641" providerId="ADAL" clId="{A590E5A5-7125-46F7-B362-312843702992}" dt="2026-08-05T14:02:59.376" v="282" actId="20577"/>
        <pc:sldMkLst>
          <pc:docMk/>
          <pc:sldMk cId="0" sldId="272"/>
        </pc:sldMkLst>
        <pc:spChg chg="mod">
          <ac:chgData name="Naveen Prabhu Chinnadurai" userId="d0936850-59fd-4966-be14-3549ed0d6641" providerId="ADAL" clId="{A590E5A5-7125-46F7-B362-312843702992}" dt="2026-08-05T13:24:43.485" v="202"/>
          <ac:spMkLst>
            <pc:docMk/>
            <pc:sldMk cId="0" sldId="272"/>
            <ac:spMk id="5" creationId="{00000000-0000-0000-0000-000000000000}"/>
          </ac:spMkLst>
        </pc:spChg>
      </pc:sldChg>
      <pc:sldChg chg="addSp modSp mod modNotes modNotesTx">
        <pc:chgData name="Naveen Prabhu Chinnadurai" userId="d0936850-59fd-4966-be14-3549ed0d6641" providerId="ADAL" clId="{A590E5A5-7125-46F7-B362-312843702992}" dt="2026-08-07T12:59:57.831" v="525" actId="20577"/>
        <pc:sldMkLst>
          <pc:docMk/>
          <pc:sldMk cId="0" sldId="274"/>
        </pc:sldMkLst>
        <pc:spChg chg="mod">
          <ac:chgData name="Naveen Prabhu Chinnadurai" userId="d0936850-59fd-4966-be14-3549ed0d6641" providerId="ADAL" clId="{A590E5A5-7125-46F7-B362-312843702992}" dt="2026-08-03T08:47:58.694" v="81" actId="14100"/>
          <ac:spMkLst>
            <pc:docMk/>
            <pc:sldMk cId="0" sldId="274"/>
            <ac:spMk id="2" creationId="{00000000-0000-0000-0000-000000000000}"/>
          </ac:spMkLst>
        </pc:spChg>
        <pc:spChg chg="mod">
          <ac:chgData name="Naveen Prabhu Chinnadurai" userId="d0936850-59fd-4966-be14-3549ed0d6641" providerId="ADAL" clId="{A590E5A5-7125-46F7-B362-312843702992}" dt="2026-08-05T13:24:53.166" v="204"/>
          <ac:spMkLst>
            <pc:docMk/>
            <pc:sldMk cId="0" sldId="274"/>
            <ac:spMk id="5" creationId="{00000000-0000-0000-0000-000000000000}"/>
          </ac:spMkLst>
        </pc:spChg>
        <pc:spChg chg="add mod">
          <ac:chgData name="Naveen Prabhu Chinnadurai" userId="d0936850-59fd-4966-be14-3549ed0d6641" providerId="ADAL" clId="{A590E5A5-7125-46F7-B362-312843702992}" dt="2026-08-03T08:49:12.367" v="109" actId="20577"/>
          <ac:spMkLst>
            <pc:docMk/>
            <pc:sldMk cId="0" sldId="274"/>
            <ac:spMk id="8" creationId="{F093C32C-F95F-FAAC-8DDC-3E80BA624564}"/>
          </ac:spMkLst>
        </pc:spChg>
        <pc:spChg chg="mod">
          <ac:chgData name="Naveen Prabhu Chinnadurai" userId="d0936850-59fd-4966-be14-3549ed0d6641" providerId="ADAL" clId="{A590E5A5-7125-46F7-B362-312843702992}" dt="2026-08-07T12:59:57.831" v="525" actId="20577"/>
          <ac:spMkLst>
            <pc:docMk/>
            <pc:sldMk cId="0" sldId="274"/>
            <ac:spMk id="91" creationId="{00000000-0000-0000-0000-000000000000}"/>
          </ac:spMkLst>
        </pc:spChg>
      </pc:sldChg>
      <pc:sldChg chg="addSp delSp modSp mod modNotes modNotesTx">
        <pc:chgData name="Naveen Prabhu Chinnadurai" userId="d0936850-59fd-4966-be14-3549ed0d6641" providerId="ADAL" clId="{A590E5A5-7125-46F7-B362-312843702992}" dt="2026-08-05T14:03:07.254" v="285" actId="20577"/>
        <pc:sldMkLst>
          <pc:docMk/>
          <pc:sldMk cId="0" sldId="275"/>
        </pc:sldMkLst>
        <pc:spChg chg="mod">
          <ac:chgData name="Naveen Prabhu Chinnadurai" userId="d0936850-59fd-4966-be14-3549ed0d6641" providerId="ADAL" clId="{A590E5A5-7125-46F7-B362-312843702992}" dt="2026-08-03T08:47:27.652" v="42" actId="14100"/>
          <ac:spMkLst>
            <pc:docMk/>
            <pc:sldMk cId="0" sldId="275"/>
            <ac:spMk id="2" creationId="{00000000-0000-0000-0000-000000000000}"/>
          </ac:spMkLst>
        </pc:spChg>
        <pc:spChg chg="mod">
          <ac:chgData name="Naveen Prabhu Chinnadurai" userId="d0936850-59fd-4966-be14-3549ed0d6641" providerId="ADAL" clId="{A590E5A5-7125-46F7-B362-312843702992}" dt="2026-08-05T13:24:56.838" v="205"/>
          <ac:spMkLst>
            <pc:docMk/>
            <pc:sldMk cId="0" sldId="275"/>
            <ac:spMk id="19" creationId="{00000000-0000-0000-0000-000000000000}"/>
          </ac:spMkLst>
        </pc:spChg>
        <pc:spChg chg="add mod">
          <ac:chgData name="Naveen Prabhu Chinnadurai" userId="d0936850-59fd-4966-be14-3549ed0d6641" providerId="ADAL" clId="{A590E5A5-7125-46F7-B362-312843702992}" dt="2026-08-03T08:47:50.293" v="79" actId="20577"/>
          <ac:spMkLst>
            <pc:docMk/>
            <pc:sldMk cId="0" sldId="275"/>
            <ac:spMk id="23" creationId="{9FCF795A-0FA1-3641-76CD-3701C5B1C5DC}"/>
          </ac:spMkLst>
        </pc:spChg>
      </pc:sldChg>
      <pc:sldChg chg="modSp modNotes modNotesTx">
        <pc:chgData name="Naveen Prabhu Chinnadurai" userId="d0936850-59fd-4966-be14-3549ed0d6641" providerId="ADAL" clId="{A590E5A5-7125-46F7-B362-312843702992}" dt="2026-08-05T14:05:27.055" v="292" actId="20577"/>
        <pc:sldMkLst>
          <pc:docMk/>
          <pc:sldMk cId="0" sldId="276"/>
        </pc:sldMkLst>
        <pc:spChg chg="mod">
          <ac:chgData name="Naveen Prabhu Chinnadurai" userId="d0936850-59fd-4966-be14-3549ed0d6641" providerId="ADAL" clId="{A590E5A5-7125-46F7-B362-312843702992}" dt="2026-08-05T13:25:02.284" v="206"/>
          <ac:spMkLst>
            <pc:docMk/>
            <pc:sldMk cId="0" sldId="276"/>
            <ac:spMk id="29" creationId="{00000000-0000-0000-0000-000000000000}"/>
          </ac:spMkLst>
        </pc:spChg>
      </pc:sldChg>
      <pc:sldChg chg="modSp mod modNotesTx">
        <pc:chgData name="Naveen Prabhu Chinnadurai" userId="d0936850-59fd-4966-be14-3549ed0d6641" providerId="ADAL" clId="{A590E5A5-7125-46F7-B362-312843702992}" dt="2026-08-05T14:05:20.461" v="291" actId="20577"/>
        <pc:sldMkLst>
          <pc:docMk/>
          <pc:sldMk cId="0" sldId="277"/>
        </pc:sldMkLst>
        <pc:spChg chg="mod">
          <ac:chgData name="Naveen Prabhu Chinnadurai" userId="d0936850-59fd-4966-be14-3549ed0d6641" providerId="ADAL" clId="{A590E5A5-7125-46F7-B362-312843702992}" dt="2026-08-02T06:46:36.029" v="11" actId="1076"/>
          <ac:spMkLst>
            <pc:docMk/>
            <pc:sldMk cId="0" sldId="277"/>
            <ac:spMk id="2" creationId="{00000000-0000-0000-0000-000000000000}"/>
          </ac:spMkLst>
        </pc:spChg>
        <pc:spChg chg="mod">
          <ac:chgData name="Naveen Prabhu Chinnadurai" userId="d0936850-59fd-4966-be14-3549ed0d6641" providerId="ADAL" clId="{A590E5A5-7125-46F7-B362-312843702992}" dt="2026-08-02T06:41:35.680" v="0" actId="14100"/>
          <ac:spMkLst>
            <pc:docMk/>
            <pc:sldMk cId="0" sldId="277"/>
            <ac:spMk id="3" creationId="{00000000-0000-0000-0000-000000000000}"/>
          </ac:spMkLst>
        </pc:spChg>
        <pc:spChg chg="mod">
          <ac:chgData name="Naveen Prabhu Chinnadurai" userId="d0936850-59fd-4966-be14-3549ed0d6641" providerId="ADAL" clId="{A590E5A5-7125-46F7-B362-312843702992}" dt="2026-08-02T07:33:35.282" v="14" actId="20577"/>
          <ac:spMkLst>
            <pc:docMk/>
            <pc:sldMk cId="0" sldId="277"/>
            <ac:spMk id="9" creationId="{00000000-0000-0000-0000-000000000000}"/>
          </ac:spMkLst>
        </pc:spChg>
      </pc:sldChg>
      <pc:sldChg chg="modSp mod modNotes modNotesTx">
        <pc:chgData name="Naveen Prabhu Chinnadurai" userId="d0936850-59fd-4966-be14-3549ed0d6641" providerId="ADAL" clId="{A590E5A5-7125-46F7-B362-312843702992}" dt="2026-08-05T14:03:53.977" v="290" actId="14100"/>
        <pc:sldMkLst>
          <pc:docMk/>
          <pc:sldMk cId="0" sldId="278"/>
        </pc:sldMkLst>
        <pc:spChg chg="mod">
          <ac:chgData name="Naveen Prabhu Chinnadurai" userId="d0936850-59fd-4966-be14-3549ed0d6641" providerId="ADAL" clId="{A590E5A5-7125-46F7-B362-312843702992}" dt="2026-08-05T14:03:53.977" v="290" actId="14100"/>
          <ac:spMkLst>
            <pc:docMk/>
            <pc:sldMk cId="0" sldId="278"/>
            <ac:spMk id="4" creationId="{00000000-0000-0000-0000-000000000000}"/>
          </ac:spMkLst>
        </pc:spChg>
      </pc:sldChg>
      <pc:sldChg chg="addSp modSp mod modNotes modNotesTx">
        <pc:chgData name="Naveen Prabhu Chinnadurai" userId="d0936850-59fd-4966-be14-3549ed0d6641" providerId="ADAL" clId="{A590E5A5-7125-46F7-B362-312843702992}" dt="2026-08-05T14:03:12.189" v="286" actId="20577"/>
        <pc:sldMkLst>
          <pc:docMk/>
          <pc:sldMk cId="0" sldId="279"/>
        </pc:sldMkLst>
        <pc:spChg chg="mod">
          <ac:chgData name="Naveen Prabhu Chinnadurai" userId="d0936850-59fd-4966-be14-3549ed0d6641" providerId="ADAL" clId="{A590E5A5-7125-46F7-B362-312843702992}" dt="2026-08-03T08:49:56.288" v="118" actId="14100"/>
          <ac:spMkLst>
            <pc:docMk/>
            <pc:sldMk cId="0" sldId="279"/>
            <ac:spMk id="2" creationId="{00000000-0000-0000-0000-000000000000}"/>
          </ac:spMkLst>
        </pc:spChg>
        <pc:spChg chg="mod">
          <ac:chgData name="Naveen Prabhu Chinnadurai" userId="d0936850-59fd-4966-be14-3549ed0d6641" providerId="ADAL" clId="{A590E5A5-7125-46F7-B362-312843702992}" dt="2026-08-02T07:33:46.885" v="16" actId="20577"/>
          <ac:spMkLst>
            <pc:docMk/>
            <pc:sldMk cId="0" sldId="279"/>
            <ac:spMk id="19" creationId="{00000000-0000-0000-0000-000000000000}"/>
          </ac:spMkLst>
        </pc:spChg>
        <pc:spChg chg="mod">
          <ac:chgData name="Naveen Prabhu Chinnadurai" userId="d0936850-59fd-4966-be14-3549ed0d6641" providerId="ADAL" clId="{A590E5A5-7125-46F7-B362-312843702992}" dt="2026-08-05T13:25:06.025" v="207"/>
          <ac:spMkLst>
            <pc:docMk/>
            <pc:sldMk cId="0" sldId="279"/>
            <ac:spMk id="27" creationId="{00000000-0000-0000-0000-000000000000}"/>
          </ac:spMkLst>
        </pc:spChg>
        <pc:spChg chg="add mod">
          <ac:chgData name="Naveen Prabhu Chinnadurai" userId="d0936850-59fd-4966-be14-3549ed0d6641" providerId="ADAL" clId="{A590E5A5-7125-46F7-B362-312843702992}" dt="2026-08-03T08:50:02.252" v="133" actId="20577"/>
          <ac:spMkLst>
            <pc:docMk/>
            <pc:sldMk cId="0" sldId="279"/>
            <ac:spMk id="30" creationId="{E6E90874-188C-50A6-95CC-1F13F7C8FDF9}"/>
          </ac:spMkLst>
        </pc:spChg>
      </pc:sldChg>
      <pc:sldChg chg="addSp delSp modSp mod modNotes modNotesTx">
        <pc:chgData name="Naveen Prabhu Chinnadurai" userId="d0936850-59fd-4966-be14-3549ed0d6641" providerId="ADAL" clId="{A590E5A5-7125-46F7-B362-312843702992}" dt="2026-08-07T09:19:21.348" v="302"/>
        <pc:sldMkLst>
          <pc:docMk/>
          <pc:sldMk cId="0" sldId="281"/>
        </pc:sldMkLst>
        <pc:spChg chg="mod">
          <ac:chgData name="Naveen Prabhu Chinnadurai" userId="d0936850-59fd-4966-be14-3549ed0d6641" providerId="ADAL" clId="{A590E5A5-7125-46F7-B362-312843702992}" dt="2026-08-03T08:49:23.114" v="111" actId="14100"/>
          <ac:spMkLst>
            <pc:docMk/>
            <pc:sldMk cId="0" sldId="281"/>
            <ac:spMk id="2" creationId="{00000000-0000-0000-0000-000000000000}"/>
          </ac:spMkLst>
        </pc:spChg>
        <pc:spChg chg="mod">
          <ac:chgData name="Naveen Prabhu Chinnadurai" userId="d0936850-59fd-4966-be14-3549ed0d6641" providerId="ADAL" clId="{A590E5A5-7125-46F7-B362-312843702992}" dt="2026-08-07T09:17:48.836" v="300" actId="20577"/>
          <ac:spMkLst>
            <pc:docMk/>
            <pc:sldMk cId="0" sldId="281"/>
            <ac:spMk id="8" creationId="{00000000-0000-0000-0000-000000000000}"/>
          </ac:spMkLst>
        </pc:spChg>
        <pc:spChg chg="mod">
          <ac:chgData name="Naveen Prabhu Chinnadurai" userId="d0936850-59fd-4966-be14-3549ed0d6641" providerId="ADAL" clId="{A590E5A5-7125-46F7-B362-312843702992}" dt="2026-08-07T09:19:21.348" v="302"/>
          <ac:spMkLst>
            <pc:docMk/>
            <pc:sldMk cId="0" sldId="281"/>
            <ac:spMk id="18" creationId="{00000000-0000-0000-0000-000000000000}"/>
          </ac:spMkLst>
        </pc:spChg>
        <pc:spChg chg="mod">
          <ac:chgData name="Naveen Prabhu Chinnadurai" userId="d0936850-59fd-4966-be14-3549ed0d6641" providerId="ADAL" clId="{A590E5A5-7125-46F7-B362-312843702992}" dt="2026-08-05T13:24:50.498" v="203"/>
          <ac:spMkLst>
            <pc:docMk/>
            <pc:sldMk cId="0" sldId="281"/>
            <ac:spMk id="19" creationId="{00000000-0000-0000-0000-000000000000}"/>
          </ac:spMkLst>
        </pc:spChg>
        <pc:spChg chg="add">
          <ac:chgData name="Naveen Prabhu Chinnadurai" userId="d0936850-59fd-4966-be14-3549ed0d6641" providerId="ADAL" clId="{A590E5A5-7125-46F7-B362-312843702992}" dt="2026-08-03T08:49:44.369" v="116" actId="22"/>
          <ac:spMkLst>
            <pc:docMk/>
            <pc:sldMk cId="0" sldId="281"/>
            <ac:spMk id="25" creationId="{6EB28F83-E88B-1416-D0AA-4DA0E1007567}"/>
          </ac:spMkLst>
        </pc:spChg>
      </pc:sldChg>
      <pc:sldChg chg="modSp modNotesTx">
        <pc:chgData name="Naveen Prabhu Chinnadurai" userId="d0936850-59fd-4966-be14-3549ed0d6641" providerId="ADAL" clId="{A590E5A5-7125-46F7-B362-312843702992}" dt="2026-08-05T14:02:55.199" v="280" actId="20577"/>
        <pc:sldMkLst>
          <pc:docMk/>
          <pc:sldMk cId="0" sldId="282"/>
        </pc:sldMkLst>
        <pc:spChg chg="mod">
          <ac:chgData name="Naveen Prabhu Chinnadurai" userId="d0936850-59fd-4966-be14-3549ed0d6641" providerId="ADAL" clId="{A590E5A5-7125-46F7-B362-312843702992}" dt="2026-08-05T13:24:36.285" v="200"/>
          <ac:spMkLst>
            <pc:docMk/>
            <pc:sldMk cId="0" sldId="282"/>
            <ac:spMk id="27" creationId="{00000000-0000-0000-0000-000000000000}"/>
          </ac:spMkLst>
        </pc:spChg>
      </pc:sldChg>
      <pc:sldChg chg="modSp mod">
        <pc:chgData name="Naveen Prabhu Chinnadurai" userId="d0936850-59fd-4966-be14-3549ed0d6641" providerId="ADAL" clId="{A590E5A5-7125-46F7-B362-312843702992}" dt="2026-08-07T12:00:22.100" v="522" actId="1035"/>
        <pc:sldMkLst>
          <pc:docMk/>
          <pc:sldMk cId="0" sldId="285"/>
        </pc:sldMkLst>
        <pc:spChg chg="mod">
          <ac:chgData name="Naveen Prabhu Chinnadurai" userId="d0936850-59fd-4966-be14-3549ed0d6641" providerId="ADAL" clId="{A590E5A5-7125-46F7-B362-312843702992}" dt="2026-08-07T09:24:36.466" v="311" actId="20577"/>
          <ac:spMkLst>
            <pc:docMk/>
            <pc:sldMk cId="0" sldId="285"/>
            <ac:spMk id="2" creationId="{00000000-0000-0000-0000-000000000000}"/>
          </ac:spMkLst>
        </pc:spChg>
        <pc:spChg chg="mod">
          <ac:chgData name="Naveen Prabhu Chinnadurai" userId="d0936850-59fd-4966-be14-3549ed0d6641" providerId="ADAL" clId="{A590E5A5-7125-46F7-B362-312843702992}" dt="2026-08-07T09:23:05.255" v="303" actId="1076"/>
          <ac:spMkLst>
            <pc:docMk/>
            <pc:sldMk cId="0" sldId="285"/>
            <ac:spMk id="10" creationId="{00000000-0000-0000-0000-000000000000}"/>
          </ac:spMkLst>
        </pc:spChg>
        <pc:spChg chg="mod">
          <ac:chgData name="Naveen Prabhu Chinnadurai" userId="d0936850-59fd-4966-be14-3549ed0d6641" providerId="ADAL" clId="{A590E5A5-7125-46F7-B362-312843702992}" dt="2026-08-07T09:23:40.487" v="304" actId="1076"/>
          <ac:spMkLst>
            <pc:docMk/>
            <pc:sldMk cId="0" sldId="285"/>
            <ac:spMk id="11" creationId="{00000000-0000-0000-0000-000000000000}"/>
          </ac:spMkLst>
        </pc:spChg>
        <pc:spChg chg="mod">
          <ac:chgData name="Naveen Prabhu Chinnadurai" userId="d0936850-59fd-4966-be14-3549ed0d6641" providerId="ADAL" clId="{A590E5A5-7125-46F7-B362-312843702992}" dt="2026-08-07T12:00:22.100" v="522" actId="1035"/>
          <ac:spMkLst>
            <pc:docMk/>
            <pc:sldMk cId="0" sldId="285"/>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555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IN" dirty="0"/>
          </a:p>
        </p:txBody>
      </p:sp>
    </p:spTree>
    <p:extLst>
      <p:ext uri="{BB962C8B-B14F-4D97-AF65-F5344CB8AC3E}">
        <p14:creationId xmlns:p14="http://schemas.microsoft.com/office/powerpoint/2010/main" val="25647776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learn.microsoft.com/en-us/dotnet/core/whats-new/dotnet-10/overview" TargetMode="External"/><Relationship Id="rId7" Type="http://schemas.openxmlformats.org/officeDocument/2006/relationships/hyperlink" Target="https://learn.microsoft.com/en-us/azure/ai-foundry/"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learn.microsoft.com/en-us/agent-framework/" TargetMode="External"/><Relationship Id="rId5" Type="http://schemas.openxmlformats.org/officeDocument/2006/relationships/hyperlink" Target="https://modelcontextprotocol.io/" TargetMode="External"/><Relationship Id="rId4" Type="http://schemas.openxmlformats.org/officeDocument/2006/relationships/hyperlink" Target="https://docs.github.com/en/copilot"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2" name="Community Cover"/>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078D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78D4"/>
          </a:solidFill>
          <a:ln/>
        </p:spPr>
        <p:txBody>
          <a:bodyPr/>
          <a:lstStyle/>
          <a:p>
            <a:endParaRPr lang="en-IN"/>
          </a:p>
        </p:txBody>
      </p:sp>
      <p:sp>
        <p:nvSpPr>
          <p:cNvPr id="3" name="Shape 1"/>
          <p:cNvSpPr/>
          <p:nvPr/>
        </p:nvSpPr>
        <p:spPr>
          <a:xfrm>
            <a:off x="0" y="5120640"/>
            <a:ext cx="12188952" cy="1737360"/>
          </a:xfrm>
          <a:prstGeom prst="rect">
            <a:avLst/>
          </a:prstGeom>
          <a:solidFill>
            <a:srgbClr val="005A9E"/>
          </a:solidFill>
          <a:ln/>
        </p:spPr>
        <p:txBody>
          <a:bodyPr/>
          <a:lstStyle/>
          <a:p>
            <a:pPr algn="r"/>
            <a:r>
              <a:rPr lang="en-US" dirty="0">
                <a:solidFill>
                  <a:srgbClr val="FFFFFF"/>
                </a:solidFill>
                <a:latin typeface="Calibri" pitchFamily="34" charset="0"/>
                <a:ea typeface="Calibri" pitchFamily="34" charset="-122"/>
                <a:cs typeface="Calibri" pitchFamily="34" charset="-120"/>
              </a:rPr>
              <a:t>- Naveen Prabhu Chinnadurai</a:t>
            </a:r>
          </a:p>
        </p:txBody>
      </p:sp>
      <p:sp>
        <p:nvSpPr>
          <p:cNvPr id="4" name="Text 2"/>
          <p:cNvSpPr/>
          <p:nvPr/>
        </p:nvSpPr>
        <p:spPr>
          <a:xfrm>
            <a:off x="822960" y="1920240"/>
            <a:ext cx="10515600" cy="2011680"/>
          </a:xfrm>
          <a:prstGeom prst="rect">
            <a:avLst/>
          </a:prstGeom>
          <a:noFill/>
          <a:ln/>
        </p:spPr>
        <p:txBody>
          <a:bodyPr wrap="square" rtlCol="0" anchor="ctr"/>
          <a:lstStyle/>
          <a:p>
            <a:pPr marL="0" indent="0" algn="l">
              <a:buNone/>
            </a:pPr>
            <a:r>
              <a:rPr lang="en-US" sz="4400" dirty="0">
                <a:solidFill>
                  <a:srgbClr val="FFFFFF"/>
                </a:solidFill>
                <a:latin typeface="Calibri Light" pitchFamily="34" charset="0"/>
                <a:ea typeface="Calibri Light" pitchFamily="34" charset="-122"/>
                <a:cs typeface="Calibri Light" pitchFamily="34" charset="-120"/>
              </a:rPr>
              <a:t>The Future of .NET Development</a:t>
            </a:r>
            <a:endParaRPr lang="en-US" sz="4400" dirty="0"/>
          </a:p>
          <a:p>
            <a:pPr marL="0" indent="0" algn="l">
              <a:buNone/>
            </a:pPr>
            <a:r>
              <a:rPr lang="en-US" sz="4400" dirty="0">
                <a:solidFill>
                  <a:srgbClr val="FFFFFF"/>
                </a:solidFill>
                <a:latin typeface="Calibri Light" pitchFamily="34" charset="0"/>
                <a:ea typeface="Calibri Light" pitchFamily="34" charset="-122"/>
                <a:cs typeface="Calibri Light" pitchFamily="34" charset="-120"/>
              </a:rPr>
              <a:t>in the AI Era</a:t>
            </a:r>
            <a:endParaRPr lang="en-US" sz="4400" dirty="0"/>
          </a:p>
        </p:txBody>
      </p:sp>
      <p:sp>
        <p:nvSpPr>
          <p:cNvPr id="5" name="Text 3"/>
          <p:cNvSpPr/>
          <p:nvPr/>
        </p:nvSpPr>
        <p:spPr>
          <a:xfrm>
            <a:off x="822960" y="3794760"/>
            <a:ext cx="9601200" cy="640080"/>
          </a:xfrm>
          <a:prstGeom prst="rect">
            <a:avLst/>
          </a:prstGeom>
          <a:noFill/>
          <a:ln/>
        </p:spPr>
        <p:txBody>
          <a:bodyPr wrap="square" rtlCol="0" anchor="ctr"/>
          <a:lstStyle/>
          <a:p>
            <a:pPr marL="0" indent="0">
              <a:buNone/>
            </a:pPr>
            <a:r>
              <a:rPr lang="en-US" sz="1800" dirty="0">
                <a:solidFill>
                  <a:srgbClr val="D9E8F7"/>
                </a:solidFill>
                <a:latin typeface="Calibri" pitchFamily="34" charset="0"/>
                <a:ea typeface="Calibri" pitchFamily="34" charset="-122"/>
                <a:cs typeface="Calibri" pitchFamily="34" charset="-120"/>
              </a:rPr>
              <a:t>Roadmap, tooling and agentic engineering practices reshaping how we build with .NET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1064240" cy="731520"/>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Agenda</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640080" y="1554480"/>
            <a:ext cx="10515600" cy="4572000"/>
          </a:xfrm>
          <a:prstGeom prst="rect">
            <a:avLst/>
          </a:prstGeom>
          <a:noFill/>
          <a:ln/>
        </p:spPr>
        <p:txBody>
          <a:bodyPr wrap="square" rtlCol="0" anchor="t"/>
          <a:lstStyle/>
          <a:p>
            <a:pPr marL="0" indent="0">
              <a:spcAft>
                <a:spcPts val="2200"/>
              </a:spcAft>
              <a:buNone/>
            </a:pPr>
            <a:r>
              <a:rPr lang="en-US" sz="2000" dirty="0">
                <a:solidFill>
                  <a:srgbClr val="404040"/>
                </a:solidFill>
                <a:latin typeface="Calibri" pitchFamily="34" charset="0"/>
                <a:ea typeface="Calibri" pitchFamily="34" charset="-122"/>
                <a:cs typeface="Calibri" pitchFamily="34" charset="-120"/>
              </a:rPr>
              <a:t>1.  .NET 10 Roadmap &amp; Build 2026 - what's shipping and what just shipped</a:t>
            </a:r>
            <a:endParaRPr lang="en-US" sz="2000" dirty="0"/>
          </a:p>
          <a:p>
            <a:pPr marL="0" indent="0">
              <a:spcAft>
                <a:spcPts val="2200"/>
              </a:spcAft>
              <a:buNone/>
            </a:pPr>
            <a:r>
              <a:rPr lang="en-US" sz="2000" dirty="0">
                <a:solidFill>
                  <a:srgbClr val="404040"/>
                </a:solidFill>
                <a:latin typeface="Calibri" pitchFamily="34" charset="0"/>
                <a:ea typeface="Calibri" pitchFamily="34" charset="-122"/>
                <a:cs typeface="Calibri" pitchFamily="34" charset="-120"/>
              </a:rPr>
              <a:t>2.  AI-First Development &amp; GitHub Copilot's Evolution</a:t>
            </a:r>
            <a:endParaRPr lang="en-US" sz="2000" dirty="0"/>
          </a:p>
          <a:p>
            <a:pPr marL="0" indent="0">
              <a:spcAft>
                <a:spcPts val="2200"/>
              </a:spcAft>
              <a:buNone/>
            </a:pPr>
            <a:r>
              <a:rPr lang="en-US" sz="2000" dirty="0">
                <a:solidFill>
                  <a:srgbClr val="404040"/>
                </a:solidFill>
                <a:latin typeface="Calibri" pitchFamily="34" charset="0"/>
                <a:ea typeface="Calibri" pitchFamily="34" charset="-122"/>
                <a:cs typeface="Calibri" pitchFamily="34" charset="-120"/>
              </a:rPr>
              <a:t>3.  AI-Assisted Architecture &amp; MCP (Model Context Protocol)</a:t>
            </a:r>
            <a:endParaRPr lang="en-US" sz="2000" dirty="0"/>
          </a:p>
          <a:p>
            <a:pPr marL="0" indent="0">
              <a:spcAft>
                <a:spcPts val="2200"/>
              </a:spcAft>
              <a:buNone/>
            </a:pPr>
            <a:r>
              <a:rPr lang="en-US" sz="2000" dirty="0">
                <a:solidFill>
                  <a:srgbClr val="404040"/>
                </a:solidFill>
                <a:latin typeface="Calibri" pitchFamily="34" charset="0"/>
                <a:ea typeface="Calibri" pitchFamily="34" charset="-122"/>
                <a:cs typeface="Calibri" pitchFamily="34" charset="-120"/>
              </a:rPr>
              <a:t>4.  Agent-Based Development &amp; Microsoft Agent Framework</a:t>
            </a:r>
            <a:endParaRPr lang="en-US" sz="2000" dirty="0"/>
          </a:p>
          <a:p>
            <a:pPr marL="0" indent="0">
              <a:spcAft>
                <a:spcPts val="2200"/>
              </a:spcAft>
              <a:buNone/>
            </a:pPr>
            <a:r>
              <a:rPr lang="en-US" sz="2000" dirty="0">
                <a:solidFill>
                  <a:srgbClr val="404040"/>
                </a:solidFill>
                <a:latin typeface="Calibri" pitchFamily="34" charset="0"/>
                <a:ea typeface="Calibri" pitchFamily="34" charset="-122"/>
                <a:cs typeface="Calibri" pitchFamily="34" charset="-120"/>
              </a:rPr>
              <a:t>5.  Live Demo - building an agent with Microsoft Agent Framework in C#</a:t>
            </a:r>
            <a:endParaRPr lang="en-US" sz="2000" dirty="0"/>
          </a:p>
          <a:p>
            <a:pPr marL="0" indent="0">
              <a:spcAft>
                <a:spcPts val="2200"/>
              </a:spcAft>
              <a:buNone/>
            </a:pPr>
            <a:r>
              <a:rPr lang="en-US" sz="2000" dirty="0">
                <a:solidFill>
                  <a:srgbClr val="404040"/>
                </a:solidFill>
                <a:latin typeface="Calibri" pitchFamily="34" charset="0"/>
                <a:ea typeface="Calibri" pitchFamily="34" charset="-122"/>
                <a:cs typeface="Calibri" pitchFamily="34" charset="-120"/>
              </a:rPr>
              <a:t>6.  Takeaway</a:t>
            </a:r>
            <a:endParaRPr lang="en-US" sz="2000" dirty="0"/>
          </a:p>
        </p:txBody>
      </p:sp>
      <p:sp>
        <p:nvSpPr>
          <p:cNvPr id="5" name="Text 3"/>
          <p:cNvSpPr/>
          <p:nvPr/>
        </p:nvSpPr>
        <p:spPr>
          <a:xfrm>
            <a:off x="457200" y="6537960"/>
            <a:ext cx="11155680" cy="283464"/>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90" name="Eyebrow"/>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.NET 10 ROADMAP</a:t>
            </a:r>
            <a:endParaRPr lang="en-US" sz="1100" b="1" dirty="0"/>
          </a:p>
        </p:txBody>
      </p:sp>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.NET 10: Performance &amp; Runtime</a:t>
            </a:r>
            <a:endParaRPr lang="en-US" sz="28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548640" y="1417320"/>
            <a:ext cx="11064240" cy="4846320"/>
          </a:xfrm>
          <a:prstGeom prst="rect">
            <a:avLst/>
          </a:prstGeom>
          <a:noFill/>
          <a:ln/>
        </p:spPr>
        <p:txBody>
          <a:bodyPr wrap="square" rtlCol="0" anchor="t"/>
          <a:lstStyle/>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Long-Term Support (LTS) release - three years of servicing, the safe choice for production workloads</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Deeper vectorization support, benefiting numeric and AI/ML-adjacent workloads written in C#</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Continued investment in trimming and Native AOT to keep containers small for AI-infused microservices</a:t>
            </a:r>
            <a:endParaRPr lang="en-US" sz="1600" dirty="0"/>
          </a:p>
        </p:txBody>
      </p:sp>
      <p:sp>
        <p:nvSpPr>
          <p:cNvPr id="7" name="HighlightBg90"/>
          <p:cNvSpPr/>
          <p:nvPr/>
        </p:nvSpPr>
        <p:spPr>
          <a:xfrm>
            <a:off x="548640" y="2950000"/>
            <a:ext cx="5382000" cy="1450000"/>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91" name="HighlightTxt90"/>
          <p:cNvSpPr/>
          <p:nvPr/>
        </p:nvSpPr>
        <p:spPr>
          <a:xfrm>
            <a:off x="822960" y="3132880"/>
            <a:ext cx="4833360" cy="1084240"/>
          </a:xfrm>
          <a:prstGeom prst="rect">
            <a:avLst/>
          </a:prstGeom>
          <a:noFill/>
          <a:ln/>
        </p:spPr>
        <p:txBody>
          <a:bodyPr wrap="square" rtlCol="0" anchor="t"/>
          <a:lstStyle/>
          <a:p>
            <a:pPr marL="0" indent="0">
              <a:buNone/>
            </a:pPr>
            <a:r>
              <a:rPr lang="en-US" sz="1400" b="1" dirty="0">
                <a:solidFill>
                  <a:srgbClr val="0078D4"/>
                </a:solidFill>
                <a:latin typeface="Calibri" pitchFamily="34" charset="0"/>
                <a:ea typeface="Calibri" pitchFamily="34" charset="-122"/>
                <a:cs typeface="Calibri" pitchFamily="34" charset="-120"/>
              </a:rPr>
              <a:t>Cold Start, Trending to Zero</a:t>
            </a:r>
            <a:endParaRPr lang="en-US" sz="1400" b="1" dirty="0"/>
          </a:p>
          <a:p>
            <a:pPr marL="0" indent="0">
              <a:spcBef>
                <a:spcPts val="400"/>
              </a:spcBef>
              <a:buNone/>
            </a:pPr>
            <a:r>
              <a:rPr lang="en-US" sz="1100" dirty="0">
                <a:solidFill>
                  <a:srgbClr val="404040"/>
                </a:solidFill>
                <a:latin typeface="Calibri" pitchFamily="34" charset="0"/>
                <a:ea typeface="Calibri" pitchFamily="34" charset="-122"/>
                <a:cs typeface="Calibri" pitchFamily="34" charset="-120"/>
              </a:rPr>
              <a:t>Native AOT keeps shrinking spin-up time on Azure Container Apps and AWS Lambda, release after release.</a:t>
            </a:r>
            <a:endParaRPr lang="en-US" sz="1100" dirty="0"/>
          </a:p>
        </p:txBody>
      </p:sp>
      <p:sp>
        <p:nvSpPr>
          <p:cNvPr id="92" name="HighlightBg92"/>
          <p:cNvSpPr/>
          <p:nvPr/>
        </p:nvSpPr>
        <p:spPr>
          <a:xfrm>
            <a:off x="6230880" y="2950000"/>
            <a:ext cx="5382000" cy="1450000"/>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93" name="HighlightTxt92"/>
          <p:cNvSpPr/>
          <p:nvPr/>
        </p:nvSpPr>
        <p:spPr>
          <a:xfrm>
            <a:off x="6505200" y="3132880"/>
            <a:ext cx="4833360" cy="1084240"/>
          </a:xfrm>
          <a:prstGeom prst="rect">
            <a:avLst/>
          </a:prstGeom>
          <a:noFill/>
          <a:ln/>
        </p:spPr>
        <p:txBody>
          <a:bodyPr wrap="square" rtlCol="0" anchor="t"/>
          <a:lstStyle/>
          <a:p>
            <a:pPr marL="0" indent="0">
              <a:buNone/>
            </a:pPr>
            <a:r>
              <a:rPr lang="en-US" sz="1400" b="1" dirty="0">
                <a:solidFill>
                  <a:srgbClr val="0078D4"/>
                </a:solidFill>
                <a:latin typeface="Calibri" pitchFamily="34" charset="0"/>
                <a:ea typeface="Calibri" pitchFamily="34" charset="-122"/>
                <a:cs typeface="Calibri" pitchFamily="34" charset="-120"/>
              </a:rPr>
              <a:t>3-Year LTS</a:t>
            </a:r>
            <a:endParaRPr lang="en-US" sz="1400" b="1" dirty="0"/>
          </a:p>
          <a:p>
            <a:pPr marL="0" indent="0">
              <a:spcBef>
                <a:spcPts val="400"/>
              </a:spcBef>
              <a:buNone/>
            </a:pPr>
            <a:r>
              <a:rPr lang="en-US" sz="1100" dirty="0">
                <a:solidFill>
                  <a:srgbClr val="404040"/>
                </a:solidFill>
                <a:latin typeface="Calibri" pitchFamily="34" charset="0"/>
                <a:ea typeface="Calibri" pitchFamily="34" charset="-122"/>
                <a:cs typeface="Calibri" pitchFamily="34" charset="-120"/>
              </a:rPr>
              <a:t>Long-Term Support release - the safe, low-risk upgrade path to bring to a budget conversation.</a:t>
            </a:r>
            <a:endParaRPr lang="en-US" sz="1100" dirty="0"/>
          </a:p>
        </p:txBody>
      </p:sp>
      <p:sp>
        <p:nvSpPr>
          <p:cNvPr id="5" name="Text 3"/>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20130"/>
            <a:ext cx="11064240" cy="677150"/>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.NET 10: Cloud-Native &amp; Developer Tooling</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Shape 2"/>
          <p:cNvSpPr/>
          <p:nvPr/>
        </p:nvSpPr>
        <p:spPr>
          <a:xfrm>
            <a:off x="548640" y="1508760"/>
            <a:ext cx="3474720" cy="2888673"/>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5" name="Text 3"/>
          <p:cNvSpPr/>
          <p:nvPr/>
        </p:nvSpPr>
        <p:spPr>
          <a:xfrm>
            <a:off x="777240" y="1737360"/>
            <a:ext cx="3017520" cy="548640"/>
          </a:xfrm>
          <a:prstGeom prst="rect">
            <a:avLst/>
          </a:prstGeom>
          <a:noFill/>
          <a:ln/>
        </p:spPr>
        <p:txBody>
          <a:bodyPr wrap="square" rtlCol="0" anchor="ctr"/>
          <a:lstStyle/>
          <a:p>
            <a:pPr marL="0" indent="0">
              <a:buNone/>
            </a:pPr>
            <a:r>
              <a:rPr lang="en-US" sz="1600" b="1" dirty="0">
                <a:solidFill>
                  <a:srgbClr val="185ABD"/>
                </a:solidFill>
                <a:latin typeface="Calibri" pitchFamily="34" charset="0"/>
                <a:ea typeface="Calibri" pitchFamily="34" charset="-122"/>
                <a:cs typeface="Calibri" pitchFamily="34" charset="-120"/>
              </a:rPr>
              <a:t>.NET Aspire</a:t>
            </a:r>
            <a:endParaRPr lang="en-US" sz="1600" dirty="0"/>
          </a:p>
        </p:txBody>
      </p:sp>
      <p:sp>
        <p:nvSpPr>
          <p:cNvPr id="6" name="Text 4"/>
          <p:cNvSpPr/>
          <p:nvPr/>
        </p:nvSpPr>
        <p:spPr>
          <a:xfrm>
            <a:off x="777240" y="2331720"/>
            <a:ext cx="3017520" cy="3474720"/>
          </a:xfrm>
          <a:prstGeom prst="rect">
            <a:avLst/>
          </a:prstGeom>
          <a:noFill/>
          <a:ln/>
        </p:spPr>
        <p:txBody>
          <a:bodyPr wrap="square" rtlCol="0" anchor="t"/>
          <a:lstStyle/>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Opinionated stack for cloud-native distributed apps</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Built-in service discovery &amp; telemetry</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Growing AI &amp; vector DB integrations</a:t>
            </a:r>
            <a:endParaRPr lang="en-US" sz="1250" dirty="0"/>
          </a:p>
        </p:txBody>
      </p:sp>
      <p:sp>
        <p:nvSpPr>
          <p:cNvPr id="7" name="Shape 5"/>
          <p:cNvSpPr/>
          <p:nvPr/>
        </p:nvSpPr>
        <p:spPr>
          <a:xfrm>
            <a:off x="4343400" y="1508760"/>
            <a:ext cx="3474720" cy="2888673"/>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8" name="Text 6"/>
          <p:cNvSpPr/>
          <p:nvPr/>
        </p:nvSpPr>
        <p:spPr>
          <a:xfrm>
            <a:off x="4572000" y="1737360"/>
            <a:ext cx="3017520" cy="548640"/>
          </a:xfrm>
          <a:prstGeom prst="rect">
            <a:avLst/>
          </a:prstGeom>
          <a:noFill/>
          <a:ln/>
        </p:spPr>
        <p:txBody>
          <a:bodyPr wrap="square" rtlCol="0" anchor="ctr"/>
          <a:lstStyle/>
          <a:p>
            <a:pPr marL="0" indent="0">
              <a:buNone/>
            </a:pPr>
            <a:r>
              <a:rPr lang="en-US" sz="1600" b="1" dirty="0">
                <a:solidFill>
                  <a:srgbClr val="185ABD"/>
                </a:solidFill>
                <a:latin typeface="Calibri" pitchFamily="34" charset="0"/>
                <a:ea typeface="Calibri" pitchFamily="34" charset="-122"/>
                <a:cs typeface="Calibri" pitchFamily="34" charset="-120"/>
              </a:rPr>
              <a:t>C# Language &amp; SDK</a:t>
            </a:r>
            <a:endParaRPr lang="en-US" sz="1600" dirty="0"/>
          </a:p>
        </p:txBody>
      </p:sp>
      <p:sp>
        <p:nvSpPr>
          <p:cNvPr id="9" name="Text 7"/>
          <p:cNvSpPr/>
          <p:nvPr/>
        </p:nvSpPr>
        <p:spPr>
          <a:xfrm>
            <a:off x="4572000" y="2331720"/>
            <a:ext cx="3017520" cy="3474720"/>
          </a:xfrm>
          <a:prstGeom prst="rect">
            <a:avLst/>
          </a:prstGeom>
          <a:noFill/>
          <a:ln/>
        </p:spPr>
        <p:txBody>
          <a:bodyPr wrap="square" rtlCol="0" anchor="t"/>
          <a:lstStyle/>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Incremental language ergonomics updates</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Improved container &amp; Docker publishing</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Better diagnostics &amp; hot-reload</a:t>
            </a:r>
            <a:endParaRPr lang="en-US" sz="1250" dirty="0"/>
          </a:p>
        </p:txBody>
      </p:sp>
      <p:sp>
        <p:nvSpPr>
          <p:cNvPr id="10" name="Shape 8"/>
          <p:cNvSpPr/>
          <p:nvPr/>
        </p:nvSpPr>
        <p:spPr>
          <a:xfrm>
            <a:off x="8138160" y="1508760"/>
            <a:ext cx="3474720" cy="2888673"/>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11" name="Text 9"/>
          <p:cNvSpPr/>
          <p:nvPr/>
        </p:nvSpPr>
        <p:spPr>
          <a:xfrm>
            <a:off x="8366760" y="1737360"/>
            <a:ext cx="3017520" cy="548640"/>
          </a:xfrm>
          <a:prstGeom prst="rect">
            <a:avLst/>
          </a:prstGeom>
          <a:noFill/>
          <a:ln/>
        </p:spPr>
        <p:txBody>
          <a:bodyPr wrap="square" rtlCol="0" anchor="ctr"/>
          <a:lstStyle/>
          <a:p>
            <a:pPr marL="0" indent="0">
              <a:buNone/>
            </a:pPr>
            <a:r>
              <a:rPr lang="en-US" sz="1600" b="1" dirty="0">
                <a:solidFill>
                  <a:srgbClr val="185ABD"/>
                </a:solidFill>
                <a:latin typeface="Calibri" pitchFamily="34" charset="0"/>
                <a:ea typeface="Calibri" pitchFamily="34" charset="-122"/>
                <a:cs typeface="Calibri" pitchFamily="34" charset="-120"/>
              </a:rPr>
              <a:t>AI-Ready Libraries</a:t>
            </a:r>
            <a:endParaRPr lang="en-US" sz="1600" dirty="0"/>
          </a:p>
        </p:txBody>
      </p:sp>
      <p:sp>
        <p:nvSpPr>
          <p:cNvPr id="12" name="Text 10"/>
          <p:cNvSpPr/>
          <p:nvPr/>
        </p:nvSpPr>
        <p:spPr>
          <a:xfrm>
            <a:off x="8366760" y="2331720"/>
            <a:ext cx="3017520" cy="3474720"/>
          </a:xfrm>
          <a:prstGeom prst="rect">
            <a:avLst/>
          </a:prstGeom>
          <a:noFill/>
          <a:ln/>
        </p:spPr>
        <p:txBody>
          <a:bodyPr wrap="square" rtlCol="0" anchor="t"/>
          <a:lstStyle/>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Unified AI abstraction via Microsoft.Extensions.AI</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Native embeddings, vector stores &amp; chat clients</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Tighter ASP.NET Core + AI middleware integration</a:t>
            </a:r>
            <a:endParaRPr lang="en-US" sz="1250" dirty="0"/>
          </a:p>
        </p:txBody>
      </p:sp>
      <p:sp>
        <p:nvSpPr>
          <p:cNvPr id="13" name="Text 11"/>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14" name="Text 12"/>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5</a:t>
            </a:r>
            <a:endParaRPr lang="en-US" sz="1000" dirty="0"/>
          </a:p>
        </p:txBody>
      </p:sp>
      <p:sp>
        <p:nvSpPr>
          <p:cNvPr id="18" name="Eyebrow">
            <a:extLst>
              <a:ext uri="{FF2B5EF4-FFF2-40B4-BE49-F238E27FC236}">
                <a16:creationId xmlns:a16="http://schemas.microsoft.com/office/drawing/2014/main" id="{092B81D3-D7EB-40C9-4104-93CD438A268D}"/>
              </a:ext>
            </a:extLst>
          </p:cNvPr>
          <p:cNvSpPr/>
          <p:nvPr/>
        </p:nvSpPr>
        <p:spPr>
          <a:xfrm>
            <a:off x="562356" y="20677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.NET 10 ROADMAP</a:t>
            </a:r>
            <a:endParaRPr lang="en-US" sz="11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588264"/>
            <a:ext cx="11064240" cy="509016"/>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Beyond the Roadmap: More Wow Moments From Build 2026</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5" name="Text 3"/>
          <p:cNvSpPr/>
          <p:nvPr/>
        </p:nvSpPr>
        <p:spPr>
          <a:xfrm>
            <a:off x="548640" y="1691640"/>
            <a:ext cx="11064240" cy="64008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Four more announcements that show how far .NET's AI story reaches - from the next runtime preview to AI running on-device</a:t>
            </a:r>
            <a:endParaRPr lang="en-US" sz="1400" dirty="0"/>
          </a:p>
        </p:txBody>
      </p:sp>
      <p:sp>
        <p:nvSpPr>
          <p:cNvPr id="6" name="Shape 4"/>
          <p:cNvSpPr/>
          <p:nvPr/>
        </p:nvSpPr>
        <p:spPr>
          <a:xfrm>
            <a:off x="548640" y="2514600"/>
            <a:ext cx="2594610" cy="2331720"/>
          </a:xfrm>
          <a:prstGeom prst="rect">
            <a:avLst/>
          </a:prstGeom>
          <a:solidFill>
            <a:srgbClr val="F2F2F2"/>
          </a:solidFill>
          <a:ln/>
        </p:spPr>
        <p:txBody>
          <a:bodyPr/>
          <a:lstStyle/>
          <a:p>
            <a:endParaRPr lang="en-IN"/>
          </a:p>
        </p:txBody>
      </p:sp>
      <p:sp>
        <p:nvSpPr>
          <p:cNvPr id="7" name="Text 5"/>
          <p:cNvSpPr/>
          <p:nvPr/>
        </p:nvSpPr>
        <p:spPr>
          <a:xfrm>
            <a:off x="69494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.NET 11 Preview</a:t>
            </a:r>
            <a:endParaRPr lang="en-US" sz="1200" dirty="0"/>
          </a:p>
        </p:txBody>
      </p:sp>
      <p:sp>
        <p:nvSpPr>
          <p:cNvPr id="8" name="Text 6"/>
          <p:cNvSpPr/>
          <p:nvPr/>
        </p:nvSpPr>
        <p:spPr>
          <a:xfrm>
            <a:off x="694944" y="3264408"/>
            <a:ext cx="2302002" cy="1417320"/>
          </a:xfrm>
          <a:prstGeom prst="rect">
            <a:avLst/>
          </a:prstGeom>
          <a:noFill/>
          <a:ln/>
        </p:spPr>
        <p:txBody>
          <a:bodyPr wrap="square" rtlCol="0" anchor="t"/>
          <a:lstStyle/>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Public Preview since February 2026 - well ahead of Build</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Several previews already shipped</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Runtime, library &amp; SDK gains for agent-driven apps</a:t>
            </a:r>
            <a:endParaRPr lang="en-US" sz="1000" dirty="0"/>
          </a:p>
        </p:txBody>
      </p:sp>
      <p:sp>
        <p:nvSpPr>
          <p:cNvPr id="9" name="Shape 7"/>
          <p:cNvSpPr/>
          <p:nvPr/>
        </p:nvSpPr>
        <p:spPr>
          <a:xfrm>
            <a:off x="3371850" y="2514600"/>
            <a:ext cx="2594610" cy="2331720"/>
          </a:xfrm>
          <a:prstGeom prst="rect">
            <a:avLst/>
          </a:prstGeom>
          <a:solidFill>
            <a:srgbClr val="F2F2F2"/>
          </a:solidFill>
          <a:ln/>
        </p:spPr>
        <p:txBody>
          <a:bodyPr/>
          <a:lstStyle/>
          <a:p>
            <a:endParaRPr lang="en-IN"/>
          </a:p>
        </p:txBody>
      </p:sp>
      <p:sp>
        <p:nvSpPr>
          <p:cNvPr id="10" name="Text 8"/>
          <p:cNvSpPr/>
          <p:nvPr/>
        </p:nvSpPr>
        <p:spPr>
          <a:xfrm>
            <a:off x="351815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Agentic Web</a:t>
            </a:r>
            <a:endParaRPr lang="en-US" sz="1200" dirty="0"/>
          </a:p>
        </p:txBody>
      </p:sp>
      <p:sp>
        <p:nvSpPr>
          <p:cNvPr id="11" name="Text 9"/>
          <p:cNvSpPr/>
          <p:nvPr/>
        </p:nvSpPr>
        <p:spPr>
          <a:xfrm>
            <a:off x="3518154" y="3264408"/>
            <a:ext cx="2302002" cy="1417320"/>
          </a:xfrm>
          <a:prstGeom prst="rect">
            <a:avLst/>
          </a:prstGeom>
          <a:noFill/>
          <a:ln/>
        </p:spPr>
        <p:txBody>
          <a:bodyPr wrap="square" rtlCol="0" anchor="t"/>
          <a:lstStyle/>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Native agents, tools &amp; skills in ASP.NET Core / Blazor</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Tightly integrated with Aspire</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Foundation for the next gen of web apps</a:t>
            </a:r>
            <a:endParaRPr lang="en-US" sz="1000" dirty="0"/>
          </a:p>
        </p:txBody>
      </p:sp>
      <p:sp>
        <p:nvSpPr>
          <p:cNvPr id="12" name="Shape 10"/>
          <p:cNvSpPr/>
          <p:nvPr/>
        </p:nvSpPr>
        <p:spPr>
          <a:xfrm>
            <a:off x="6195060" y="2514600"/>
            <a:ext cx="2594610" cy="2331720"/>
          </a:xfrm>
          <a:prstGeom prst="rect">
            <a:avLst/>
          </a:prstGeom>
          <a:solidFill>
            <a:srgbClr val="F2F2F2"/>
          </a:solidFill>
          <a:ln/>
        </p:spPr>
        <p:txBody>
          <a:bodyPr/>
          <a:lstStyle/>
          <a:p>
            <a:endParaRPr lang="en-IN"/>
          </a:p>
        </p:txBody>
      </p:sp>
      <p:sp>
        <p:nvSpPr>
          <p:cNvPr id="13" name="Text 11"/>
          <p:cNvSpPr/>
          <p:nvPr/>
        </p:nvSpPr>
        <p:spPr>
          <a:xfrm>
            <a:off x="634136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AI at the Edge</a:t>
            </a:r>
            <a:endParaRPr lang="en-US" sz="1200" dirty="0"/>
          </a:p>
        </p:txBody>
      </p:sp>
      <p:sp>
        <p:nvSpPr>
          <p:cNvPr id="14" name="Text 12"/>
          <p:cNvSpPr/>
          <p:nvPr/>
        </p:nvSpPr>
        <p:spPr>
          <a:xfrm>
            <a:off x="6341364" y="3264408"/>
            <a:ext cx="2302002" cy="1417320"/>
          </a:xfrm>
          <a:prstGeom prst="rect">
            <a:avLst/>
          </a:prstGeom>
          <a:noFill/>
          <a:ln/>
        </p:spPr>
        <p:txBody>
          <a:bodyPr wrap="square" rtlCol="0" anchor="t"/>
          <a:lstStyle/>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On-device AI models via .NET MAUI (Multi-platform App UI)</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Faster, more private inference</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Fully offline-capable experiences</a:t>
            </a:r>
            <a:endParaRPr lang="en-US" sz="1000" dirty="0"/>
          </a:p>
        </p:txBody>
      </p:sp>
      <p:sp>
        <p:nvSpPr>
          <p:cNvPr id="15" name="Shape 13"/>
          <p:cNvSpPr/>
          <p:nvPr/>
        </p:nvSpPr>
        <p:spPr>
          <a:xfrm>
            <a:off x="9018270" y="2514600"/>
            <a:ext cx="2594610" cy="2331720"/>
          </a:xfrm>
          <a:prstGeom prst="rect">
            <a:avLst/>
          </a:prstGeom>
          <a:solidFill>
            <a:srgbClr val="F2F2F2"/>
          </a:solidFill>
          <a:ln/>
        </p:spPr>
        <p:txBody>
          <a:bodyPr/>
          <a:lstStyle/>
          <a:p>
            <a:endParaRPr lang="en-IN"/>
          </a:p>
        </p:txBody>
      </p:sp>
      <p:sp>
        <p:nvSpPr>
          <p:cNvPr id="16" name="Text 14"/>
          <p:cNvSpPr/>
          <p:nvPr/>
        </p:nvSpPr>
        <p:spPr>
          <a:xfrm>
            <a:off x="916457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Your Agent, Anywhere</a:t>
            </a:r>
            <a:endParaRPr lang="en-US" sz="1200" dirty="0"/>
          </a:p>
        </p:txBody>
      </p:sp>
      <p:sp>
        <p:nvSpPr>
          <p:cNvPr id="17" name="Text 15"/>
          <p:cNvSpPr/>
          <p:nvPr/>
        </p:nvSpPr>
        <p:spPr>
          <a:xfrm>
            <a:off x="9164574" y="3264408"/>
            <a:ext cx="2302002" cy="1417320"/>
          </a:xfrm>
          <a:prstGeom prst="rect">
            <a:avLst/>
          </a:prstGeom>
          <a:noFill/>
          <a:ln/>
        </p:spPr>
        <p:txBody>
          <a:bodyPr wrap="square" rtlCol="0" anchor="t"/>
          <a:lstStyle/>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GitHub Copilot SDK: build once</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Carry across phone, cloud, any client</a:t>
            </a:r>
            <a:endParaRPr lang="en-US" sz="1000" dirty="0"/>
          </a:p>
          <a:p>
            <a:pPr marL="171450" indent="-171450">
              <a:spcAft>
                <a:spcPts val="400"/>
              </a:spcAft>
              <a:buSzPct val="100000"/>
              <a:buChar char="•"/>
            </a:pPr>
            <a:r>
              <a:rPr lang="en-US" sz="1000" dirty="0">
                <a:solidFill>
                  <a:srgbClr val="404040"/>
                </a:solidFill>
                <a:latin typeface="Calibri" pitchFamily="34" charset="0"/>
                <a:ea typeface="Calibri" pitchFamily="34" charset="-122"/>
                <a:cs typeface="Calibri" pitchFamily="34" charset="-120"/>
              </a:rPr>
              <a:t>One portable agent, not per-surface logic</a:t>
            </a:r>
            <a:endParaRPr lang="en-US" sz="1000" dirty="0"/>
          </a:p>
        </p:txBody>
      </p:sp>
      <p:sp>
        <p:nvSpPr>
          <p:cNvPr id="18" name="Text 16"/>
          <p:cNvSpPr/>
          <p:nvPr/>
        </p:nvSpPr>
        <p:spPr>
          <a:xfrm>
            <a:off x="548640" y="5074920"/>
            <a:ext cx="11064240" cy="548640"/>
          </a:xfrm>
          <a:prstGeom prst="rect">
            <a:avLst/>
          </a:prstGeom>
          <a:noFill/>
          <a:ln/>
        </p:spPr>
        <p:txBody>
          <a:bodyPr wrap="square" rtlCol="0" anchor="ctr"/>
          <a:lstStyle/>
          <a:p>
            <a:pPr algn="ctr"/>
            <a:r>
              <a:rPr lang="en-US" sz="1200" i="1" dirty="0">
                <a:solidFill>
                  <a:srgbClr val="7F7F7F"/>
                </a:solidFill>
                <a:latin typeface="Calibri" pitchFamily="34" charset="0"/>
                <a:ea typeface="Calibri" pitchFamily="34" charset="-122"/>
                <a:cs typeface="Calibri" pitchFamily="34" charset="-120"/>
              </a:rPr>
              <a:t>Microsoft's own framing captures the shift well: Copilot is moving from pair programmer to peer programmer - capable of taking on bugs, features, and maintenance on its own.</a:t>
            </a:r>
            <a:endParaRPr lang="en-US" sz="1200" dirty="0"/>
          </a:p>
          <a:p>
            <a:pPr marL="0" indent="0" algn="ctr">
              <a:buNone/>
            </a:pPr>
            <a:endParaRPr lang="en-US" sz="1200" dirty="0"/>
          </a:p>
        </p:txBody>
      </p:sp>
      <p:sp>
        <p:nvSpPr>
          <p:cNvPr id="19" name="Text 17"/>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20" name="Text 18"/>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6</a:t>
            </a:r>
            <a:endParaRPr lang="en-US" sz="1000" dirty="0"/>
          </a:p>
        </p:txBody>
      </p:sp>
      <p:sp>
        <p:nvSpPr>
          <p:cNvPr id="25" name="Eyebrow">
            <a:extLst>
              <a:ext uri="{FF2B5EF4-FFF2-40B4-BE49-F238E27FC236}">
                <a16:creationId xmlns:a16="http://schemas.microsoft.com/office/drawing/2014/main" id="{6EB28F83-E88B-1416-D0AA-4DA0E1007567}"/>
              </a:ext>
            </a:extLst>
          </p:cNvPr>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MICROSOFT BUILD 2026</a:t>
            </a:r>
            <a:endParaRPr lang="en-US" sz="11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648730"/>
            <a:ext cx="11064240" cy="448550"/>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Straight From Build 2026: What Just Shipped</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548640" y="1417320"/>
            <a:ext cx="11064240" cy="4846320"/>
          </a:xfrm>
          <a:prstGeom prst="rect">
            <a:avLst/>
          </a:prstGeom>
          <a:noFill/>
          <a:ln/>
        </p:spPr>
        <p:txBody>
          <a:bodyPr wrap="square" rtlCol="0" anchor="t"/>
          <a:lstStyle/>
          <a:p>
            <a:pPr marL="342900" indent="-342900">
              <a:spcAft>
                <a:spcPts val="1200"/>
              </a:spcAft>
              <a:buSzPct val="100000"/>
              <a:buChar char="•"/>
            </a:pPr>
            <a:r>
              <a:rPr lang="en-US" sz="1450" b="1" dirty="0">
                <a:solidFill>
                  <a:srgbClr val="2E2E2E"/>
                </a:solidFill>
                <a:latin typeface="Calibri" pitchFamily="34" charset="0"/>
                <a:ea typeface="Calibri" pitchFamily="34" charset="-122"/>
                <a:cs typeface="Calibri" pitchFamily="34" charset="-120"/>
              </a:rPr>
              <a:t>Microsoft Agent Framework reached 1.0 (GA) - the unified successor to Semantic Kernel and AutoGen</a:t>
            </a:r>
            <a:endParaRPr lang="en-US" sz="1450" dirty="0"/>
          </a:p>
          <a:p>
            <a:pPr marL="342900" indent="-342900">
              <a:spcAft>
                <a:spcPts val="1200"/>
              </a:spcAft>
              <a:buSzPct val="100000"/>
              <a:buChar char="•"/>
            </a:pPr>
            <a:r>
              <a:rPr lang="en-US" sz="1450" b="1" dirty="0">
                <a:solidFill>
                  <a:srgbClr val="2E2E2E"/>
                </a:solidFill>
                <a:latin typeface="Calibri" pitchFamily="34" charset="0"/>
                <a:ea typeface="Calibri" pitchFamily="34" charset="-122"/>
                <a:cs typeface="Calibri" pitchFamily="34" charset="-120"/>
              </a:rPr>
              <a:t>C# is getting union types - one of the most requested language features, aimed squarely at modeling and agent message shapes</a:t>
            </a:r>
            <a:endParaRPr lang="en-US" sz="1450" dirty="0"/>
          </a:p>
          <a:p>
            <a:pPr marL="342900" indent="-342900">
              <a:spcAft>
                <a:spcPts val="1200"/>
              </a:spcAft>
              <a:buSzPct val="100000"/>
              <a:buChar char="•"/>
            </a:pPr>
            <a:r>
              <a:rPr lang="en-US" sz="1450" b="1" dirty="0">
                <a:solidFill>
                  <a:srgbClr val="2E2E2E"/>
                </a:solidFill>
                <a:latin typeface="Calibri" pitchFamily="34" charset="0"/>
                <a:ea typeface="Calibri" pitchFamily="34" charset="-122"/>
                <a:cs typeface="Calibri" pitchFamily="34" charset="-120"/>
              </a:rPr>
              <a:t>Visual Studio and GitHub Copilot go deeper: agent-assisted debugging, profiling and test authoring; AI-assisted merge conflict resolution</a:t>
            </a:r>
            <a:endParaRPr lang="en-US" sz="1450" dirty="0"/>
          </a:p>
          <a:p>
            <a:pPr marL="342900" indent="-342900">
              <a:spcAft>
                <a:spcPts val="1200"/>
              </a:spcAft>
              <a:buSzPct val="100000"/>
              <a:buChar char="•"/>
            </a:pPr>
            <a:r>
              <a:rPr lang="en-US" sz="1450" b="1" dirty="0" err="1">
                <a:solidFill>
                  <a:srgbClr val="2E2E2E"/>
                </a:solidFill>
                <a:latin typeface="Calibri" pitchFamily="34" charset="0"/>
                <a:ea typeface="Calibri" pitchFamily="34" charset="-122"/>
                <a:cs typeface="Calibri" pitchFamily="34" charset="-120"/>
              </a:rPr>
              <a:t>dotnetup</a:t>
            </a:r>
            <a:r>
              <a:rPr lang="en-US" sz="1450" b="1" dirty="0">
                <a:solidFill>
                  <a:srgbClr val="2E2E2E"/>
                </a:solidFill>
                <a:latin typeface="Calibri" pitchFamily="34" charset="0"/>
                <a:ea typeface="Calibri" pitchFamily="34" charset="-122"/>
                <a:cs typeface="Calibri" pitchFamily="34" charset="-120"/>
              </a:rPr>
              <a:t> - a new cross-platform tool for managing .NET SDK and runtime installs, aimed at smoother onboarding</a:t>
            </a:r>
            <a:endParaRPr lang="en-US" sz="1450" dirty="0"/>
          </a:p>
        </p:txBody>
      </p:sp>
      <p:sp>
        <p:nvSpPr>
          <p:cNvPr id="90" name="HighlightBg90"/>
          <p:cNvSpPr/>
          <p:nvPr/>
        </p:nvSpPr>
        <p:spPr>
          <a:xfrm>
            <a:off x="548640" y="2950000"/>
            <a:ext cx="5382000" cy="1450000"/>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91" name="HighlightTxt90"/>
          <p:cNvSpPr/>
          <p:nvPr/>
        </p:nvSpPr>
        <p:spPr>
          <a:xfrm>
            <a:off x="822960" y="3132880"/>
            <a:ext cx="4833360" cy="1084240"/>
          </a:xfrm>
          <a:prstGeom prst="rect">
            <a:avLst/>
          </a:prstGeom>
          <a:noFill/>
          <a:ln/>
        </p:spPr>
        <p:txBody>
          <a:bodyPr wrap="square" rtlCol="0" anchor="t"/>
          <a:lstStyle/>
          <a:p>
            <a:pPr marL="0" indent="0">
              <a:buNone/>
            </a:pPr>
            <a:r>
              <a:rPr lang="en-US" sz="1400" b="1" dirty="0">
                <a:solidFill>
                  <a:srgbClr val="0078D4"/>
                </a:solidFill>
                <a:latin typeface="Calibri" pitchFamily="34" charset="0"/>
                <a:ea typeface="Calibri" pitchFamily="34" charset="-122"/>
                <a:cs typeface="Calibri" pitchFamily="34" charset="-120"/>
              </a:rPr>
              <a:t>GA: April 3, 2026</a:t>
            </a:r>
            <a:endParaRPr lang="en-US" sz="1400" b="1" dirty="0"/>
          </a:p>
          <a:p>
            <a:pPr marL="0" indent="0">
              <a:spcBef>
                <a:spcPts val="400"/>
              </a:spcBef>
              <a:buNone/>
            </a:pPr>
            <a:r>
              <a:rPr lang="en-US" sz="1100" dirty="0">
                <a:solidFill>
                  <a:srgbClr val="404040"/>
                </a:solidFill>
                <a:latin typeface="Calibri" pitchFamily="34" charset="0"/>
                <a:ea typeface="Calibri" pitchFamily="34" charset="-122"/>
                <a:cs typeface="Calibri" pitchFamily="34" charset="-120"/>
              </a:rPr>
              <a:t>Agent Framework is fully supported and production-ready - not a preview.</a:t>
            </a:r>
            <a:endParaRPr lang="en-US" sz="1100" dirty="0"/>
          </a:p>
        </p:txBody>
      </p:sp>
      <p:sp>
        <p:nvSpPr>
          <p:cNvPr id="92" name="HighlightBg92"/>
          <p:cNvSpPr/>
          <p:nvPr/>
        </p:nvSpPr>
        <p:spPr>
          <a:xfrm>
            <a:off x="6230880" y="2950000"/>
            <a:ext cx="5382000" cy="1450000"/>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93" name="HighlightTxt92"/>
          <p:cNvSpPr/>
          <p:nvPr/>
        </p:nvSpPr>
        <p:spPr>
          <a:xfrm>
            <a:off x="6505200" y="3132880"/>
            <a:ext cx="4833360" cy="1084240"/>
          </a:xfrm>
          <a:prstGeom prst="rect">
            <a:avLst/>
          </a:prstGeom>
          <a:noFill/>
          <a:ln/>
        </p:spPr>
        <p:txBody>
          <a:bodyPr wrap="square" rtlCol="0" anchor="t"/>
          <a:lstStyle/>
          <a:p>
            <a:pPr marL="0" indent="0">
              <a:buNone/>
            </a:pPr>
            <a:r>
              <a:rPr lang="en-US" sz="1400" b="1" dirty="0">
                <a:solidFill>
                  <a:srgbClr val="0078D4"/>
                </a:solidFill>
                <a:latin typeface="Calibri" pitchFamily="34" charset="0"/>
                <a:ea typeface="Calibri" pitchFamily="34" charset="-122"/>
                <a:cs typeface="Calibri" pitchFamily="34" charset="-120"/>
              </a:rPr>
              <a:t>.NET + Python, One Model</a:t>
            </a:r>
            <a:endParaRPr lang="en-US" sz="1400" b="1" dirty="0"/>
          </a:p>
          <a:p>
            <a:pPr marL="0" indent="0">
              <a:spcBef>
                <a:spcPts val="400"/>
              </a:spcBef>
              <a:buNone/>
            </a:pPr>
            <a:r>
              <a:rPr lang="en-US" sz="1100" dirty="0">
                <a:solidFill>
                  <a:srgbClr val="404040"/>
                </a:solidFill>
                <a:latin typeface="Calibri" pitchFamily="34" charset="0"/>
                <a:ea typeface="Calibri" pitchFamily="34" charset="-122"/>
                <a:cs typeface="Calibri" pitchFamily="34" charset="-120"/>
              </a:rPr>
              <a:t>Provider-agnostic across Azure OpenAI, OpenAI, Anthropic and local models via Ollama.</a:t>
            </a:r>
            <a:endParaRPr lang="en-US" sz="1100" dirty="0"/>
          </a:p>
        </p:txBody>
      </p:sp>
      <p:sp>
        <p:nvSpPr>
          <p:cNvPr id="5" name="Text 3"/>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7</a:t>
            </a:r>
            <a:endParaRPr lang="en-US" sz="1000" dirty="0"/>
          </a:p>
        </p:txBody>
      </p:sp>
      <p:sp>
        <p:nvSpPr>
          <p:cNvPr id="8" name="Eyebrow">
            <a:extLst>
              <a:ext uri="{FF2B5EF4-FFF2-40B4-BE49-F238E27FC236}">
                <a16:creationId xmlns:a16="http://schemas.microsoft.com/office/drawing/2014/main" id="{F093C32C-F95F-FAAC-8DDC-3E80BA624564}"/>
              </a:ext>
            </a:extLst>
          </p:cNvPr>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MICROSOFT BUILD 2026</a:t>
            </a:r>
            <a:endParaRPr lang="en-US" sz="11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90" name="Eyebrow"/>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AI-FIRST DEVELOPMENT TRENDS</a:t>
            </a:r>
            <a:endParaRPr lang="en-US" sz="1100" b="1" dirty="0"/>
          </a:p>
        </p:txBody>
      </p:sp>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What 'AI-First' Actually Means</a:t>
            </a:r>
            <a:endParaRPr lang="en-US" sz="28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548640" y="1417320"/>
            <a:ext cx="11064240" cy="4846320"/>
          </a:xfrm>
          <a:prstGeom prst="rect">
            <a:avLst/>
          </a:prstGeom>
          <a:noFill/>
          <a:ln/>
        </p:spPr>
        <p:txBody>
          <a:bodyPr wrap="square" rtlCol="0" anchor="t"/>
          <a:lstStyle/>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Code generation has moved from autocomplete to task-level delegation</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AI is embedded across the lifecycle, not just the editor</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Prompt and context engineering is becoming a core developer skill</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Trust is earned incrementally - teams still gate AI output behind tests, review and CI</a:t>
            </a:r>
            <a:endParaRPr lang="en-US" sz="1600" dirty="0"/>
          </a:p>
        </p:txBody>
      </p:sp>
      <p:sp>
        <p:nvSpPr>
          <p:cNvPr id="5" name="Text 3"/>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8</a:t>
            </a:r>
            <a:endParaRPr lang="en-US" sz="1000" dirty="0"/>
          </a:p>
        </p:txBody>
      </p:sp>
      <p:pic>
        <p:nvPicPr>
          <p:cNvPr id="91" name="AI Lifecycle Diagram" descr="Diagram showing AI embedded across the plan, code, review, test and deploy stages of the development lifecycle"/>
          <p:cNvPicPr>
            <a:picLocks noChangeAspect="1"/>
          </p:cNvPicPr>
          <p:nvPr/>
        </p:nvPicPr>
        <p:blipFill>
          <a:blip r:embed="rId3"/>
          <a:stretch>
            <a:fillRect/>
          </a:stretch>
        </p:blipFill>
        <p:spPr>
          <a:xfrm>
            <a:off x="1249528" y="3453938"/>
            <a:ext cx="9692640" cy="183825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90" name="Eyebrow"/>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GITHUB COPILOT EVOLUTION</a:t>
            </a:r>
            <a:endParaRPr lang="en-US" sz="1100" b="1" dirty="0"/>
          </a:p>
        </p:txBody>
      </p:sp>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Copilot's Evolution</a:t>
            </a:r>
            <a:endParaRPr lang="en-US" sz="28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Shape 2"/>
          <p:cNvSpPr/>
          <p:nvPr/>
        </p:nvSpPr>
        <p:spPr>
          <a:xfrm>
            <a:off x="548640" y="1463040"/>
            <a:ext cx="2560320" cy="502920"/>
          </a:xfrm>
          <a:prstGeom prst="rect">
            <a:avLst/>
          </a:prstGeom>
          <a:solidFill>
            <a:srgbClr val="0078D4"/>
          </a:solidFill>
          <a:ln/>
        </p:spPr>
        <p:txBody>
          <a:bodyPr/>
          <a:lstStyle/>
          <a:p>
            <a:endParaRPr lang="en-IN"/>
          </a:p>
        </p:txBody>
      </p:sp>
      <p:sp>
        <p:nvSpPr>
          <p:cNvPr id="5" name="Text 3"/>
          <p:cNvSpPr/>
          <p:nvPr/>
        </p:nvSpPr>
        <p:spPr>
          <a:xfrm>
            <a:off x="54864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548640" y="2103120"/>
            <a:ext cx="2560320" cy="2560320"/>
          </a:xfrm>
          <a:prstGeom prst="rect">
            <a:avLst/>
          </a:prstGeom>
          <a:solidFill>
            <a:srgbClr val="F2F2F2"/>
          </a:solidFill>
          <a:ln/>
        </p:spPr>
        <p:txBody>
          <a:bodyPr/>
          <a:lstStyle/>
          <a:p>
            <a:endParaRPr lang="en-IN"/>
          </a:p>
        </p:txBody>
      </p:sp>
      <p:sp>
        <p:nvSpPr>
          <p:cNvPr id="7" name="Text 5"/>
          <p:cNvSpPr/>
          <p:nvPr/>
        </p:nvSpPr>
        <p:spPr>
          <a:xfrm>
            <a:off x="71323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Inline Completions</a:t>
            </a:r>
            <a:endParaRPr lang="en-US" sz="1400" dirty="0"/>
          </a:p>
        </p:txBody>
      </p:sp>
      <p:sp>
        <p:nvSpPr>
          <p:cNvPr id="8" name="Text 6"/>
          <p:cNvSpPr/>
          <p:nvPr/>
        </p:nvSpPr>
        <p:spPr>
          <a:xfrm>
            <a:off x="71323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Ghost-text suggestions as you type, trained to predict the next tokens in context.</a:t>
            </a:r>
            <a:endParaRPr lang="en-US" sz="1150" dirty="0"/>
          </a:p>
        </p:txBody>
      </p:sp>
      <p:sp>
        <p:nvSpPr>
          <p:cNvPr id="9" name="Text 7"/>
          <p:cNvSpPr/>
          <p:nvPr/>
        </p:nvSpPr>
        <p:spPr>
          <a:xfrm>
            <a:off x="3063240" y="1417320"/>
            <a:ext cx="32004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83280" y="1463040"/>
            <a:ext cx="2560320" cy="502920"/>
          </a:xfrm>
          <a:prstGeom prst="rect">
            <a:avLst/>
          </a:prstGeom>
          <a:solidFill>
            <a:srgbClr val="0078D4"/>
          </a:solidFill>
          <a:ln/>
        </p:spPr>
        <p:txBody>
          <a:bodyPr/>
          <a:lstStyle/>
          <a:p>
            <a:endParaRPr lang="en-IN"/>
          </a:p>
        </p:txBody>
      </p:sp>
      <p:sp>
        <p:nvSpPr>
          <p:cNvPr id="11" name="Text 9"/>
          <p:cNvSpPr/>
          <p:nvPr/>
        </p:nvSpPr>
        <p:spPr>
          <a:xfrm>
            <a:off x="338328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hape 10"/>
          <p:cNvSpPr/>
          <p:nvPr/>
        </p:nvSpPr>
        <p:spPr>
          <a:xfrm>
            <a:off x="3383280" y="2103120"/>
            <a:ext cx="2560320" cy="2560320"/>
          </a:xfrm>
          <a:prstGeom prst="rect">
            <a:avLst/>
          </a:prstGeom>
          <a:solidFill>
            <a:srgbClr val="F2F2F2"/>
          </a:solidFill>
          <a:ln/>
        </p:spPr>
        <p:txBody>
          <a:bodyPr/>
          <a:lstStyle/>
          <a:p>
            <a:endParaRPr lang="en-IN"/>
          </a:p>
        </p:txBody>
      </p:sp>
      <p:sp>
        <p:nvSpPr>
          <p:cNvPr id="13" name="Text 11"/>
          <p:cNvSpPr/>
          <p:nvPr/>
        </p:nvSpPr>
        <p:spPr>
          <a:xfrm>
            <a:off x="354787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Copilot Chat</a:t>
            </a:r>
            <a:endParaRPr lang="en-US" sz="1400" dirty="0"/>
          </a:p>
        </p:txBody>
      </p:sp>
      <p:sp>
        <p:nvSpPr>
          <p:cNvPr id="14" name="Text 12"/>
          <p:cNvSpPr/>
          <p:nvPr/>
        </p:nvSpPr>
        <p:spPr>
          <a:xfrm>
            <a:off x="354787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Conversational assistant inside the IDE for Q&amp;A, explanations and targeted edits.</a:t>
            </a:r>
            <a:endParaRPr lang="en-US" sz="1150" dirty="0"/>
          </a:p>
        </p:txBody>
      </p:sp>
      <p:sp>
        <p:nvSpPr>
          <p:cNvPr id="15" name="Text 13"/>
          <p:cNvSpPr/>
          <p:nvPr/>
        </p:nvSpPr>
        <p:spPr>
          <a:xfrm>
            <a:off x="5897880" y="1417320"/>
            <a:ext cx="32004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17920" y="1463040"/>
            <a:ext cx="2560320" cy="502920"/>
          </a:xfrm>
          <a:prstGeom prst="rect">
            <a:avLst/>
          </a:prstGeom>
          <a:solidFill>
            <a:srgbClr val="0078D4"/>
          </a:solidFill>
          <a:ln/>
        </p:spPr>
        <p:txBody>
          <a:bodyPr/>
          <a:lstStyle/>
          <a:p>
            <a:endParaRPr lang="en-IN"/>
          </a:p>
        </p:txBody>
      </p:sp>
      <p:sp>
        <p:nvSpPr>
          <p:cNvPr id="17" name="Text 15"/>
          <p:cNvSpPr/>
          <p:nvPr/>
        </p:nvSpPr>
        <p:spPr>
          <a:xfrm>
            <a:off x="621792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6217920" y="2103120"/>
            <a:ext cx="2560320" cy="2560320"/>
          </a:xfrm>
          <a:prstGeom prst="rect">
            <a:avLst/>
          </a:prstGeom>
          <a:solidFill>
            <a:srgbClr val="F2F2F2"/>
          </a:solidFill>
          <a:ln/>
        </p:spPr>
        <p:txBody>
          <a:bodyPr/>
          <a:lstStyle/>
          <a:p>
            <a:endParaRPr lang="en-IN"/>
          </a:p>
        </p:txBody>
      </p:sp>
      <p:sp>
        <p:nvSpPr>
          <p:cNvPr id="19" name="Text 17"/>
          <p:cNvSpPr/>
          <p:nvPr/>
        </p:nvSpPr>
        <p:spPr>
          <a:xfrm>
            <a:off x="638251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Workspace &amp; Multi-File Edits</a:t>
            </a:r>
            <a:endParaRPr lang="en-US" sz="1400" dirty="0"/>
          </a:p>
        </p:txBody>
      </p:sp>
      <p:sp>
        <p:nvSpPr>
          <p:cNvPr id="20" name="Text 18"/>
          <p:cNvSpPr/>
          <p:nvPr/>
        </p:nvSpPr>
        <p:spPr>
          <a:xfrm>
            <a:off x="638251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Understands a whole repo well enough to plan and apply changes across many files.</a:t>
            </a:r>
            <a:endParaRPr lang="en-US" sz="1150" dirty="0"/>
          </a:p>
        </p:txBody>
      </p:sp>
      <p:sp>
        <p:nvSpPr>
          <p:cNvPr id="21" name="Text 19"/>
          <p:cNvSpPr/>
          <p:nvPr/>
        </p:nvSpPr>
        <p:spPr>
          <a:xfrm>
            <a:off x="8732520" y="1417320"/>
            <a:ext cx="32004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052560" y="1463040"/>
            <a:ext cx="2560320" cy="502920"/>
          </a:xfrm>
          <a:prstGeom prst="rect">
            <a:avLst/>
          </a:prstGeom>
          <a:solidFill>
            <a:srgbClr val="0078D4"/>
          </a:solidFill>
          <a:ln/>
        </p:spPr>
        <p:txBody>
          <a:bodyPr/>
          <a:lstStyle/>
          <a:p>
            <a:endParaRPr lang="en-IN"/>
          </a:p>
        </p:txBody>
      </p:sp>
      <p:sp>
        <p:nvSpPr>
          <p:cNvPr id="23" name="Text 21"/>
          <p:cNvSpPr/>
          <p:nvPr/>
        </p:nvSpPr>
        <p:spPr>
          <a:xfrm>
            <a:off x="905256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4" name="Shape 22"/>
          <p:cNvSpPr/>
          <p:nvPr/>
        </p:nvSpPr>
        <p:spPr>
          <a:xfrm>
            <a:off x="9052560" y="2103120"/>
            <a:ext cx="2560320" cy="2560320"/>
          </a:xfrm>
          <a:prstGeom prst="rect">
            <a:avLst/>
          </a:prstGeom>
          <a:solidFill>
            <a:srgbClr val="F2F2F2"/>
          </a:solidFill>
          <a:ln/>
        </p:spPr>
        <p:txBody>
          <a:bodyPr/>
          <a:lstStyle/>
          <a:p>
            <a:endParaRPr lang="en-IN"/>
          </a:p>
        </p:txBody>
      </p:sp>
      <p:sp>
        <p:nvSpPr>
          <p:cNvPr id="25" name="Text 23"/>
          <p:cNvSpPr/>
          <p:nvPr/>
        </p:nvSpPr>
        <p:spPr>
          <a:xfrm>
            <a:off x="921715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Copilot Agent Mode</a:t>
            </a:r>
            <a:endParaRPr lang="en-US" sz="1400" dirty="0"/>
          </a:p>
        </p:txBody>
      </p:sp>
      <p:sp>
        <p:nvSpPr>
          <p:cNvPr id="26" name="Text 24"/>
          <p:cNvSpPr/>
          <p:nvPr/>
        </p:nvSpPr>
        <p:spPr>
          <a:xfrm>
            <a:off x="921715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Given a task, it plans, edits, runs tools, iterates on failures and reports back autonomously.</a:t>
            </a:r>
            <a:endParaRPr lang="en-US" sz="1150" dirty="0"/>
          </a:p>
        </p:txBody>
      </p:sp>
      <p:sp>
        <p:nvSpPr>
          <p:cNvPr id="27" name="Text 25"/>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28" name="Text 2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43202"/>
            <a:ext cx="11064240" cy="554078"/>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Copilot Agent Mode in a .NET Workflow</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548640" y="1417320"/>
            <a:ext cx="11064240" cy="4846320"/>
          </a:xfrm>
          <a:prstGeom prst="rect">
            <a:avLst/>
          </a:prstGeom>
          <a:noFill/>
          <a:ln/>
        </p:spPr>
        <p:txBody>
          <a:bodyPr wrap="square" rtlCol="0" anchor="t"/>
          <a:lstStyle/>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Task-driven</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Tool use inside the loop</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Custom instructions and extensions</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Human stays the reviewer and approver</a:t>
            </a:r>
            <a:endParaRPr lang="en-US" sz="1600" dirty="0"/>
          </a:p>
        </p:txBody>
      </p:sp>
      <p:sp>
        <p:nvSpPr>
          <p:cNvPr id="90" name="HighlightBg90"/>
          <p:cNvSpPr/>
          <p:nvPr/>
        </p:nvSpPr>
        <p:spPr>
          <a:xfrm>
            <a:off x="548640" y="3150000"/>
            <a:ext cx="5382000" cy="1450000"/>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91" name="HighlightTxt90"/>
          <p:cNvSpPr/>
          <p:nvPr/>
        </p:nvSpPr>
        <p:spPr>
          <a:xfrm>
            <a:off x="822960" y="3332880"/>
            <a:ext cx="4833360" cy="1084240"/>
          </a:xfrm>
          <a:prstGeom prst="rect">
            <a:avLst/>
          </a:prstGeom>
          <a:noFill/>
          <a:ln/>
        </p:spPr>
        <p:txBody>
          <a:bodyPr wrap="square" rtlCol="0" anchor="t"/>
          <a:lstStyle/>
          <a:p>
            <a:pPr marL="0" indent="0">
              <a:buNone/>
            </a:pPr>
            <a:r>
              <a:rPr lang="en-US" sz="1400" b="1" dirty="0">
                <a:solidFill>
                  <a:srgbClr val="0078D4"/>
                </a:solidFill>
                <a:latin typeface="Calibri" pitchFamily="34" charset="0"/>
                <a:ea typeface="Calibri" pitchFamily="34" charset="-122"/>
                <a:cs typeface="Calibri" pitchFamily="34" charset="-120"/>
              </a:rPr>
              <a:t>Example in Practice</a:t>
            </a:r>
            <a:endParaRPr lang="en-US" sz="1400" b="1" dirty="0"/>
          </a:p>
          <a:p>
            <a:pPr marL="0" indent="0">
              <a:spcBef>
                <a:spcPts val="400"/>
              </a:spcBef>
              <a:buNone/>
            </a:pPr>
            <a:r>
              <a:rPr lang="en-US" sz="1100" dirty="0">
                <a:solidFill>
                  <a:srgbClr val="404040"/>
                </a:solidFill>
                <a:latin typeface="Calibri" pitchFamily="34" charset="0"/>
                <a:ea typeface="Calibri" pitchFamily="34" charset="-122"/>
                <a:cs typeface="Calibri" pitchFamily="34" charset="-120"/>
              </a:rPr>
              <a:t>“Add rate limiting - 100 req/min” becomes middleware, DI wiring and a test - drafted automatically.</a:t>
            </a:r>
            <a:endParaRPr lang="en-US" sz="1100" dirty="0"/>
          </a:p>
        </p:txBody>
      </p:sp>
      <p:sp>
        <p:nvSpPr>
          <p:cNvPr id="92" name="HighlightBg92"/>
          <p:cNvSpPr/>
          <p:nvPr/>
        </p:nvSpPr>
        <p:spPr>
          <a:xfrm>
            <a:off x="6230880" y="3150000"/>
            <a:ext cx="5382000" cy="1450000"/>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93" name="HighlightTxt92"/>
          <p:cNvSpPr/>
          <p:nvPr/>
        </p:nvSpPr>
        <p:spPr>
          <a:xfrm>
            <a:off x="6505200" y="3332880"/>
            <a:ext cx="4833360" cy="1084240"/>
          </a:xfrm>
          <a:prstGeom prst="rect">
            <a:avLst/>
          </a:prstGeom>
          <a:noFill/>
          <a:ln/>
        </p:spPr>
        <p:txBody>
          <a:bodyPr wrap="square" rtlCol="0" anchor="t"/>
          <a:lstStyle/>
          <a:p>
            <a:pPr marL="0" indent="0">
              <a:buNone/>
            </a:pPr>
            <a:r>
              <a:rPr lang="en-US" sz="1400" b="1" dirty="0">
                <a:solidFill>
                  <a:srgbClr val="0078D4"/>
                </a:solidFill>
                <a:latin typeface="Calibri" pitchFamily="34" charset="0"/>
                <a:ea typeface="Calibri" pitchFamily="34" charset="-122"/>
                <a:cs typeface="Calibri" pitchFamily="34" charset="-120"/>
              </a:rPr>
              <a:t>Self-Verifying</a:t>
            </a:r>
            <a:endParaRPr lang="en-US" sz="1400" b="1" dirty="0"/>
          </a:p>
          <a:p>
            <a:pPr marL="0" indent="0">
              <a:spcBef>
                <a:spcPts val="400"/>
              </a:spcBef>
              <a:buNone/>
            </a:pPr>
            <a:r>
              <a:rPr lang="en-US" sz="1100" dirty="0">
                <a:solidFill>
                  <a:srgbClr val="404040"/>
                </a:solidFill>
                <a:latin typeface="Calibri" pitchFamily="34" charset="0"/>
                <a:ea typeface="Calibri" pitchFamily="34" charset="-122"/>
                <a:cs typeface="Calibri" pitchFamily="34" charset="-120"/>
              </a:rPr>
              <a:t>Runs dotnet build and dotnet test itself, fixing failures, before it ever shows you a diff.</a:t>
            </a:r>
            <a:endParaRPr lang="en-US" sz="1100" dirty="0"/>
          </a:p>
        </p:txBody>
      </p:sp>
      <p:sp>
        <p:nvSpPr>
          <p:cNvPr id="5" name="Text 3"/>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10</a:t>
            </a:r>
            <a:endParaRPr lang="en-US" sz="1000" dirty="0"/>
          </a:p>
        </p:txBody>
      </p:sp>
      <p:sp>
        <p:nvSpPr>
          <p:cNvPr id="8" name="Eyebrow">
            <a:extLst>
              <a:ext uri="{FF2B5EF4-FFF2-40B4-BE49-F238E27FC236}">
                <a16:creationId xmlns:a16="http://schemas.microsoft.com/office/drawing/2014/main" id="{82A8B102-9CC8-A5AC-47F3-C47B33C96EA1}"/>
              </a:ext>
            </a:extLst>
          </p:cNvPr>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GITHUB COPILOT EVOLUTION</a:t>
            </a:r>
            <a:endParaRPr lang="en-US" sz="11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90" name="Eyebrow"/>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AI-ASSISTED ARCHITECTURE</a:t>
            </a:r>
            <a:endParaRPr lang="en-US" sz="1100" b="1" dirty="0"/>
          </a:p>
        </p:txBody>
      </p:sp>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Where AI Fits in Architecture Work</a:t>
            </a:r>
            <a:endParaRPr lang="en-US" sz="28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Shape 2"/>
          <p:cNvSpPr/>
          <p:nvPr/>
        </p:nvSpPr>
        <p:spPr>
          <a:xfrm>
            <a:off x="548640" y="2165465"/>
            <a:ext cx="3474720" cy="3187931"/>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5" name="Text 3"/>
          <p:cNvSpPr/>
          <p:nvPr/>
        </p:nvSpPr>
        <p:spPr>
          <a:xfrm>
            <a:off x="777240" y="2394065"/>
            <a:ext cx="3017520" cy="548640"/>
          </a:xfrm>
          <a:prstGeom prst="rect">
            <a:avLst/>
          </a:prstGeom>
          <a:noFill/>
          <a:ln/>
        </p:spPr>
        <p:txBody>
          <a:bodyPr wrap="square" rtlCol="0" anchor="ctr"/>
          <a:lstStyle/>
          <a:p>
            <a:pPr marL="0" indent="0">
              <a:buNone/>
            </a:pPr>
            <a:r>
              <a:rPr lang="en-US" sz="1600" b="1" dirty="0">
                <a:solidFill>
                  <a:srgbClr val="185ABD"/>
                </a:solidFill>
                <a:latin typeface="Calibri" pitchFamily="34" charset="0"/>
                <a:ea typeface="Calibri" pitchFamily="34" charset="-122"/>
                <a:cs typeface="Calibri" pitchFamily="34" charset="-120"/>
              </a:rPr>
              <a:t>Design Exploration</a:t>
            </a:r>
            <a:endParaRPr lang="en-US" sz="1600" dirty="0"/>
          </a:p>
        </p:txBody>
      </p:sp>
      <p:sp>
        <p:nvSpPr>
          <p:cNvPr id="6" name="Text 4"/>
          <p:cNvSpPr/>
          <p:nvPr/>
        </p:nvSpPr>
        <p:spPr>
          <a:xfrm>
            <a:off x="777240" y="2988425"/>
            <a:ext cx="3017520" cy="3474720"/>
          </a:xfrm>
          <a:prstGeom prst="rect">
            <a:avLst/>
          </a:prstGeom>
          <a:noFill/>
          <a:ln/>
        </p:spPr>
        <p:txBody>
          <a:bodyPr wrap="square" rtlCol="0" anchor="t"/>
          <a:lstStyle/>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Draft alternative designs (e.g. monolith vs. microservices)</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Summarize trade-offs against real constraints</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Generate ADRs as a starting draft</a:t>
            </a:r>
            <a:endParaRPr lang="en-US" sz="1250" dirty="0"/>
          </a:p>
        </p:txBody>
      </p:sp>
      <p:sp>
        <p:nvSpPr>
          <p:cNvPr id="7" name="Shape 5"/>
          <p:cNvSpPr/>
          <p:nvPr/>
        </p:nvSpPr>
        <p:spPr>
          <a:xfrm>
            <a:off x="4343400" y="2165465"/>
            <a:ext cx="3474720" cy="3187931"/>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8" name="Text 6"/>
          <p:cNvSpPr/>
          <p:nvPr/>
        </p:nvSpPr>
        <p:spPr>
          <a:xfrm>
            <a:off x="4572000" y="2394065"/>
            <a:ext cx="3017520" cy="548640"/>
          </a:xfrm>
          <a:prstGeom prst="rect">
            <a:avLst/>
          </a:prstGeom>
          <a:noFill/>
          <a:ln/>
        </p:spPr>
        <p:txBody>
          <a:bodyPr wrap="square" rtlCol="0" anchor="ctr"/>
          <a:lstStyle/>
          <a:p>
            <a:pPr marL="0" indent="0">
              <a:buNone/>
            </a:pPr>
            <a:r>
              <a:rPr lang="en-US" sz="1600" b="1" dirty="0">
                <a:solidFill>
                  <a:srgbClr val="185ABD"/>
                </a:solidFill>
                <a:latin typeface="Calibri" pitchFamily="34" charset="0"/>
                <a:ea typeface="Calibri" pitchFamily="34" charset="-122"/>
                <a:cs typeface="Calibri" pitchFamily="34" charset="-120"/>
              </a:rPr>
              <a:t>Code-to-Diagram &amp; Back</a:t>
            </a:r>
            <a:endParaRPr lang="en-US" sz="1600" dirty="0"/>
          </a:p>
        </p:txBody>
      </p:sp>
      <p:sp>
        <p:nvSpPr>
          <p:cNvPr id="9" name="Text 7"/>
          <p:cNvSpPr/>
          <p:nvPr/>
        </p:nvSpPr>
        <p:spPr>
          <a:xfrm>
            <a:off x="4572000" y="2988425"/>
            <a:ext cx="3017520" cy="3474720"/>
          </a:xfrm>
          <a:prstGeom prst="rect">
            <a:avLst/>
          </a:prstGeom>
          <a:noFill/>
          <a:ln/>
        </p:spPr>
        <p:txBody>
          <a:bodyPr wrap="square" rtlCol="0" anchor="t"/>
          <a:lstStyle/>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Generate dependency &amp; sequence diagrams</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Flag layering violations &amp; architecture drift</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Keep docs synchronized with the codebase</a:t>
            </a:r>
            <a:endParaRPr lang="en-US" sz="1250" dirty="0"/>
          </a:p>
        </p:txBody>
      </p:sp>
      <p:sp>
        <p:nvSpPr>
          <p:cNvPr id="10" name="Shape 8"/>
          <p:cNvSpPr/>
          <p:nvPr/>
        </p:nvSpPr>
        <p:spPr>
          <a:xfrm>
            <a:off x="8138160" y="2165465"/>
            <a:ext cx="3474720" cy="3187931"/>
          </a:xfrm>
          <a:prstGeom prst="rect">
            <a:avLst/>
          </a:prstGeom>
          <a:solidFill>
            <a:srgbClr val="F2F2F2"/>
          </a:solidFill>
          <a:ln/>
          <a:effectLst>
            <a:outerShdw blurRad="76200" dist="25400" dir="5400000" algn="bl" rotWithShape="0">
              <a:srgbClr val="BFBFBF">
                <a:alpha val="35000"/>
              </a:srgbClr>
            </a:outerShdw>
          </a:effectLst>
        </p:spPr>
        <p:txBody>
          <a:bodyPr/>
          <a:lstStyle/>
          <a:p>
            <a:endParaRPr lang="en-IN"/>
          </a:p>
        </p:txBody>
      </p:sp>
      <p:sp>
        <p:nvSpPr>
          <p:cNvPr id="11" name="Text 9"/>
          <p:cNvSpPr/>
          <p:nvPr/>
        </p:nvSpPr>
        <p:spPr>
          <a:xfrm>
            <a:off x="8366760" y="2394065"/>
            <a:ext cx="3017520" cy="548640"/>
          </a:xfrm>
          <a:prstGeom prst="rect">
            <a:avLst/>
          </a:prstGeom>
          <a:noFill/>
          <a:ln/>
        </p:spPr>
        <p:txBody>
          <a:bodyPr wrap="square" rtlCol="0" anchor="ctr"/>
          <a:lstStyle/>
          <a:p>
            <a:pPr marL="0" indent="0">
              <a:buNone/>
            </a:pPr>
            <a:r>
              <a:rPr lang="en-US" sz="1600" b="1" dirty="0">
                <a:solidFill>
                  <a:srgbClr val="185ABD"/>
                </a:solidFill>
                <a:latin typeface="Calibri" pitchFamily="34" charset="0"/>
                <a:ea typeface="Calibri" pitchFamily="34" charset="-122"/>
                <a:cs typeface="Calibri" pitchFamily="34" charset="-120"/>
              </a:rPr>
              <a:t>Guardrails That Still Matter</a:t>
            </a:r>
            <a:endParaRPr lang="en-US" sz="1600" dirty="0"/>
          </a:p>
        </p:txBody>
      </p:sp>
      <p:sp>
        <p:nvSpPr>
          <p:cNvPr id="12" name="Text 10"/>
          <p:cNvSpPr/>
          <p:nvPr/>
        </p:nvSpPr>
        <p:spPr>
          <a:xfrm>
            <a:off x="8366760" y="2988425"/>
            <a:ext cx="3017520" cy="3474720"/>
          </a:xfrm>
          <a:prstGeom prst="rect">
            <a:avLst/>
          </a:prstGeom>
          <a:noFill/>
          <a:ln/>
        </p:spPr>
        <p:txBody>
          <a:bodyPr wrap="square" rtlCol="0" anchor="t"/>
          <a:lstStyle/>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AI proposals are drafts - human judgment stays final</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Non-functional requirements need human validation</a:t>
            </a:r>
            <a:endParaRPr lang="en-US" sz="1250" dirty="0"/>
          </a:p>
          <a:p>
            <a:pPr marL="342900" indent="-342900">
              <a:spcAft>
                <a:spcPts val="800"/>
              </a:spcAft>
              <a:buSzPct val="100000"/>
              <a:buChar char="•"/>
            </a:pPr>
            <a:r>
              <a:rPr lang="en-US" sz="1250" dirty="0">
                <a:solidFill>
                  <a:srgbClr val="404040"/>
                </a:solidFill>
                <a:latin typeface="Calibri" pitchFamily="34" charset="0"/>
                <a:ea typeface="Calibri" pitchFamily="34" charset="-122"/>
                <a:cs typeface="Calibri" pitchFamily="34" charset="-120"/>
              </a:rPr>
              <a:t>Version-control ADRs for traceability</a:t>
            </a:r>
            <a:endParaRPr lang="en-US" sz="1250" dirty="0"/>
          </a:p>
        </p:txBody>
      </p:sp>
      <p:sp>
        <p:nvSpPr>
          <p:cNvPr id="13" name="Text 11"/>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14" name="Text 12"/>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90" name="Eyebrow"/>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MCP (MODEL CONTEXT PROTOCOL)</a:t>
            </a:r>
            <a:endParaRPr lang="en-US" sz="1100" b="1" dirty="0"/>
          </a:p>
        </p:txBody>
      </p:sp>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What Problem MCP Solves</a:t>
            </a:r>
            <a:endParaRPr lang="en-US" sz="28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548640" y="1417320"/>
            <a:ext cx="11064240" cy="4846320"/>
          </a:xfrm>
          <a:prstGeom prst="rect">
            <a:avLst/>
          </a:prstGeom>
          <a:noFill/>
          <a:ln/>
        </p:spPr>
        <p:txBody>
          <a:bodyPr wrap="square" rtlCol="0" anchor="t"/>
          <a:lstStyle/>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Before MCP: every AI tool needed a bespoke, one-off integration with every data source or service</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MCP defines a common client-server protocol for exposing tools, data and prompts to AI models</a:t>
            </a:r>
            <a:endParaRPr lang="en-US" sz="1600" dirty="0"/>
          </a:p>
          <a:p>
            <a:pPr marL="342900" indent="-342900">
              <a:spcAft>
                <a:spcPts val="1200"/>
              </a:spcAft>
              <a:buSzPct val="100000"/>
              <a:buChar char="•"/>
            </a:pPr>
            <a:r>
              <a:rPr lang="en-US" sz="1600" b="1" dirty="0">
                <a:solidFill>
                  <a:srgbClr val="2E2E2E"/>
                </a:solidFill>
                <a:latin typeface="Calibri" pitchFamily="34" charset="0"/>
                <a:ea typeface="Calibri" pitchFamily="34" charset="-122"/>
                <a:cs typeface="Calibri" pitchFamily="34" charset="-120"/>
              </a:rPr>
              <a:t>Turns the M×N problem into an M+N problem - build the integration once, reuse it everywhere</a:t>
            </a:r>
            <a:endParaRPr lang="en-US" sz="1600" dirty="0"/>
          </a:p>
        </p:txBody>
      </p:sp>
      <p:sp>
        <p:nvSpPr>
          <p:cNvPr id="5" name="Text 3"/>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12</a:t>
            </a:r>
            <a:endParaRPr lang="en-US" sz="1000" dirty="0"/>
          </a:p>
        </p:txBody>
      </p:sp>
      <p:pic>
        <p:nvPicPr>
          <p:cNvPr id="91" name="MCP Before After Diagram" descr="Diagram comparing the M by N custom integration problem before MCP with the simplified M plus N hub-and-spoke model after MCP"/>
          <p:cNvPicPr>
            <a:picLocks noChangeAspect="1"/>
          </p:cNvPicPr>
          <p:nvPr/>
        </p:nvPicPr>
        <p:blipFill>
          <a:blip r:embed="rId3"/>
          <a:stretch>
            <a:fillRect/>
          </a:stretch>
        </p:blipFill>
        <p:spPr>
          <a:xfrm>
            <a:off x="1249528" y="3657600"/>
            <a:ext cx="9692640" cy="26434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30352"/>
            <a:ext cx="11064240" cy="566928"/>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MCP Architecture &amp; .NET Use Cases</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Shape 2"/>
          <p:cNvSpPr/>
          <p:nvPr/>
        </p:nvSpPr>
        <p:spPr>
          <a:xfrm>
            <a:off x="548640" y="1417320"/>
            <a:ext cx="2743200" cy="914400"/>
          </a:xfrm>
          <a:prstGeom prst="roundRect">
            <a:avLst>
              <a:gd name="adj" fmla="val 8000"/>
            </a:avLst>
          </a:prstGeom>
          <a:solidFill>
            <a:srgbClr val="F2F2F2"/>
          </a:solidFill>
          <a:ln w="15875">
            <a:solidFill>
              <a:srgbClr val="0078D4"/>
            </a:solidFill>
            <a:prstDash val="solid"/>
          </a:ln>
        </p:spPr>
        <p:txBody>
          <a:bodyPr/>
          <a:lstStyle/>
          <a:p>
            <a:endParaRPr lang="en-IN"/>
          </a:p>
        </p:txBody>
      </p:sp>
      <p:sp>
        <p:nvSpPr>
          <p:cNvPr id="5" name="Text 3"/>
          <p:cNvSpPr/>
          <p:nvPr/>
        </p:nvSpPr>
        <p:spPr>
          <a:xfrm>
            <a:off x="548640" y="1417320"/>
            <a:ext cx="2743200" cy="914400"/>
          </a:xfrm>
          <a:prstGeom prst="rect">
            <a:avLst/>
          </a:prstGeom>
          <a:noFill/>
          <a:ln/>
        </p:spPr>
        <p:txBody>
          <a:bodyPr wrap="square" rtlCol="0" anchor="ctr"/>
          <a:lstStyle/>
          <a:p>
            <a:pPr marL="0" indent="0" algn="ctr">
              <a:buNone/>
            </a:pPr>
            <a:r>
              <a:rPr lang="en-US" sz="1200" b="1" dirty="0">
                <a:solidFill>
                  <a:srgbClr val="2E2E2E"/>
                </a:solidFill>
                <a:latin typeface="Calibri" pitchFamily="34" charset="0"/>
                <a:ea typeface="Calibri" pitchFamily="34" charset="-122"/>
                <a:cs typeface="Calibri" pitchFamily="34" charset="-120"/>
              </a:rPr>
              <a:t>AI Client</a:t>
            </a:r>
            <a:endParaRPr lang="en-US" sz="1200" dirty="0"/>
          </a:p>
          <a:p>
            <a:pPr marL="0" indent="0" algn="ctr">
              <a:buNone/>
            </a:pPr>
            <a:r>
              <a:rPr lang="en-US" sz="1200" b="1" dirty="0">
                <a:solidFill>
                  <a:srgbClr val="2E2E2E"/>
                </a:solidFill>
                <a:latin typeface="Calibri" pitchFamily="34" charset="0"/>
                <a:ea typeface="Calibri" pitchFamily="34" charset="-122"/>
                <a:cs typeface="Calibri" pitchFamily="34" charset="-120"/>
              </a:rPr>
              <a:t>(IDE / Copilot / Agent)</a:t>
            </a:r>
            <a:endParaRPr lang="en-US" sz="1200" dirty="0"/>
          </a:p>
        </p:txBody>
      </p:sp>
      <p:sp>
        <p:nvSpPr>
          <p:cNvPr id="6" name="Text 4"/>
          <p:cNvSpPr/>
          <p:nvPr/>
        </p:nvSpPr>
        <p:spPr>
          <a:xfrm>
            <a:off x="3429000" y="1673352"/>
            <a:ext cx="1371600" cy="365760"/>
          </a:xfrm>
          <a:prstGeom prst="rect">
            <a:avLst/>
          </a:prstGeom>
          <a:noFill/>
          <a:ln/>
        </p:spPr>
        <p:txBody>
          <a:bodyPr wrap="square" rtlCol="0" anchor="ctr"/>
          <a:lstStyle/>
          <a:p>
            <a:pPr marL="0" indent="0" algn="ctr">
              <a:buNone/>
            </a:pPr>
            <a:r>
              <a:rPr lang="en-US" sz="1200" b="1" dirty="0">
                <a:solidFill>
                  <a:srgbClr val="185ABD"/>
                </a:solidFill>
                <a:latin typeface="Calibri" pitchFamily="34" charset="0"/>
                <a:ea typeface="Calibri" pitchFamily="34" charset="-122"/>
                <a:cs typeface="Calibri" pitchFamily="34" charset="-120"/>
              </a:rPr>
              <a:t>MCP</a:t>
            </a:r>
            <a:endParaRPr lang="en-US" sz="1200" dirty="0"/>
          </a:p>
        </p:txBody>
      </p:sp>
      <p:sp>
        <p:nvSpPr>
          <p:cNvPr id="7" name="Shape 5"/>
          <p:cNvSpPr/>
          <p:nvPr/>
        </p:nvSpPr>
        <p:spPr>
          <a:xfrm>
            <a:off x="3383280" y="1737360"/>
            <a:ext cx="1280160" cy="274320"/>
          </a:xfrm>
          <a:prstGeom prst="rightArrow">
            <a:avLst/>
          </a:prstGeom>
          <a:solidFill>
            <a:srgbClr val="0078D4"/>
          </a:solidFill>
          <a:ln/>
        </p:spPr>
        <p:txBody>
          <a:bodyPr/>
          <a:lstStyle/>
          <a:p>
            <a:endParaRPr lang="en-IN"/>
          </a:p>
        </p:txBody>
      </p:sp>
      <p:sp>
        <p:nvSpPr>
          <p:cNvPr id="8" name="Shape 6"/>
          <p:cNvSpPr/>
          <p:nvPr/>
        </p:nvSpPr>
        <p:spPr>
          <a:xfrm>
            <a:off x="4800600" y="1417320"/>
            <a:ext cx="2560320" cy="914400"/>
          </a:xfrm>
          <a:prstGeom prst="roundRect">
            <a:avLst>
              <a:gd name="adj" fmla="val 8000"/>
            </a:avLst>
          </a:prstGeom>
          <a:solidFill>
            <a:srgbClr val="0078D4"/>
          </a:solidFill>
          <a:ln/>
        </p:spPr>
        <p:txBody>
          <a:bodyPr/>
          <a:lstStyle/>
          <a:p>
            <a:endParaRPr lang="en-IN"/>
          </a:p>
        </p:txBody>
      </p:sp>
      <p:sp>
        <p:nvSpPr>
          <p:cNvPr id="9" name="Text 7"/>
          <p:cNvSpPr/>
          <p:nvPr/>
        </p:nvSpPr>
        <p:spPr>
          <a:xfrm>
            <a:off x="4800600" y="1417320"/>
            <a:ext cx="256032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MCP Server</a:t>
            </a:r>
            <a:endParaRPr lang="en-US" sz="1300" dirty="0"/>
          </a:p>
        </p:txBody>
      </p:sp>
      <p:sp>
        <p:nvSpPr>
          <p:cNvPr id="10" name="Shape 8"/>
          <p:cNvSpPr/>
          <p:nvPr/>
        </p:nvSpPr>
        <p:spPr>
          <a:xfrm>
            <a:off x="7452360" y="1737360"/>
            <a:ext cx="1280160" cy="274320"/>
          </a:xfrm>
          <a:prstGeom prst="rightArrow">
            <a:avLst/>
          </a:prstGeom>
          <a:solidFill>
            <a:srgbClr val="0078D4"/>
          </a:solidFill>
          <a:ln/>
        </p:spPr>
        <p:txBody>
          <a:bodyPr/>
          <a:lstStyle/>
          <a:p>
            <a:endParaRPr lang="en-IN"/>
          </a:p>
        </p:txBody>
      </p:sp>
      <p:sp>
        <p:nvSpPr>
          <p:cNvPr id="11" name="Shape 9"/>
          <p:cNvSpPr/>
          <p:nvPr/>
        </p:nvSpPr>
        <p:spPr>
          <a:xfrm>
            <a:off x="8915400" y="1371600"/>
            <a:ext cx="2651760" cy="384048"/>
          </a:xfrm>
          <a:prstGeom prst="rect">
            <a:avLst/>
          </a:prstGeom>
          <a:solidFill>
            <a:srgbClr val="F2F2F2"/>
          </a:solidFill>
          <a:ln w="9525">
            <a:solidFill>
              <a:srgbClr val="BFBFBF"/>
            </a:solidFill>
            <a:prstDash val="solid"/>
          </a:ln>
        </p:spPr>
        <p:txBody>
          <a:bodyPr/>
          <a:lstStyle/>
          <a:p>
            <a:endParaRPr lang="en-IN"/>
          </a:p>
        </p:txBody>
      </p:sp>
      <p:sp>
        <p:nvSpPr>
          <p:cNvPr id="12" name="Text 10"/>
          <p:cNvSpPr/>
          <p:nvPr/>
        </p:nvSpPr>
        <p:spPr>
          <a:xfrm>
            <a:off x="8915400" y="1371600"/>
            <a:ext cx="2651760" cy="3840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Database</a:t>
            </a:r>
            <a:endParaRPr lang="en-US" sz="1100" dirty="0"/>
          </a:p>
        </p:txBody>
      </p:sp>
      <p:sp>
        <p:nvSpPr>
          <p:cNvPr id="13" name="Shape 11"/>
          <p:cNvSpPr/>
          <p:nvPr/>
        </p:nvSpPr>
        <p:spPr>
          <a:xfrm>
            <a:off x="8915400" y="1874520"/>
            <a:ext cx="2651760" cy="384048"/>
          </a:xfrm>
          <a:prstGeom prst="rect">
            <a:avLst/>
          </a:prstGeom>
          <a:solidFill>
            <a:srgbClr val="F2F2F2"/>
          </a:solidFill>
          <a:ln w="9525">
            <a:solidFill>
              <a:srgbClr val="BFBFBF"/>
            </a:solidFill>
            <a:prstDash val="solid"/>
          </a:ln>
        </p:spPr>
        <p:txBody>
          <a:bodyPr/>
          <a:lstStyle/>
          <a:p>
            <a:endParaRPr lang="en-IN"/>
          </a:p>
        </p:txBody>
      </p:sp>
      <p:sp>
        <p:nvSpPr>
          <p:cNvPr id="14" name="Text 12"/>
          <p:cNvSpPr/>
          <p:nvPr/>
        </p:nvSpPr>
        <p:spPr>
          <a:xfrm>
            <a:off x="8915400" y="1874520"/>
            <a:ext cx="2651760" cy="3840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Internal API</a:t>
            </a:r>
            <a:endParaRPr lang="en-US" sz="1100" dirty="0"/>
          </a:p>
        </p:txBody>
      </p:sp>
      <p:sp>
        <p:nvSpPr>
          <p:cNvPr id="15" name="Shape 13"/>
          <p:cNvSpPr/>
          <p:nvPr/>
        </p:nvSpPr>
        <p:spPr>
          <a:xfrm>
            <a:off x="8915400" y="2377440"/>
            <a:ext cx="2651760" cy="384048"/>
          </a:xfrm>
          <a:prstGeom prst="rect">
            <a:avLst/>
          </a:prstGeom>
          <a:solidFill>
            <a:srgbClr val="F2F2F2"/>
          </a:solidFill>
          <a:ln w="9525">
            <a:solidFill>
              <a:srgbClr val="BFBFBF"/>
            </a:solidFill>
            <a:prstDash val="solid"/>
          </a:ln>
        </p:spPr>
        <p:txBody>
          <a:bodyPr/>
          <a:lstStyle/>
          <a:p>
            <a:endParaRPr lang="en-IN"/>
          </a:p>
        </p:txBody>
      </p:sp>
      <p:sp>
        <p:nvSpPr>
          <p:cNvPr id="16" name="Text 14"/>
          <p:cNvSpPr/>
          <p:nvPr/>
        </p:nvSpPr>
        <p:spPr>
          <a:xfrm>
            <a:off x="8915400" y="2377440"/>
            <a:ext cx="2651760" cy="3840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File System</a:t>
            </a:r>
            <a:endParaRPr lang="en-US" sz="1100" dirty="0"/>
          </a:p>
        </p:txBody>
      </p:sp>
      <p:sp>
        <p:nvSpPr>
          <p:cNvPr id="17" name="Shape 15"/>
          <p:cNvSpPr/>
          <p:nvPr/>
        </p:nvSpPr>
        <p:spPr>
          <a:xfrm>
            <a:off x="8915400" y="2880360"/>
            <a:ext cx="2651760" cy="384048"/>
          </a:xfrm>
          <a:prstGeom prst="rect">
            <a:avLst/>
          </a:prstGeom>
          <a:solidFill>
            <a:srgbClr val="F2F2F2"/>
          </a:solidFill>
          <a:ln w="9525">
            <a:solidFill>
              <a:srgbClr val="BFBFBF"/>
            </a:solidFill>
            <a:prstDash val="solid"/>
          </a:ln>
        </p:spPr>
        <p:txBody>
          <a:bodyPr/>
          <a:lstStyle/>
          <a:p>
            <a:endParaRPr lang="en-IN"/>
          </a:p>
        </p:txBody>
      </p:sp>
      <p:sp>
        <p:nvSpPr>
          <p:cNvPr id="18" name="Text 16"/>
          <p:cNvSpPr/>
          <p:nvPr/>
        </p:nvSpPr>
        <p:spPr>
          <a:xfrm>
            <a:off x="8915400" y="2880360"/>
            <a:ext cx="2651760" cy="384048"/>
          </a:xfrm>
          <a:prstGeom prst="rect">
            <a:avLst/>
          </a:prstGeom>
          <a:noFill/>
          <a:ln/>
        </p:spPr>
        <p:txBody>
          <a:bodyPr wrap="square" rtlCol="0" anchor="ctr"/>
          <a:lstStyle/>
          <a:p>
            <a:pPr marL="0" indent="0" algn="ctr">
              <a:buNone/>
            </a:pPr>
            <a:r>
              <a:rPr lang="en-US" sz="1100" dirty="0">
                <a:solidFill>
                  <a:srgbClr val="404040"/>
                </a:solidFill>
                <a:latin typeface="Calibri" pitchFamily="34" charset="0"/>
                <a:ea typeface="Calibri" pitchFamily="34" charset="-122"/>
                <a:cs typeface="Calibri" pitchFamily="34" charset="-120"/>
              </a:rPr>
              <a:t>Build / CI</a:t>
            </a:r>
            <a:endParaRPr lang="en-US" sz="1100" dirty="0"/>
          </a:p>
        </p:txBody>
      </p:sp>
      <p:sp>
        <p:nvSpPr>
          <p:cNvPr id="19" name="Text 17"/>
          <p:cNvSpPr/>
          <p:nvPr/>
        </p:nvSpPr>
        <p:spPr>
          <a:xfrm>
            <a:off x="548640" y="2651760"/>
            <a:ext cx="8183880" cy="457200"/>
          </a:xfrm>
          <a:prstGeom prst="rect">
            <a:avLst/>
          </a:prstGeom>
          <a:noFill/>
          <a:ln/>
        </p:spPr>
        <p:txBody>
          <a:bodyPr wrap="square" rtlCol="0" anchor="ctr"/>
          <a:lstStyle/>
          <a:p>
            <a:pPr marL="0" indent="0">
              <a:buNone/>
            </a:pPr>
            <a:r>
              <a:rPr lang="en-US" sz="1250" i="1" dirty="0">
                <a:solidFill>
                  <a:srgbClr val="7F7F7F"/>
                </a:solidFill>
                <a:latin typeface="Calibri" pitchFamily="34" charset="0"/>
                <a:ea typeface="Calibri" pitchFamily="34" charset="-122"/>
                <a:cs typeface="Calibri" pitchFamily="34" charset="-120"/>
              </a:rPr>
              <a:t>A .NET service or CLI can implement an MCP server, exposing internal tools/data through a standard interface any compatible AI client can call.</a:t>
            </a:r>
            <a:endParaRPr lang="en-US" sz="1250" dirty="0"/>
          </a:p>
        </p:txBody>
      </p:sp>
      <p:sp>
        <p:nvSpPr>
          <p:cNvPr id="20" name="Text 18"/>
          <p:cNvSpPr/>
          <p:nvPr/>
        </p:nvSpPr>
        <p:spPr>
          <a:xfrm>
            <a:off x="548640" y="3246120"/>
            <a:ext cx="11064240" cy="3017520"/>
          </a:xfrm>
          <a:prstGeom prst="rect">
            <a:avLst/>
          </a:prstGeom>
          <a:noFill/>
          <a:ln/>
        </p:spPr>
        <p:txBody>
          <a:bodyPr wrap="square" rtlCol="0" anchor="t"/>
          <a:lstStyle/>
          <a:p>
            <a:pPr marL="342900" indent="-342900">
              <a:spcAft>
                <a:spcPts val="1200"/>
              </a:spcAft>
              <a:buSzPct val="100000"/>
              <a:buChar char="•"/>
            </a:pPr>
            <a:r>
              <a:rPr lang="en-US" sz="1500" b="1" dirty="0">
                <a:solidFill>
                  <a:srgbClr val="2E2E2E"/>
                </a:solidFill>
                <a:latin typeface="Calibri" pitchFamily="34" charset="0"/>
                <a:ea typeface="Calibri" pitchFamily="34" charset="-122"/>
                <a:cs typeface="Calibri" pitchFamily="34" charset="-120"/>
              </a:rPr>
              <a:t>Practical .NET use cases</a:t>
            </a:r>
            <a:endParaRPr lang="en-US" sz="1500" dirty="0"/>
          </a:p>
          <a:p>
            <a:pPr marL="685800" lvl="1" indent="-342900">
              <a:spcAft>
                <a:spcPts val="800"/>
              </a:spcAft>
              <a:buSzPct val="100000"/>
              <a:buChar char="▪"/>
            </a:pPr>
            <a:r>
              <a:rPr lang="en-US" sz="1300" dirty="0">
                <a:solidFill>
                  <a:srgbClr val="404040"/>
                </a:solidFill>
                <a:latin typeface="Calibri" pitchFamily="34" charset="0"/>
                <a:ea typeface="Calibri" pitchFamily="34" charset="-122"/>
                <a:cs typeface="Calibri" pitchFamily="34" charset="-120"/>
              </a:rPr>
              <a:t>Expose an internal ticketing or CRM API as an MCP server so Copilot or other agents can query it during dev work</a:t>
            </a:r>
            <a:endParaRPr lang="en-US" sz="1500" dirty="0"/>
          </a:p>
          <a:p>
            <a:pPr marL="685800" lvl="1" indent="-342900">
              <a:spcAft>
                <a:spcPts val="800"/>
              </a:spcAft>
              <a:buSzPct val="100000"/>
              <a:buChar char="▪"/>
            </a:pPr>
            <a:r>
              <a:rPr lang="en-US" sz="1300" dirty="0">
                <a:solidFill>
                  <a:srgbClr val="404040"/>
                </a:solidFill>
                <a:latin typeface="Calibri" pitchFamily="34" charset="0"/>
                <a:ea typeface="Calibri" pitchFamily="34" charset="-122"/>
                <a:cs typeface="Calibri" pitchFamily="34" charset="-120"/>
              </a:rPr>
              <a:t>Give an AI coding agent controlled access to run dotnet build/test through an MCP tool rather than raw shell access</a:t>
            </a:r>
            <a:endParaRPr lang="en-US" sz="1500" dirty="0"/>
          </a:p>
          <a:p>
            <a:pPr marL="685800" lvl="1" indent="-342900">
              <a:spcAft>
                <a:spcPts val="800"/>
              </a:spcAft>
              <a:buSzPct val="100000"/>
              <a:buChar char="▪"/>
            </a:pPr>
            <a:r>
              <a:rPr lang="en-US" sz="1300" dirty="0">
                <a:solidFill>
                  <a:srgbClr val="404040"/>
                </a:solidFill>
                <a:latin typeface="Calibri" pitchFamily="34" charset="0"/>
                <a:ea typeface="Calibri" pitchFamily="34" charset="-122"/>
                <a:cs typeface="Calibri" pitchFamily="34" charset="-120"/>
              </a:rPr>
              <a:t>Let a support or ops agent query production telemetry through a governed MCP interface, not direct database credentials</a:t>
            </a:r>
            <a:endParaRPr lang="en-US" sz="1500" dirty="0"/>
          </a:p>
        </p:txBody>
      </p:sp>
      <p:sp>
        <p:nvSpPr>
          <p:cNvPr id="21" name="Text 19"/>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22" name="Text 20"/>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13</a:t>
            </a:r>
            <a:endParaRPr lang="en-US" sz="1000" dirty="0"/>
          </a:p>
        </p:txBody>
      </p:sp>
      <p:sp>
        <p:nvSpPr>
          <p:cNvPr id="28" name="Eyebrow">
            <a:extLst>
              <a:ext uri="{FF2B5EF4-FFF2-40B4-BE49-F238E27FC236}">
                <a16:creationId xmlns:a16="http://schemas.microsoft.com/office/drawing/2014/main" id="{3FED0F6F-E7AC-CF99-8EA9-475B6A771197}"/>
              </a:ext>
            </a:extLst>
          </p:cNvPr>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MCP (MODEL CONTEXT PROTOCOL)</a:t>
            </a:r>
            <a:endParaRPr lang="en-US" sz="11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90" name="Eyebrow"/>
          <p:cNvSpPr/>
          <p:nvPr/>
        </p:nvSpPr>
        <p:spPr>
          <a:xfrm>
            <a:off x="548640" y="292608"/>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AGENT-BASED SOFTWARE DEVELOPMENT</a:t>
            </a:r>
            <a:endParaRPr lang="en-US" sz="1100" b="1" dirty="0"/>
          </a:p>
        </p:txBody>
      </p:sp>
      <p:sp>
        <p:nvSpPr>
          <p:cNvPr id="2" name="Title"/>
          <p:cNvSpPr/>
          <p:nvPr/>
        </p:nvSpPr>
        <p:spPr>
          <a:xfrm>
            <a:off x="548640" y="566928"/>
            <a:ext cx="11064240" cy="54864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Evolving into Agentic AI</a:t>
            </a:r>
            <a:endParaRPr lang="en-US" sz="2800" dirty="0"/>
          </a:p>
        </p:txBody>
      </p:sp>
      <p:sp>
        <p:nvSpPr>
          <p:cNvPr id="3" name="Subtitle"/>
          <p:cNvSpPr/>
          <p:nvPr/>
        </p:nvSpPr>
        <p:spPr>
          <a:xfrm>
            <a:off x="548640" y="1078992"/>
            <a:ext cx="11064240" cy="365760"/>
          </a:xfrm>
          <a:prstGeom prst="rect">
            <a:avLst/>
          </a:prstGeom>
          <a:noFill/>
          <a:ln/>
        </p:spPr>
        <p:txBody>
          <a:bodyPr wrap="square" rtlCol="0" anchor="ctr"/>
          <a:lstStyle/>
          <a:p>
            <a:pPr marL="0" indent="0">
              <a:buNone/>
            </a:pPr>
            <a:r>
              <a:rPr lang="en-US" sz="1300" i="1" dirty="0">
                <a:solidFill>
                  <a:srgbClr val="7F7F7F"/>
                </a:solidFill>
                <a:latin typeface="Calibri" pitchFamily="34" charset="0"/>
                <a:ea typeface="Calibri" pitchFamily="34" charset="-122"/>
                <a:cs typeface="Calibri" pitchFamily="34" charset="-120"/>
              </a:rPr>
              <a:t>From a single expert consultant to an entire factory - zooming out from the micro to the macro</a:t>
            </a:r>
            <a:endParaRPr lang="en-US" sz="1300" dirty="0"/>
          </a:p>
        </p:txBody>
      </p:sp>
      <p:sp>
        <p:nvSpPr>
          <p:cNvPr id="4" name="Divider"/>
          <p:cNvSpPr/>
          <p:nvPr/>
        </p:nvSpPr>
        <p:spPr>
          <a:xfrm>
            <a:off x="0" y="1481328"/>
            <a:ext cx="12188952" cy="18288"/>
          </a:xfrm>
          <a:prstGeom prst="rect">
            <a:avLst/>
          </a:prstGeom>
          <a:solidFill>
            <a:srgbClr val="D9D9D9"/>
          </a:solidFill>
          <a:ln/>
        </p:spPr>
        <p:txBody>
          <a:bodyPr/>
          <a:lstStyle/>
          <a:p>
            <a:endParaRPr lang="en-IN"/>
          </a:p>
        </p:txBody>
      </p:sp>
      <p:sp>
        <p:nvSpPr>
          <p:cNvPr id="5" name="Header1"/>
          <p:cNvSpPr/>
          <p:nvPr/>
        </p:nvSpPr>
        <p:spPr>
          <a:xfrm>
            <a:off x="548640" y="1700000"/>
            <a:ext cx="3484880" cy="502920"/>
          </a:xfrm>
          <a:prstGeom prst="rect">
            <a:avLst/>
          </a:prstGeom>
          <a:solidFill>
            <a:srgbClr val="0078D4"/>
          </a:solid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 · Generative AI</a:t>
            </a:r>
            <a:endParaRPr lang="en-US" sz="1700" dirty="0"/>
          </a:p>
        </p:txBody>
      </p:sp>
      <p:sp>
        <p:nvSpPr>
          <p:cNvPr id="6" name="Card1"/>
          <p:cNvSpPr/>
          <p:nvPr/>
        </p:nvSpPr>
        <p:spPr>
          <a:xfrm>
            <a:off x="548640" y="2202920"/>
            <a:ext cx="3484880" cy="2650000"/>
          </a:xfrm>
          <a:prstGeom prst="rect">
            <a:avLst/>
          </a:prstGeom>
          <a:solidFill>
            <a:srgbClr val="F2F2F2"/>
          </a:solidFill>
          <a:ln/>
        </p:spPr>
        <p:txBody>
          <a:bodyPr/>
          <a:lstStyle/>
          <a:p>
            <a:endParaRPr lang="en-IN"/>
          </a:p>
        </p:txBody>
      </p:sp>
      <p:sp>
        <p:nvSpPr>
          <p:cNvPr id="7" name="Role1"/>
          <p:cNvSpPr/>
          <p:nvPr/>
        </p:nvSpPr>
        <p:spPr>
          <a:xfrm>
            <a:off x="698640" y="2332920"/>
            <a:ext cx="3184880" cy="380000"/>
          </a:xfrm>
          <a:prstGeom prst="rect">
            <a:avLst/>
          </a:prstGeom>
          <a:noFill/>
          <a:ln/>
        </p:spPr>
        <p:txBody>
          <a:bodyPr wrap="square" rtlCol="0" anchor="t"/>
          <a:lstStyle/>
          <a:p>
            <a:pPr marL="0" indent="0">
              <a:buNone/>
            </a:pPr>
            <a:r>
              <a:rPr lang="en-US" sz="1500" b="1" dirty="0">
                <a:solidFill>
                  <a:srgbClr val="0078D4"/>
                </a:solidFill>
                <a:latin typeface="Calibri" pitchFamily="34" charset="0"/>
                <a:ea typeface="Calibri" pitchFamily="34" charset="-122"/>
                <a:cs typeface="Calibri" pitchFamily="34" charset="-120"/>
              </a:rPr>
              <a:t>The Expert Consultant</a:t>
            </a:r>
            <a:endParaRPr lang="en-US" sz="1500" dirty="0"/>
          </a:p>
        </p:txBody>
      </p:sp>
      <p:sp>
        <p:nvSpPr>
          <p:cNvPr id="8" name="Body1"/>
          <p:cNvSpPr/>
          <p:nvPr/>
        </p:nvSpPr>
        <p:spPr>
          <a:xfrm>
            <a:off x="698640" y="2762920"/>
            <a:ext cx="3184880" cy="3187080"/>
          </a:xfrm>
          <a:prstGeom prst="rect">
            <a:avLst/>
          </a:prstGeom>
          <a:noFill/>
          <a:ln/>
        </p:spPr>
        <p:txBody>
          <a:bodyPr wrap="square" rtlCol="0" anchor="t"/>
          <a:lstStyle/>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Passive, one-shot: prompt in, answer out</a:t>
            </a:r>
          </a:p>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Stateless - no memory</a:t>
            </a:r>
          </a:p>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e.g. ChatGPT, Claude, Gemini</a:t>
            </a:r>
          </a:p>
          <a:p>
            <a:pPr marL="228600" indent="-228600">
              <a:buSzPct val="100000"/>
              <a:buChar char="•"/>
            </a:pPr>
            <a:r>
              <a:rPr lang="en-US" sz="1150" dirty="0">
                <a:solidFill>
                  <a:srgbClr val="404040"/>
                </a:solidFill>
                <a:latin typeface="Calibri" pitchFamily="34" charset="0"/>
                <a:ea typeface="Calibri" pitchFamily="34" charset="-122"/>
                <a:cs typeface="Calibri" pitchFamily="34" charset="-120"/>
              </a:rPr>
              <a:t>Can generate, but can’t act</a:t>
            </a:r>
          </a:p>
        </p:txBody>
      </p:sp>
      <p:sp>
        <p:nvSpPr>
          <p:cNvPr id="9" name="Arrow1"/>
          <p:cNvSpPr/>
          <p:nvPr/>
        </p:nvSpPr>
        <p:spPr>
          <a:xfrm>
            <a:off x="4033520" y="3150000"/>
            <a:ext cx="32004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10" name="Header2"/>
          <p:cNvSpPr/>
          <p:nvPr/>
        </p:nvSpPr>
        <p:spPr>
          <a:xfrm>
            <a:off x="4353560" y="1700000"/>
            <a:ext cx="3484880" cy="502920"/>
          </a:xfrm>
          <a:prstGeom prst="rect">
            <a:avLst/>
          </a:prstGeom>
          <a:solidFill>
            <a:srgbClr val="0078D4"/>
          </a:solid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 · AI Agents</a:t>
            </a:r>
            <a:endParaRPr lang="en-US" sz="1700" dirty="0"/>
          </a:p>
        </p:txBody>
      </p:sp>
      <p:sp>
        <p:nvSpPr>
          <p:cNvPr id="11" name="Card2"/>
          <p:cNvSpPr/>
          <p:nvPr/>
        </p:nvSpPr>
        <p:spPr>
          <a:xfrm>
            <a:off x="4353560" y="2202920"/>
            <a:ext cx="3484880" cy="2650000"/>
          </a:xfrm>
          <a:prstGeom prst="rect">
            <a:avLst/>
          </a:prstGeom>
          <a:solidFill>
            <a:srgbClr val="F2F2F2"/>
          </a:solidFill>
          <a:ln/>
        </p:spPr>
        <p:txBody>
          <a:bodyPr/>
          <a:lstStyle/>
          <a:p>
            <a:endParaRPr lang="en-IN"/>
          </a:p>
        </p:txBody>
      </p:sp>
      <p:sp>
        <p:nvSpPr>
          <p:cNvPr id="12" name="Role2"/>
          <p:cNvSpPr/>
          <p:nvPr/>
        </p:nvSpPr>
        <p:spPr>
          <a:xfrm>
            <a:off x="4503560" y="2332920"/>
            <a:ext cx="3184880" cy="380000"/>
          </a:xfrm>
          <a:prstGeom prst="rect">
            <a:avLst/>
          </a:prstGeom>
          <a:noFill/>
          <a:ln/>
        </p:spPr>
        <p:txBody>
          <a:bodyPr wrap="square" rtlCol="0" anchor="t"/>
          <a:lstStyle/>
          <a:p>
            <a:pPr marL="0" indent="0">
              <a:buNone/>
            </a:pPr>
            <a:r>
              <a:rPr lang="en-US" sz="1500" b="1" dirty="0">
                <a:solidFill>
                  <a:srgbClr val="0078D4"/>
                </a:solidFill>
                <a:latin typeface="Calibri" pitchFamily="34" charset="0"/>
                <a:ea typeface="Calibri" pitchFamily="34" charset="-122"/>
                <a:cs typeface="Calibri" pitchFamily="34" charset="-120"/>
              </a:rPr>
              <a:t>The Active Worker</a:t>
            </a:r>
            <a:endParaRPr lang="en-US" sz="1500" dirty="0"/>
          </a:p>
        </p:txBody>
      </p:sp>
      <p:sp>
        <p:nvSpPr>
          <p:cNvPr id="13" name="Body2"/>
          <p:cNvSpPr/>
          <p:nvPr/>
        </p:nvSpPr>
        <p:spPr>
          <a:xfrm>
            <a:off x="4503560" y="2762920"/>
            <a:ext cx="3184880" cy="3187080"/>
          </a:xfrm>
          <a:prstGeom prst="rect">
            <a:avLst/>
          </a:prstGeom>
          <a:noFill/>
          <a:ln/>
        </p:spPr>
        <p:txBody>
          <a:bodyPr wrap="square" rtlCol="0" anchor="t"/>
          <a:lstStyle/>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Active perceive-reason-act loop</a:t>
            </a:r>
          </a:p>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Stateful - remembers plan &amp; history</a:t>
            </a:r>
          </a:p>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Tools + memory = LLM as a component</a:t>
            </a:r>
          </a:p>
          <a:p>
            <a:pPr marL="228600" indent="-228600">
              <a:buSzPct val="100000"/>
              <a:buChar char="•"/>
            </a:pPr>
            <a:r>
              <a:rPr lang="en-US" sz="1150" dirty="0">
                <a:solidFill>
                  <a:srgbClr val="404040"/>
                </a:solidFill>
                <a:latin typeface="Calibri" pitchFamily="34" charset="0"/>
                <a:ea typeface="Calibri" pitchFamily="34" charset="-122"/>
                <a:cs typeface="Calibri" pitchFamily="34" charset="-120"/>
              </a:rPr>
              <a:t>User hands off a goal</a:t>
            </a:r>
          </a:p>
        </p:txBody>
      </p:sp>
      <p:sp>
        <p:nvSpPr>
          <p:cNvPr id="14" name="Arrow2"/>
          <p:cNvSpPr/>
          <p:nvPr/>
        </p:nvSpPr>
        <p:spPr>
          <a:xfrm>
            <a:off x="7838440" y="3150000"/>
            <a:ext cx="32004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15" name="Header3"/>
          <p:cNvSpPr/>
          <p:nvPr/>
        </p:nvSpPr>
        <p:spPr>
          <a:xfrm>
            <a:off x="8158480" y="1700000"/>
            <a:ext cx="3484880" cy="502920"/>
          </a:xfrm>
          <a:prstGeom prst="rect">
            <a:avLst/>
          </a:prstGeom>
          <a:solidFill>
            <a:srgbClr val="0078D4"/>
          </a:solidFill>
          <a:ln/>
        </p:spPr>
        <p:txBody>
          <a:bodyPr wrap="square"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 · Agentic AI</a:t>
            </a:r>
            <a:endParaRPr lang="en-US" sz="1700" dirty="0"/>
          </a:p>
        </p:txBody>
      </p:sp>
      <p:sp>
        <p:nvSpPr>
          <p:cNvPr id="16" name="Card3"/>
          <p:cNvSpPr/>
          <p:nvPr/>
        </p:nvSpPr>
        <p:spPr>
          <a:xfrm>
            <a:off x="8158480" y="2202920"/>
            <a:ext cx="3484880" cy="2650000"/>
          </a:xfrm>
          <a:prstGeom prst="rect">
            <a:avLst/>
          </a:prstGeom>
          <a:solidFill>
            <a:srgbClr val="F2F2F2"/>
          </a:solidFill>
          <a:ln/>
        </p:spPr>
        <p:txBody>
          <a:bodyPr/>
          <a:lstStyle/>
          <a:p>
            <a:endParaRPr lang="en-IN"/>
          </a:p>
        </p:txBody>
      </p:sp>
      <p:sp>
        <p:nvSpPr>
          <p:cNvPr id="17" name="Role3"/>
          <p:cNvSpPr/>
          <p:nvPr/>
        </p:nvSpPr>
        <p:spPr>
          <a:xfrm>
            <a:off x="8308480" y="2332920"/>
            <a:ext cx="3184880" cy="380000"/>
          </a:xfrm>
          <a:prstGeom prst="rect">
            <a:avLst/>
          </a:prstGeom>
          <a:noFill/>
          <a:ln/>
        </p:spPr>
        <p:txBody>
          <a:bodyPr wrap="square" rtlCol="0" anchor="t"/>
          <a:lstStyle/>
          <a:p>
            <a:pPr marL="0" indent="0">
              <a:buNone/>
            </a:pPr>
            <a:r>
              <a:rPr lang="en-US" sz="1500" b="1" dirty="0">
                <a:solidFill>
                  <a:srgbClr val="0078D4"/>
                </a:solidFill>
                <a:latin typeface="Calibri" pitchFamily="34" charset="0"/>
                <a:ea typeface="Calibri" pitchFamily="34" charset="-122"/>
                <a:cs typeface="Calibri" pitchFamily="34" charset="-120"/>
              </a:rPr>
              <a:t>The Entire Factory</a:t>
            </a:r>
            <a:endParaRPr lang="en-US" sz="1500" dirty="0"/>
          </a:p>
        </p:txBody>
      </p:sp>
      <p:sp>
        <p:nvSpPr>
          <p:cNvPr id="18" name="Body3"/>
          <p:cNvSpPr/>
          <p:nvPr/>
        </p:nvSpPr>
        <p:spPr>
          <a:xfrm>
            <a:off x="8308480" y="2762920"/>
            <a:ext cx="3184880" cy="3187080"/>
          </a:xfrm>
          <a:prstGeom prst="rect">
            <a:avLst/>
          </a:prstGeom>
          <a:noFill/>
          <a:ln/>
        </p:spPr>
        <p:txBody>
          <a:bodyPr wrap="square" rtlCol="0" anchor="t"/>
          <a:lstStyle/>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Specialized agents collaborate</a:t>
            </a:r>
          </a:p>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Router + specialist agents</a:t>
            </a:r>
          </a:p>
          <a:p>
            <a:pPr marL="228600" indent="-228600">
              <a:spcAft>
                <a:spcPts val="900"/>
              </a:spcAft>
              <a:buSzPct val="100000"/>
              <a:buChar char="•"/>
            </a:pPr>
            <a:r>
              <a:rPr lang="en-US" sz="1150" dirty="0">
                <a:solidFill>
                  <a:srgbClr val="404040"/>
                </a:solidFill>
                <a:latin typeface="Calibri" pitchFamily="34" charset="0"/>
                <a:ea typeface="Calibri" pitchFamily="34" charset="-122"/>
                <a:cs typeface="Calibri" pitchFamily="34" charset="-120"/>
              </a:rPr>
              <a:t>Challenge: system-wide orchestration</a:t>
            </a:r>
          </a:p>
          <a:p>
            <a:pPr marL="228600" indent="-228600">
              <a:buSzPct val="100000"/>
              <a:buChar char="•"/>
            </a:pPr>
            <a:r>
              <a:rPr lang="en-US" sz="1150" dirty="0">
                <a:solidFill>
                  <a:srgbClr val="404040"/>
                </a:solidFill>
                <a:latin typeface="Calibri" pitchFamily="34" charset="0"/>
                <a:ea typeface="Calibri" pitchFamily="34" charset="-122"/>
                <a:cs typeface="Calibri" pitchFamily="34" charset="-120"/>
              </a:rPr>
              <a:t>User hands off a complex goal</a:t>
            </a:r>
          </a:p>
        </p:txBody>
      </p:sp>
      <p:pic>
        <p:nvPicPr>
          <p:cNvPr id="60" name="Icon Human"/>
          <p:cNvPicPr>
            <a:picLocks noChangeAspect="1"/>
          </p:cNvPicPr>
          <p:nvPr/>
        </p:nvPicPr>
        <p:blipFill>
          <a:blip r:embed="rId3"/>
          <a:stretch>
            <a:fillRect/>
          </a:stretch>
        </p:blipFill>
        <p:spPr>
          <a:xfrm>
            <a:off x="548640" y="5000000"/>
            <a:ext cx="750000" cy="750000"/>
          </a:xfrm>
          <a:prstGeom prst="rect">
            <a:avLst/>
          </a:prstGeom>
        </p:spPr>
      </p:pic>
      <p:sp>
        <p:nvSpPr>
          <p:cNvPr id="61" name="MiniArrow1"/>
          <p:cNvSpPr/>
          <p:nvPr/>
        </p:nvSpPr>
        <p:spPr>
          <a:xfrm>
            <a:off x="1457360" y="5175000"/>
            <a:ext cx="300000" cy="400000"/>
          </a:xfrm>
          <a:prstGeom prst="rect">
            <a:avLst/>
          </a:prstGeom>
          <a:noFill/>
          <a:ln/>
        </p:spPr>
        <p:txBody>
          <a:bodyPr wrap="square" rtlCol="0" anchor="ctr"/>
          <a:lstStyle/>
          <a:p>
            <a:pPr marL="0" indent="0" algn="ctr">
              <a:buNone/>
            </a:pPr>
            <a:r>
              <a:rPr lang="en-US" sz="1400" dirty="0">
                <a:solidFill>
                  <a:srgbClr val="0078D4"/>
                </a:solidFill>
                <a:latin typeface="Calibri" pitchFamily="34" charset="0"/>
                <a:ea typeface="Calibri" pitchFamily="34" charset="-122"/>
                <a:cs typeface="Calibri" pitchFamily="34" charset="-120"/>
              </a:rPr>
              <a:t>→</a:t>
            </a:r>
            <a:endParaRPr lang="en-US" sz="1400" dirty="0"/>
          </a:p>
        </p:txBody>
      </p:sp>
      <p:pic>
        <p:nvPicPr>
          <p:cNvPr id="62" name="Icon GenAI"/>
          <p:cNvPicPr>
            <a:picLocks noChangeAspect="1"/>
          </p:cNvPicPr>
          <p:nvPr/>
        </p:nvPicPr>
        <p:blipFill>
          <a:blip r:embed="rId4"/>
          <a:stretch>
            <a:fillRect/>
          </a:stretch>
        </p:blipFill>
        <p:spPr>
          <a:xfrm>
            <a:off x="1916080" y="5000000"/>
            <a:ext cx="750000" cy="750000"/>
          </a:xfrm>
          <a:prstGeom prst="rect">
            <a:avLst/>
          </a:prstGeom>
        </p:spPr>
      </p:pic>
      <p:sp>
        <p:nvSpPr>
          <p:cNvPr id="63" name="MiniArrow2"/>
          <p:cNvSpPr/>
          <p:nvPr/>
        </p:nvSpPr>
        <p:spPr>
          <a:xfrm>
            <a:off x="4043540" y="5175000"/>
            <a:ext cx="300000" cy="400000"/>
          </a:xfrm>
          <a:prstGeom prst="rect">
            <a:avLst/>
          </a:prstGeom>
          <a:noFill/>
          <a:ln/>
        </p:spPr>
        <p:txBody>
          <a:bodyPr wrap="square" rtlCol="0" anchor="ctr"/>
          <a:lstStyle/>
          <a:p>
            <a:pPr marL="0" indent="0" algn="ctr">
              <a:buNone/>
            </a:pPr>
            <a:r>
              <a:rPr lang="en-US" sz="1400" dirty="0">
                <a:solidFill>
                  <a:srgbClr val="0078D4"/>
                </a:solidFill>
                <a:latin typeface="Calibri" pitchFamily="34" charset="0"/>
                <a:ea typeface="Calibri" pitchFamily="34" charset="-122"/>
                <a:cs typeface="Calibri" pitchFamily="34" charset="-120"/>
              </a:rPr>
              <a:t>→</a:t>
            </a:r>
            <a:endParaRPr lang="en-US" sz="1400" dirty="0"/>
          </a:p>
        </p:txBody>
      </p:sp>
      <p:pic>
        <p:nvPicPr>
          <p:cNvPr id="64" name="Icon Agents"/>
          <p:cNvPicPr>
            <a:picLocks noChangeAspect="1"/>
          </p:cNvPicPr>
          <p:nvPr/>
        </p:nvPicPr>
        <p:blipFill>
          <a:blip r:embed="rId5"/>
          <a:stretch>
            <a:fillRect/>
          </a:stretch>
        </p:blipFill>
        <p:spPr>
          <a:xfrm>
            <a:off x="5721000" y="5000000"/>
            <a:ext cx="750000" cy="750000"/>
          </a:xfrm>
          <a:prstGeom prst="rect">
            <a:avLst/>
          </a:prstGeom>
        </p:spPr>
      </p:pic>
      <p:sp>
        <p:nvSpPr>
          <p:cNvPr id="65" name="MiniArrow3"/>
          <p:cNvSpPr/>
          <p:nvPr/>
        </p:nvSpPr>
        <p:spPr>
          <a:xfrm>
            <a:off x="7848460" y="5175000"/>
            <a:ext cx="300000" cy="400000"/>
          </a:xfrm>
          <a:prstGeom prst="rect">
            <a:avLst/>
          </a:prstGeom>
          <a:noFill/>
          <a:ln/>
        </p:spPr>
        <p:txBody>
          <a:bodyPr wrap="square" rtlCol="0" anchor="ctr"/>
          <a:lstStyle/>
          <a:p>
            <a:pPr marL="0" indent="0" algn="ctr">
              <a:buNone/>
            </a:pPr>
            <a:r>
              <a:rPr lang="en-US" sz="1400" dirty="0">
                <a:solidFill>
                  <a:srgbClr val="0078D4"/>
                </a:solidFill>
                <a:latin typeface="Calibri" pitchFamily="34" charset="0"/>
                <a:ea typeface="Calibri" pitchFamily="34" charset="-122"/>
                <a:cs typeface="Calibri" pitchFamily="34" charset="-120"/>
              </a:rPr>
              <a:t>→</a:t>
            </a:r>
            <a:endParaRPr lang="en-US" sz="1400" dirty="0"/>
          </a:p>
        </p:txBody>
      </p:sp>
      <p:pic>
        <p:nvPicPr>
          <p:cNvPr id="66" name="Icon Agentic"/>
          <p:cNvPicPr>
            <a:picLocks noChangeAspect="1"/>
          </p:cNvPicPr>
          <p:nvPr/>
        </p:nvPicPr>
        <p:blipFill>
          <a:blip r:embed="rId6"/>
          <a:stretch>
            <a:fillRect/>
          </a:stretch>
        </p:blipFill>
        <p:spPr>
          <a:xfrm>
            <a:off x="9525920" y="5000000"/>
            <a:ext cx="750000" cy="750000"/>
          </a:xfrm>
          <a:prstGeom prst="rect">
            <a:avLst/>
          </a:prstGeom>
        </p:spPr>
      </p:pic>
      <p:sp>
        <p:nvSpPr>
          <p:cNvPr id="67" name="MiniArrow4"/>
          <p:cNvSpPr/>
          <p:nvPr/>
        </p:nvSpPr>
        <p:spPr>
          <a:xfrm>
            <a:off x="10434640" y="5175000"/>
            <a:ext cx="300000" cy="400000"/>
          </a:xfrm>
          <a:prstGeom prst="rect">
            <a:avLst/>
          </a:prstGeom>
          <a:noFill/>
          <a:ln/>
        </p:spPr>
        <p:txBody>
          <a:bodyPr wrap="square" rtlCol="0" anchor="ctr"/>
          <a:lstStyle/>
          <a:p>
            <a:pPr marL="0" indent="0" algn="ctr">
              <a:buNone/>
            </a:pPr>
            <a:r>
              <a:rPr lang="en-US" sz="1400" dirty="0">
                <a:solidFill>
                  <a:srgbClr val="0078D4"/>
                </a:solidFill>
                <a:latin typeface="Calibri" pitchFamily="34" charset="0"/>
                <a:ea typeface="Calibri" pitchFamily="34" charset="-122"/>
                <a:cs typeface="Calibri" pitchFamily="34" charset="-120"/>
              </a:rPr>
              <a:t>→</a:t>
            </a:r>
            <a:endParaRPr lang="en-US" sz="1400" dirty="0"/>
          </a:p>
        </p:txBody>
      </p:sp>
      <p:pic>
        <p:nvPicPr>
          <p:cNvPr id="68" name="Icon Brain"/>
          <p:cNvPicPr>
            <a:picLocks noChangeAspect="1"/>
          </p:cNvPicPr>
          <p:nvPr/>
        </p:nvPicPr>
        <p:blipFill>
          <a:blip r:embed="rId7"/>
          <a:stretch>
            <a:fillRect/>
          </a:stretch>
        </p:blipFill>
        <p:spPr>
          <a:xfrm>
            <a:off x="10893360" y="5000000"/>
            <a:ext cx="750000" cy="750000"/>
          </a:xfrm>
          <a:prstGeom prst="rect">
            <a:avLst/>
          </a:prstGeom>
        </p:spPr>
      </p:pic>
      <p:sp>
        <p:nvSpPr>
          <p:cNvPr id="69" name="LabelHumanMini"/>
          <p:cNvSpPr/>
          <p:nvPr/>
        </p:nvSpPr>
        <p:spPr>
          <a:xfrm>
            <a:off x="123640" y="5820000"/>
            <a:ext cx="1600000" cy="320000"/>
          </a:xfrm>
          <a:prstGeom prst="rect">
            <a:avLst/>
          </a:prstGeom>
          <a:noFill/>
          <a:ln/>
        </p:spPr>
        <p:txBody>
          <a:bodyPr wrap="square" rtlCol="0" anchor="t"/>
          <a:lstStyle/>
          <a:p>
            <a:pPr marL="0" indent="0" algn="ctr">
              <a:buNone/>
            </a:pPr>
            <a:r>
              <a:rPr lang="en-US" sz="900" b="1" dirty="0">
                <a:solidFill>
                  <a:srgbClr val="7F7F7F"/>
                </a:solidFill>
                <a:latin typeface="Calibri" pitchFamily="34" charset="0"/>
                <a:ea typeface="Calibri" pitchFamily="34" charset="-122"/>
                <a:cs typeface="Calibri" pitchFamily="34" charset="-120"/>
              </a:rPr>
              <a:t>More Human Intervention</a:t>
            </a:r>
            <a:endParaRPr lang="en-US" sz="900" dirty="0"/>
          </a:p>
        </p:txBody>
      </p:sp>
      <p:sp>
        <p:nvSpPr>
          <p:cNvPr id="70" name="LabelBrainMini"/>
          <p:cNvSpPr/>
          <p:nvPr/>
        </p:nvSpPr>
        <p:spPr>
          <a:xfrm>
            <a:off x="10468360" y="5820000"/>
            <a:ext cx="1600000" cy="320000"/>
          </a:xfrm>
          <a:prstGeom prst="rect">
            <a:avLst/>
          </a:prstGeom>
          <a:noFill/>
          <a:ln/>
        </p:spPr>
        <p:txBody>
          <a:bodyPr wrap="square" rtlCol="0" anchor="t"/>
          <a:lstStyle/>
          <a:p>
            <a:pPr marL="0" indent="0" algn="ctr">
              <a:buNone/>
            </a:pPr>
            <a:r>
              <a:rPr lang="en-US" sz="900" b="1" dirty="0">
                <a:solidFill>
                  <a:srgbClr val="7F7F7F"/>
                </a:solidFill>
                <a:latin typeface="Calibri" pitchFamily="34" charset="0"/>
                <a:ea typeface="Calibri" pitchFamily="34" charset="-122"/>
                <a:cs typeface="Calibri" pitchFamily="34" charset="-120"/>
              </a:rPr>
              <a:t>Less Human Intervention</a:t>
            </a:r>
            <a:endParaRPr lang="en-US" sz="900" dirty="0"/>
          </a:p>
        </p:txBody>
      </p:sp>
      <p:sp>
        <p:nvSpPr>
          <p:cNvPr id="27" name="Footer"/>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28" name="PageNum"/>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90" name="Eyebrow"/>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AGENT-BASED SOFTWARE DEVELOPMENT</a:t>
            </a:r>
            <a:endParaRPr lang="en-US" sz="1100" b="1" dirty="0"/>
          </a:p>
        </p:txBody>
      </p:sp>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What Changes with Agent-Based Development</a:t>
            </a:r>
            <a:endParaRPr lang="en-US" sz="28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548640" y="1417320"/>
            <a:ext cx="11064240" cy="4846320"/>
          </a:xfrm>
          <a:prstGeom prst="rect">
            <a:avLst/>
          </a:prstGeom>
          <a:noFill/>
          <a:ln/>
        </p:spPr>
        <p:txBody>
          <a:bodyPr wrap="square" rtlCol="0" anchor="t"/>
          <a:lstStyle/>
          <a:p>
            <a:pPr marL="342900" indent="-342900">
              <a:spcAft>
                <a:spcPts val="1200"/>
              </a:spcAft>
              <a:buSzPct val="100000"/>
              <a:buChar char="•"/>
            </a:pPr>
            <a:r>
              <a:rPr lang="en-US" sz="1550" b="1" dirty="0">
                <a:solidFill>
                  <a:srgbClr val="2E2E2E"/>
                </a:solidFill>
                <a:latin typeface="Calibri" pitchFamily="34" charset="0"/>
                <a:ea typeface="Calibri" pitchFamily="34" charset="-122"/>
                <a:cs typeface="Calibri" pitchFamily="34" charset="-120"/>
              </a:rPr>
              <a:t>From 'suggest a line' to 'own a task'</a:t>
            </a:r>
            <a:endParaRPr lang="en-US" sz="1550" dirty="0"/>
          </a:p>
          <a:p>
            <a:pPr marL="685800" lvl="1" indent="-342900">
              <a:spcAft>
                <a:spcPts val="800"/>
              </a:spcAft>
              <a:buSzPct val="100000"/>
              <a:buChar char="▪"/>
            </a:pPr>
            <a:r>
              <a:rPr lang="en-US" sz="1350" dirty="0">
                <a:solidFill>
                  <a:srgbClr val="404040"/>
                </a:solidFill>
                <a:latin typeface="Calibri" pitchFamily="34" charset="0"/>
                <a:ea typeface="Calibri" pitchFamily="34" charset="-122"/>
                <a:cs typeface="Calibri" pitchFamily="34" charset="-120"/>
              </a:rPr>
              <a:t>Agents take a goal (a bug report, a small feature, a dependency upgrade) and work it to completion</a:t>
            </a:r>
            <a:endParaRPr lang="en-US" sz="1550" dirty="0"/>
          </a:p>
          <a:p>
            <a:pPr marL="342900" indent="-342900">
              <a:spcAft>
                <a:spcPts val="1200"/>
              </a:spcAft>
              <a:buSzPct val="100000"/>
              <a:buChar char="•"/>
            </a:pPr>
            <a:r>
              <a:rPr lang="en-US" sz="1550" b="1" dirty="0">
                <a:solidFill>
                  <a:srgbClr val="2E2E2E"/>
                </a:solidFill>
                <a:latin typeface="Calibri" pitchFamily="34" charset="0"/>
                <a:ea typeface="Calibri" pitchFamily="34" charset="-122"/>
                <a:cs typeface="Calibri" pitchFamily="34" charset="-120"/>
              </a:rPr>
              <a:t>Agents increasingly operate with real tool access via MCP: build systems, test runners, issue trackers</a:t>
            </a:r>
            <a:endParaRPr lang="en-US" sz="1550" dirty="0"/>
          </a:p>
          <a:p>
            <a:pPr marL="342900" indent="-342900">
              <a:spcAft>
                <a:spcPts val="1200"/>
              </a:spcAft>
              <a:buSzPct val="100000"/>
              <a:buChar char="•"/>
            </a:pPr>
            <a:r>
              <a:rPr lang="en-US" sz="1550" b="1" dirty="0">
                <a:solidFill>
                  <a:srgbClr val="2E2E2E"/>
                </a:solidFill>
                <a:latin typeface="Calibri" pitchFamily="34" charset="0"/>
                <a:ea typeface="Calibri" pitchFamily="34" charset="-122"/>
                <a:cs typeface="Calibri" pitchFamily="34" charset="-120"/>
              </a:rPr>
              <a:t>Frameworks like Microsoft Agent Framework give .NET teams a structured way to build these agents, not just consume them</a:t>
            </a:r>
            <a:endParaRPr lang="en-US" sz="1550" dirty="0"/>
          </a:p>
          <a:p>
            <a:pPr marL="342900" indent="-342900">
              <a:spcAft>
                <a:spcPts val="1200"/>
              </a:spcAft>
              <a:buSzPct val="100000"/>
              <a:buChar char="•"/>
            </a:pPr>
            <a:r>
              <a:rPr lang="en-US" sz="1550" b="1" dirty="0">
                <a:solidFill>
                  <a:srgbClr val="2E2E2E"/>
                </a:solidFill>
                <a:latin typeface="Calibri" pitchFamily="34" charset="0"/>
                <a:ea typeface="Calibri" pitchFamily="34" charset="-122"/>
                <a:cs typeface="Calibri" pitchFamily="34" charset="-120"/>
              </a:rPr>
              <a:t>New team practices are emerging</a:t>
            </a:r>
            <a:endParaRPr lang="en-US" sz="1550" dirty="0"/>
          </a:p>
          <a:p>
            <a:pPr marL="685800" lvl="1" indent="-342900">
              <a:spcAft>
                <a:spcPts val="800"/>
              </a:spcAft>
              <a:buSzPct val="100000"/>
              <a:buChar char="▪"/>
            </a:pPr>
            <a:r>
              <a:rPr lang="en-US" sz="1350" dirty="0">
                <a:solidFill>
                  <a:srgbClr val="404040"/>
                </a:solidFill>
                <a:latin typeface="Calibri" pitchFamily="34" charset="0"/>
                <a:ea typeface="Calibri" pitchFamily="34" charset="-122"/>
                <a:cs typeface="Calibri" pitchFamily="34" charset="-120"/>
              </a:rPr>
              <a:t>Clear, well-scoped task definitions become as important as the code itself</a:t>
            </a:r>
            <a:endParaRPr lang="en-US" sz="1550" dirty="0"/>
          </a:p>
          <a:p>
            <a:pPr marL="685800" lvl="1" indent="-342900">
              <a:spcAft>
                <a:spcPts val="800"/>
              </a:spcAft>
              <a:buSzPct val="100000"/>
              <a:buChar char="▪"/>
            </a:pPr>
            <a:r>
              <a:rPr lang="en-US" sz="1350" dirty="0">
                <a:solidFill>
                  <a:srgbClr val="404040"/>
                </a:solidFill>
                <a:latin typeface="Calibri" pitchFamily="34" charset="0"/>
                <a:ea typeface="Calibri" pitchFamily="34" charset="-122"/>
                <a:cs typeface="Calibri" pitchFamily="34" charset="-120"/>
              </a:rPr>
              <a:t>CI/CD, tests and code review become the primary trust boundary for agent output</a:t>
            </a:r>
            <a:endParaRPr lang="en-US" sz="1550" dirty="0"/>
          </a:p>
          <a:p>
            <a:pPr marL="685800" lvl="1" indent="-342900">
              <a:spcAft>
                <a:spcPts val="800"/>
              </a:spcAft>
              <a:buSzPct val="100000"/>
              <a:buChar char="▪"/>
            </a:pPr>
            <a:r>
              <a:rPr lang="en-US" sz="1350" dirty="0">
                <a:solidFill>
                  <a:srgbClr val="404040"/>
                </a:solidFill>
                <a:latin typeface="Calibri" pitchFamily="34" charset="0"/>
                <a:ea typeface="Calibri" pitchFamily="34" charset="-122"/>
                <a:cs typeface="Calibri" pitchFamily="34" charset="-120"/>
              </a:rPr>
              <a:t>Teams are experimenting with multi-agent setups: a planner, an implementer and a reviewer agent</a:t>
            </a:r>
            <a:endParaRPr lang="en-US" sz="1550" dirty="0"/>
          </a:p>
          <a:p>
            <a:pPr marL="342900" indent="-342900">
              <a:spcAft>
                <a:spcPts val="1200"/>
              </a:spcAft>
              <a:buSzPct val="100000"/>
              <a:buChar char="•"/>
            </a:pPr>
            <a:r>
              <a:rPr lang="en-US" sz="1550" b="1" dirty="0">
                <a:solidFill>
                  <a:srgbClr val="2E2E2E"/>
                </a:solidFill>
                <a:latin typeface="Calibri" pitchFamily="34" charset="0"/>
                <a:ea typeface="Calibri" pitchFamily="34" charset="-122"/>
                <a:cs typeface="Calibri" pitchFamily="34" charset="-120"/>
              </a:rPr>
              <a:t>Human role shifts toward directing, reviewing and setting guardrails rather than typing every line</a:t>
            </a:r>
            <a:endParaRPr lang="en-US" sz="1550" dirty="0"/>
          </a:p>
        </p:txBody>
      </p:sp>
      <p:sp>
        <p:nvSpPr>
          <p:cNvPr id="5" name="Text 3"/>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481418"/>
            <a:ext cx="11064240" cy="615862"/>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What is Microsoft Agent Framework?</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5" name="Text 3"/>
          <p:cNvSpPr/>
          <p:nvPr/>
        </p:nvSpPr>
        <p:spPr>
          <a:xfrm>
            <a:off x="548640" y="1691640"/>
            <a:ext cx="11064240" cy="64008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Microsoft Agent Framework is an open-source SDK for building AI agents and multi-agent workflows in .NET and Python - the direct successor that merges Semantic Kernel and AutoGen into one supported foundation.</a:t>
            </a:r>
            <a:endParaRPr lang="en-US" sz="1400" dirty="0"/>
          </a:p>
        </p:txBody>
      </p:sp>
      <p:sp>
        <p:nvSpPr>
          <p:cNvPr id="6" name="Shape 4"/>
          <p:cNvSpPr/>
          <p:nvPr/>
        </p:nvSpPr>
        <p:spPr>
          <a:xfrm>
            <a:off x="548640" y="2514600"/>
            <a:ext cx="2594610" cy="2331720"/>
          </a:xfrm>
          <a:prstGeom prst="rect">
            <a:avLst/>
          </a:prstGeom>
          <a:solidFill>
            <a:srgbClr val="F2F2F2"/>
          </a:solidFill>
          <a:ln/>
        </p:spPr>
        <p:txBody>
          <a:bodyPr/>
          <a:lstStyle/>
          <a:p>
            <a:endParaRPr lang="en-IN"/>
          </a:p>
        </p:txBody>
      </p:sp>
      <p:sp>
        <p:nvSpPr>
          <p:cNvPr id="7" name="Text 5"/>
          <p:cNvSpPr/>
          <p:nvPr/>
        </p:nvSpPr>
        <p:spPr>
          <a:xfrm>
            <a:off x="69494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Open Standards &amp; Interoperability</a:t>
            </a:r>
            <a:endParaRPr lang="en-US" sz="1200" dirty="0"/>
          </a:p>
        </p:txBody>
      </p:sp>
      <p:sp>
        <p:nvSpPr>
          <p:cNvPr id="8" name="Text 6"/>
          <p:cNvSpPr/>
          <p:nvPr/>
        </p:nvSpPr>
        <p:spPr>
          <a:xfrm>
            <a:off x="694944" y="3264408"/>
            <a:ext cx="2302002" cy="141732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Built-in support for MCP, Agent-to-Agent (A2A) communication and </a:t>
            </a:r>
            <a:r>
              <a:rPr lang="en-US" sz="1000" dirty="0" err="1">
                <a:solidFill>
                  <a:srgbClr val="404040"/>
                </a:solidFill>
                <a:latin typeface="Calibri" pitchFamily="34" charset="0"/>
                <a:ea typeface="Calibri" pitchFamily="34" charset="-122"/>
                <a:cs typeface="Calibri" pitchFamily="34" charset="-120"/>
              </a:rPr>
              <a:t>OpenAPI</a:t>
            </a:r>
            <a:r>
              <a:rPr lang="en-US" sz="1000" dirty="0">
                <a:solidFill>
                  <a:srgbClr val="404040"/>
                </a:solidFill>
                <a:latin typeface="Calibri" pitchFamily="34" charset="0"/>
                <a:ea typeface="Calibri" pitchFamily="34" charset="-122"/>
                <a:cs typeface="Calibri" pitchFamily="34" charset="-120"/>
              </a:rPr>
              <a:t> - agents aren't locked to one runtime or vendor.</a:t>
            </a:r>
            <a:endParaRPr lang="en-US" sz="1000" dirty="0"/>
          </a:p>
        </p:txBody>
      </p:sp>
      <p:sp>
        <p:nvSpPr>
          <p:cNvPr id="9" name="Shape 7"/>
          <p:cNvSpPr/>
          <p:nvPr/>
        </p:nvSpPr>
        <p:spPr>
          <a:xfrm>
            <a:off x="3371850" y="2514600"/>
            <a:ext cx="2594610" cy="2331720"/>
          </a:xfrm>
          <a:prstGeom prst="rect">
            <a:avLst/>
          </a:prstGeom>
          <a:solidFill>
            <a:srgbClr val="F2F2F2"/>
          </a:solidFill>
          <a:ln/>
        </p:spPr>
        <p:txBody>
          <a:bodyPr/>
          <a:lstStyle/>
          <a:p>
            <a:endParaRPr lang="en-IN"/>
          </a:p>
        </p:txBody>
      </p:sp>
      <p:sp>
        <p:nvSpPr>
          <p:cNvPr id="10" name="Text 8"/>
          <p:cNvSpPr/>
          <p:nvPr/>
        </p:nvSpPr>
        <p:spPr>
          <a:xfrm>
            <a:off x="351815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Enterprise Ready</a:t>
            </a:r>
            <a:endParaRPr lang="en-US" sz="1200" dirty="0"/>
          </a:p>
        </p:txBody>
      </p:sp>
      <p:sp>
        <p:nvSpPr>
          <p:cNvPr id="11" name="Text 9"/>
          <p:cNvSpPr/>
          <p:nvPr/>
        </p:nvSpPr>
        <p:spPr>
          <a:xfrm>
            <a:off x="3518154" y="3264408"/>
            <a:ext cx="2302002" cy="141732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Inherited from Semantic Kernel: thread-based state management, type safety, filters and telemetry out of the box.</a:t>
            </a:r>
            <a:endParaRPr lang="en-US" sz="1000" dirty="0"/>
          </a:p>
        </p:txBody>
      </p:sp>
      <p:sp>
        <p:nvSpPr>
          <p:cNvPr id="12" name="Shape 10"/>
          <p:cNvSpPr/>
          <p:nvPr/>
        </p:nvSpPr>
        <p:spPr>
          <a:xfrm>
            <a:off x="6195060" y="2514600"/>
            <a:ext cx="2594610" cy="2331720"/>
          </a:xfrm>
          <a:prstGeom prst="rect">
            <a:avLst/>
          </a:prstGeom>
          <a:solidFill>
            <a:srgbClr val="F2F2F2"/>
          </a:solidFill>
          <a:ln/>
        </p:spPr>
        <p:txBody>
          <a:bodyPr/>
          <a:lstStyle/>
          <a:p>
            <a:endParaRPr lang="en-IN"/>
          </a:p>
        </p:txBody>
      </p:sp>
      <p:sp>
        <p:nvSpPr>
          <p:cNvPr id="13" name="Text 11"/>
          <p:cNvSpPr/>
          <p:nvPr/>
        </p:nvSpPr>
        <p:spPr>
          <a:xfrm>
            <a:off x="634136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Research Pipeline</a:t>
            </a:r>
            <a:endParaRPr lang="en-US" sz="1200" dirty="0"/>
          </a:p>
        </p:txBody>
      </p:sp>
      <p:sp>
        <p:nvSpPr>
          <p:cNvPr id="14" name="Text 12"/>
          <p:cNvSpPr/>
          <p:nvPr/>
        </p:nvSpPr>
        <p:spPr>
          <a:xfrm>
            <a:off x="6341364" y="3264408"/>
            <a:ext cx="2302002" cy="141732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Inherited from AutoGen: advanced orchestration patterns - group chat, debate, reflection - available as building blocks.</a:t>
            </a:r>
            <a:endParaRPr lang="en-US" sz="1000" dirty="0"/>
          </a:p>
        </p:txBody>
      </p:sp>
      <p:sp>
        <p:nvSpPr>
          <p:cNvPr id="15" name="Shape 13"/>
          <p:cNvSpPr/>
          <p:nvPr/>
        </p:nvSpPr>
        <p:spPr>
          <a:xfrm>
            <a:off x="9018270" y="2514600"/>
            <a:ext cx="2594610" cy="2331720"/>
          </a:xfrm>
          <a:prstGeom prst="rect">
            <a:avLst/>
          </a:prstGeom>
          <a:solidFill>
            <a:srgbClr val="F2F2F2"/>
          </a:solidFill>
          <a:ln/>
        </p:spPr>
        <p:txBody>
          <a:bodyPr/>
          <a:lstStyle/>
          <a:p>
            <a:endParaRPr lang="en-IN"/>
          </a:p>
        </p:txBody>
      </p:sp>
      <p:sp>
        <p:nvSpPr>
          <p:cNvPr id="16" name="Text 14"/>
          <p:cNvSpPr/>
          <p:nvPr/>
        </p:nvSpPr>
        <p:spPr>
          <a:xfrm>
            <a:off x="9164574" y="2660904"/>
            <a:ext cx="2302002" cy="594360"/>
          </a:xfrm>
          <a:prstGeom prst="rect">
            <a:avLst/>
          </a:prstGeom>
          <a:noFill/>
          <a:ln/>
        </p:spPr>
        <p:txBody>
          <a:bodyPr wrap="square" rtlCol="0" anchor="t"/>
          <a:lstStyle/>
          <a:p>
            <a:pPr marL="0" indent="0">
              <a:buNone/>
            </a:pPr>
            <a:r>
              <a:rPr lang="en-US" sz="1200" b="1" dirty="0">
                <a:solidFill>
                  <a:srgbClr val="185ABD"/>
                </a:solidFill>
                <a:latin typeface="Calibri" pitchFamily="34" charset="0"/>
                <a:ea typeface="Calibri" pitchFamily="34" charset="-122"/>
                <a:cs typeface="Calibri" pitchFamily="34" charset="-120"/>
              </a:rPr>
              <a:t>Radically Simple to Start</a:t>
            </a:r>
            <a:endParaRPr lang="en-US" sz="1200" dirty="0"/>
          </a:p>
        </p:txBody>
      </p:sp>
      <p:sp>
        <p:nvSpPr>
          <p:cNvPr id="17" name="Text 15"/>
          <p:cNvSpPr/>
          <p:nvPr/>
        </p:nvSpPr>
        <p:spPr>
          <a:xfrm>
            <a:off x="9164574" y="3264408"/>
            <a:ext cx="2302002" cy="141732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A functional agent in under 20 lines of code. Microsoft's own framing: “building AI agents shouldn't be rocket science.”</a:t>
            </a:r>
            <a:endParaRPr lang="en-US" sz="1000" dirty="0"/>
          </a:p>
        </p:txBody>
      </p:sp>
      <p:sp>
        <p:nvSpPr>
          <p:cNvPr id="18" name="Text 16"/>
          <p:cNvSpPr/>
          <p:nvPr/>
        </p:nvSpPr>
        <p:spPr>
          <a:xfrm>
            <a:off x="548640" y="5074920"/>
            <a:ext cx="11064240" cy="548640"/>
          </a:xfrm>
          <a:prstGeom prst="rect">
            <a:avLst/>
          </a:prstGeom>
          <a:noFill/>
          <a:ln/>
        </p:spPr>
        <p:txBody>
          <a:bodyPr wrap="square" rtlCol="0" anchor="ctr"/>
          <a:lstStyle/>
          <a:p>
            <a:pPr marL="0" indent="0" algn="ctr">
              <a:buNone/>
            </a:pPr>
            <a:r>
              <a:rPr lang="en-US" sz="1200" i="1" dirty="0">
                <a:solidFill>
                  <a:srgbClr val="7F7F7F"/>
                </a:solidFill>
                <a:latin typeface="Calibri" pitchFamily="34" charset="0"/>
                <a:ea typeface="Calibri" pitchFamily="34" charset="-122"/>
                <a:cs typeface="Calibri" pitchFamily="34" charset="-120"/>
              </a:rPr>
              <a:t>Bottom line: one framework for both quick single agents and complex graph-based multi-agent workflows - not a choice between innovation and production stability.</a:t>
            </a:r>
            <a:endParaRPr lang="en-US" sz="1200" dirty="0"/>
          </a:p>
        </p:txBody>
      </p:sp>
      <p:sp>
        <p:nvSpPr>
          <p:cNvPr id="19" name="Text 17"/>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20" name="Text 18"/>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16</a:t>
            </a:r>
            <a:endParaRPr lang="en-US" sz="1000" dirty="0"/>
          </a:p>
        </p:txBody>
      </p:sp>
      <p:sp>
        <p:nvSpPr>
          <p:cNvPr id="23" name="Eyebrow">
            <a:extLst>
              <a:ext uri="{FF2B5EF4-FFF2-40B4-BE49-F238E27FC236}">
                <a16:creationId xmlns:a16="http://schemas.microsoft.com/office/drawing/2014/main" id="{9FCF795A-0FA1-3641-76CD-3701C5B1C5DC}"/>
              </a:ext>
            </a:extLst>
          </p:cNvPr>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MICROSOFT AGENT FRAMEWORK</a:t>
            </a:r>
            <a:endParaRPr lang="en-US" sz="11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rtlCol="0" anchor="ctr"/>
          <a:lstStyle/>
          <a:p>
            <a:pPr marL="0" indent="0">
              <a:buNone/>
            </a:pPr>
            <a:r>
              <a:rPr lang="en-US" sz="1100" b="1" kern="0" spc="100" dirty="0">
                <a:solidFill>
                  <a:srgbClr val="0078D4"/>
                </a:solidFill>
                <a:latin typeface="Calibri" pitchFamily="34" charset="0"/>
                <a:ea typeface="Calibri" pitchFamily="34" charset="-122"/>
                <a:cs typeface="Calibri" pitchFamily="34" charset="-120"/>
              </a:rPr>
              <a:t>MICROSOFT BUILD 2026  ·  AGENT FRAMEWORK</a:t>
            </a:r>
            <a:endParaRPr lang="en-US" sz="1100" dirty="0"/>
          </a:p>
        </p:txBody>
      </p:sp>
      <p:sp>
        <p:nvSpPr>
          <p:cNvPr id="3" name="Text 1"/>
          <p:cNvSpPr/>
          <p:nvPr/>
        </p:nvSpPr>
        <p:spPr>
          <a:xfrm>
            <a:off x="548640" y="566928"/>
            <a:ext cx="11064240" cy="548640"/>
          </a:xfrm>
          <a:prstGeom prst="rect">
            <a:avLst/>
          </a:prstGeom>
          <a:noFill/>
          <a:ln/>
        </p:spPr>
        <p:txBody>
          <a:bodyPr wrap="square" rtlCol="0" anchor="ctr"/>
          <a:lstStyle/>
          <a:p>
            <a:pPr marL="0" indent="0">
              <a:buNone/>
            </a:pPr>
            <a:r>
              <a:rPr lang="en-US" sz="2600" dirty="0">
                <a:solidFill>
                  <a:srgbClr val="2E2E2E"/>
                </a:solidFill>
                <a:latin typeface="Calibri Light" pitchFamily="34" charset="0"/>
                <a:ea typeface="Calibri Light" pitchFamily="34" charset="-122"/>
                <a:cs typeface="Calibri Light" pitchFamily="34" charset="-120"/>
              </a:rPr>
              <a:t>Microsoft Agent Framework Reaches 1.0 (GA)</a:t>
            </a:r>
            <a:endParaRPr lang="en-US" sz="2600" dirty="0"/>
          </a:p>
        </p:txBody>
      </p:sp>
      <p:sp>
        <p:nvSpPr>
          <p:cNvPr id="4" name="Text 2"/>
          <p:cNvSpPr/>
          <p:nvPr/>
        </p:nvSpPr>
        <p:spPr>
          <a:xfrm>
            <a:off x="548640" y="1078992"/>
            <a:ext cx="11064240" cy="365760"/>
          </a:xfrm>
          <a:prstGeom prst="rect">
            <a:avLst/>
          </a:prstGeom>
          <a:noFill/>
          <a:ln/>
        </p:spPr>
        <p:txBody>
          <a:bodyPr wrap="square" rtlCol="0" anchor="ctr"/>
          <a:lstStyle/>
          <a:p>
            <a:pPr marL="0" indent="0">
              <a:buNone/>
            </a:pPr>
            <a:r>
              <a:rPr lang="en-US" sz="1300" i="1" dirty="0">
                <a:solidFill>
                  <a:srgbClr val="7F7F7F"/>
                </a:solidFill>
                <a:latin typeface="Calibri" pitchFamily="34" charset="0"/>
                <a:ea typeface="Calibri" pitchFamily="34" charset="-122"/>
                <a:cs typeface="Calibri" pitchFamily="34" charset="-120"/>
              </a:rPr>
              <a:t>Agent Harness, Foundry Hosted Agents and CodeAct headline a wave of production-focused features</a:t>
            </a:r>
            <a:endParaRPr lang="en-US" sz="1300" dirty="0"/>
          </a:p>
        </p:txBody>
      </p:sp>
      <p:sp>
        <p:nvSpPr>
          <p:cNvPr id="5" name="Shape 3"/>
          <p:cNvSpPr/>
          <p:nvPr/>
        </p:nvSpPr>
        <p:spPr>
          <a:xfrm>
            <a:off x="0" y="1481328"/>
            <a:ext cx="12188952" cy="18288"/>
          </a:xfrm>
          <a:prstGeom prst="rect">
            <a:avLst/>
          </a:prstGeom>
          <a:solidFill>
            <a:srgbClr val="D9D9D9"/>
          </a:solidFill>
          <a:ln/>
        </p:spPr>
        <p:txBody>
          <a:bodyPr/>
          <a:lstStyle/>
          <a:p>
            <a:endParaRPr lang="en-IN"/>
          </a:p>
        </p:txBody>
      </p:sp>
      <p:sp>
        <p:nvSpPr>
          <p:cNvPr id="6" name="Shape 4"/>
          <p:cNvSpPr/>
          <p:nvPr/>
        </p:nvSpPr>
        <p:spPr>
          <a:xfrm>
            <a:off x="548640" y="1691640"/>
            <a:ext cx="2594610" cy="2331720"/>
          </a:xfrm>
          <a:prstGeom prst="rect">
            <a:avLst/>
          </a:prstGeom>
          <a:solidFill>
            <a:srgbClr val="F2F2F2"/>
          </a:solidFill>
          <a:ln/>
        </p:spPr>
        <p:txBody>
          <a:bodyPr/>
          <a:lstStyle/>
          <a:p>
            <a:endParaRPr lang="en-IN"/>
          </a:p>
        </p:txBody>
      </p:sp>
      <p:sp>
        <p:nvSpPr>
          <p:cNvPr id="7" name="Text 5"/>
          <p:cNvSpPr/>
          <p:nvPr/>
        </p:nvSpPr>
        <p:spPr>
          <a:xfrm>
            <a:off x="713232" y="1856232"/>
            <a:ext cx="2265426" cy="502920"/>
          </a:xfrm>
          <a:prstGeom prst="rect">
            <a:avLst/>
          </a:prstGeom>
          <a:noFill/>
          <a:ln/>
        </p:spPr>
        <p:txBody>
          <a:bodyPr wrap="square" rtlCol="0" anchor="t"/>
          <a:lstStyle/>
          <a:p>
            <a:pPr marL="0" indent="0">
              <a:buNone/>
            </a:pPr>
            <a:r>
              <a:rPr lang="en-US" sz="1300" b="1" dirty="0">
                <a:solidFill>
                  <a:srgbClr val="2E2E2E"/>
                </a:solidFill>
                <a:latin typeface="Calibri" pitchFamily="34" charset="0"/>
                <a:ea typeface="Calibri" pitchFamily="34" charset="-122"/>
                <a:cs typeface="Calibri" pitchFamily="34" charset="-120"/>
              </a:rPr>
              <a:t>Agent Harness</a:t>
            </a:r>
            <a:endParaRPr lang="en-US" sz="1300" dirty="0"/>
          </a:p>
        </p:txBody>
      </p:sp>
      <p:sp>
        <p:nvSpPr>
          <p:cNvPr id="8" name="Text 6"/>
          <p:cNvSpPr/>
          <p:nvPr/>
        </p:nvSpPr>
        <p:spPr>
          <a:xfrm>
            <a:off x="713232" y="2377440"/>
            <a:ext cx="2265426" cy="146304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Built-in production patterns: context compaction, file memory, todo tracking, shell execution and human-in-the-loop approvals - one method turns any chat client into a full agent.</a:t>
            </a:r>
            <a:endParaRPr lang="en-US" sz="1000" dirty="0"/>
          </a:p>
        </p:txBody>
      </p:sp>
      <p:sp>
        <p:nvSpPr>
          <p:cNvPr id="9" name="Shape 7"/>
          <p:cNvSpPr/>
          <p:nvPr/>
        </p:nvSpPr>
        <p:spPr>
          <a:xfrm>
            <a:off x="3371850" y="1691640"/>
            <a:ext cx="2594610" cy="2331720"/>
          </a:xfrm>
          <a:prstGeom prst="rect">
            <a:avLst/>
          </a:prstGeom>
          <a:solidFill>
            <a:srgbClr val="F2F2F2"/>
          </a:solidFill>
          <a:ln/>
        </p:spPr>
        <p:txBody>
          <a:bodyPr/>
          <a:lstStyle/>
          <a:p>
            <a:endParaRPr lang="en-IN"/>
          </a:p>
        </p:txBody>
      </p:sp>
      <p:sp>
        <p:nvSpPr>
          <p:cNvPr id="10" name="Text 8"/>
          <p:cNvSpPr/>
          <p:nvPr/>
        </p:nvSpPr>
        <p:spPr>
          <a:xfrm>
            <a:off x="3536442" y="1856232"/>
            <a:ext cx="2265426" cy="502920"/>
          </a:xfrm>
          <a:prstGeom prst="rect">
            <a:avLst/>
          </a:prstGeom>
          <a:noFill/>
          <a:ln/>
        </p:spPr>
        <p:txBody>
          <a:bodyPr wrap="square" rtlCol="0" anchor="t"/>
          <a:lstStyle/>
          <a:p>
            <a:pPr marL="0" indent="0">
              <a:buNone/>
            </a:pPr>
            <a:r>
              <a:rPr lang="en-US" sz="1300" b="1" dirty="0">
                <a:solidFill>
                  <a:srgbClr val="2E2E2E"/>
                </a:solidFill>
                <a:latin typeface="Calibri" pitchFamily="34" charset="0"/>
                <a:ea typeface="Calibri" pitchFamily="34" charset="-122"/>
                <a:cs typeface="Calibri" pitchFamily="34" charset="-120"/>
              </a:rPr>
              <a:t>Foundry Hosted Agents</a:t>
            </a:r>
            <a:endParaRPr lang="en-US" sz="1300" dirty="0"/>
          </a:p>
        </p:txBody>
      </p:sp>
      <p:sp>
        <p:nvSpPr>
          <p:cNvPr id="11" name="Text 9"/>
          <p:cNvSpPr/>
          <p:nvPr/>
        </p:nvSpPr>
        <p:spPr>
          <a:xfrm>
            <a:off x="3536442" y="2377440"/>
            <a:ext cx="2265426" cy="146304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Deploy a local agent to production in a few lines: scale-to-zero billing, session state that survives restarts, per-session sandboxes and built-in OpenTelemetry tracing.</a:t>
            </a:r>
            <a:endParaRPr lang="en-US" sz="1000" dirty="0"/>
          </a:p>
        </p:txBody>
      </p:sp>
      <p:sp>
        <p:nvSpPr>
          <p:cNvPr id="12" name="Shape 10"/>
          <p:cNvSpPr/>
          <p:nvPr/>
        </p:nvSpPr>
        <p:spPr>
          <a:xfrm>
            <a:off x="6195060" y="1691640"/>
            <a:ext cx="2594610" cy="2331720"/>
          </a:xfrm>
          <a:prstGeom prst="rect">
            <a:avLst/>
          </a:prstGeom>
          <a:solidFill>
            <a:srgbClr val="F2F2F2"/>
          </a:solidFill>
          <a:ln/>
        </p:spPr>
        <p:txBody>
          <a:bodyPr/>
          <a:lstStyle/>
          <a:p>
            <a:endParaRPr lang="en-IN"/>
          </a:p>
        </p:txBody>
      </p:sp>
      <p:sp>
        <p:nvSpPr>
          <p:cNvPr id="13" name="Text 11"/>
          <p:cNvSpPr/>
          <p:nvPr/>
        </p:nvSpPr>
        <p:spPr>
          <a:xfrm>
            <a:off x="6359652" y="1856232"/>
            <a:ext cx="2265426" cy="502920"/>
          </a:xfrm>
          <a:prstGeom prst="rect">
            <a:avLst/>
          </a:prstGeom>
          <a:noFill/>
          <a:ln/>
        </p:spPr>
        <p:txBody>
          <a:bodyPr wrap="square" rtlCol="0" anchor="t"/>
          <a:lstStyle/>
          <a:p>
            <a:pPr marL="0" indent="0">
              <a:buNone/>
            </a:pPr>
            <a:r>
              <a:rPr lang="en-US" sz="1300" b="1" dirty="0">
                <a:solidFill>
                  <a:srgbClr val="2E2E2E"/>
                </a:solidFill>
                <a:latin typeface="Calibri" pitchFamily="34" charset="0"/>
                <a:ea typeface="Calibri" pitchFamily="34" charset="-122"/>
                <a:cs typeface="Calibri" pitchFamily="34" charset="-120"/>
              </a:rPr>
              <a:t>CodeAct</a:t>
            </a:r>
            <a:endParaRPr lang="en-US" sz="1300" dirty="0"/>
          </a:p>
        </p:txBody>
      </p:sp>
      <p:sp>
        <p:nvSpPr>
          <p:cNvPr id="14" name="Text 12"/>
          <p:cNvSpPr/>
          <p:nvPr/>
        </p:nvSpPr>
        <p:spPr>
          <a:xfrm>
            <a:off x="6359652" y="2377440"/>
            <a:ext cx="2265426" cy="146304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Instead of one model turn per tool call, the model writes a single program that calls every tool at once, run in an isolated micro-VM - fewer round-trips, less latency.</a:t>
            </a:r>
            <a:endParaRPr lang="en-US" sz="1000" dirty="0"/>
          </a:p>
        </p:txBody>
      </p:sp>
      <p:sp>
        <p:nvSpPr>
          <p:cNvPr id="15" name="Shape 13"/>
          <p:cNvSpPr/>
          <p:nvPr/>
        </p:nvSpPr>
        <p:spPr>
          <a:xfrm>
            <a:off x="9018270" y="1691640"/>
            <a:ext cx="2594610" cy="2331720"/>
          </a:xfrm>
          <a:prstGeom prst="rect">
            <a:avLst/>
          </a:prstGeom>
          <a:solidFill>
            <a:srgbClr val="F2F2F2"/>
          </a:solidFill>
          <a:ln/>
        </p:spPr>
        <p:txBody>
          <a:bodyPr/>
          <a:lstStyle/>
          <a:p>
            <a:endParaRPr lang="en-IN"/>
          </a:p>
        </p:txBody>
      </p:sp>
      <p:sp>
        <p:nvSpPr>
          <p:cNvPr id="16" name="Text 14"/>
          <p:cNvSpPr/>
          <p:nvPr/>
        </p:nvSpPr>
        <p:spPr>
          <a:xfrm>
            <a:off x="9182862" y="1856232"/>
            <a:ext cx="2265426" cy="502920"/>
          </a:xfrm>
          <a:prstGeom prst="rect">
            <a:avLst/>
          </a:prstGeom>
          <a:noFill/>
          <a:ln/>
        </p:spPr>
        <p:txBody>
          <a:bodyPr wrap="square" rtlCol="0" anchor="t"/>
          <a:lstStyle/>
          <a:p>
            <a:pPr marL="0" indent="0">
              <a:buNone/>
            </a:pPr>
            <a:r>
              <a:rPr lang="en-US" sz="1300" b="1" dirty="0">
                <a:solidFill>
                  <a:srgbClr val="2E2E2E"/>
                </a:solidFill>
                <a:latin typeface="Calibri" pitchFamily="34" charset="0"/>
                <a:ea typeface="Calibri" pitchFamily="34" charset="-122"/>
                <a:cs typeface="Calibri" pitchFamily="34" charset="-120"/>
              </a:rPr>
              <a:t>Handoff Orchestration</a:t>
            </a:r>
            <a:endParaRPr lang="en-US" sz="1300" dirty="0"/>
          </a:p>
        </p:txBody>
      </p:sp>
      <p:sp>
        <p:nvSpPr>
          <p:cNvPr id="17" name="Text 15"/>
          <p:cNvSpPr/>
          <p:nvPr/>
        </p:nvSpPr>
        <p:spPr>
          <a:xfrm>
            <a:off x="9182862" y="2377440"/>
            <a:ext cx="2265426" cy="1463040"/>
          </a:xfrm>
          <a:prstGeom prst="rect">
            <a:avLst/>
          </a:prstGeom>
          <a:noFill/>
          <a:ln/>
        </p:spPr>
        <p:txBody>
          <a:bodyPr wrap="square" rtlCol="0" anchor="t"/>
          <a:lstStyle/>
          <a:p>
            <a:pPr marL="0" indent="0">
              <a:buNone/>
            </a:pPr>
            <a:r>
              <a:rPr lang="en-US" sz="1000" dirty="0">
                <a:solidFill>
                  <a:srgbClr val="404040"/>
                </a:solidFill>
                <a:latin typeface="Calibri" pitchFamily="34" charset="0"/>
                <a:ea typeface="Calibri" pitchFamily="34" charset="-122"/>
                <a:cs typeface="Calibri" pitchFamily="34" charset="-120"/>
              </a:rPr>
              <a:t>Declare specialist agents and the routes between them; the framework wires up the hand-off tools so agents can transfer control mid-conversation.</a:t>
            </a:r>
            <a:endParaRPr lang="en-US" sz="1000" dirty="0"/>
          </a:p>
        </p:txBody>
      </p:sp>
      <p:sp>
        <p:nvSpPr>
          <p:cNvPr id="18" name="Text 16"/>
          <p:cNvSpPr/>
          <p:nvPr/>
        </p:nvSpPr>
        <p:spPr>
          <a:xfrm>
            <a:off x="548640" y="4343400"/>
            <a:ext cx="5486400" cy="320040"/>
          </a:xfrm>
          <a:prstGeom prst="rect">
            <a:avLst/>
          </a:prstGeom>
          <a:noFill/>
          <a:ln/>
        </p:spPr>
        <p:txBody>
          <a:bodyPr wrap="square" rtlCol="0" anchor="ctr"/>
          <a:lstStyle/>
          <a:p>
            <a:pPr marL="0" indent="0">
              <a:buNone/>
            </a:pPr>
            <a:r>
              <a:rPr lang="en-US" sz="1300" b="1" dirty="0">
                <a:solidFill>
                  <a:srgbClr val="2E2E2E"/>
                </a:solidFill>
                <a:latin typeface="Calibri" pitchFamily="34" charset="0"/>
                <a:ea typeface="Calibri" pitchFamily="34" charset="-122"/>
                <a:cs typeface="Calibri" pitchFamily="34" charset="-120"/>
              </a:rPr>
              <a:t>CodeAct Benchmark - Multi-Step Tool-Calling Workload</a:t>
            </a:r>
            <a:endParaRPr lang="en-US" sz="1300" dirty="0"/>
          </a:p>
        </p:txBody>
      </p:sp>
      <p:sp>
        <p:nvSpPr>
          <p:cNvPr id="19" name="Shape 17"/>
          <p:cNvSpPr/>
          <p:nvPr/>
        </p:nvSpPr>
        <p:spPr>
          <a:xfrm>
            <a:off x="548640" y="4754880"/>
            <a:ext cx="2606040" cy="1234440"/>
          </a:xfrm>
          <a:prstGeom prst="rect">
            <a:avLst/>
          </a:prstGeom>
          <a:solidFill>
            <a:srgbClr val="107C41"/>
          </a:solidFill>
          <a:ln/>
        </p:spPr>
        <p:txBody>
          <a:bodyPr/>
          <a:lstStyle/>
          <a:p>
            <a:endParaRPr lang="en-IN"/>
          </a:p>
        </p:txBody>
      </p:sp>
      <p:sp>
        <p:nvSpPr>
          <p:cNvPr id="20" name="Text 18"/>
          <p:cNvSpPr/>
          <p:nvPr/>
        </p:nvSpPr>
        <p:spPr>
          <a:xfrm>
            <a:off x="731520" y="4892040"/>
            <a:ext cx="2240280" cy="594360"/>
          </a:xfrm>
          <a:prstGeom prst="rect">
            <a:avLst/>
          </a:prstGeom>
          <a:noFill/>
          <a:ln/>
        </p:spPr>
        <p:txBody>
          <a:bodyPr wrap="square"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52.4%</a:t>
            </a:r>
            <a:endParaRPr lang="en-US" sz="2600" dirty="0"/>
          </a:p>
        </p:txBody>
      </p:sp>
      <p:sp>
        <p:nvSpPr>
          <p:cNvPr id="21" name="Text 19"/>
          <p:cNvSpPr/>
          <p:nvPr/>
        </p:nvSpPr>
        <p:spPr>
          <a:xfrm>
            <a:off x="731520" y="5532120"/>
            <a:ext cx="2240280" cy="365760"/>
          </a:xfrm>
          <a:prstGeom prst="rect">
            <a:avLst/>
          </a:prstGeom>
          <a:noFill/>
          <a:ln/>
        </p:spPr>
        <p:txBody>
          <a:bodyPr wrap="square" rtlCol="0" anchor="t"/>
          <a:lstStyle/>
          <a:p>
            <a:pPr marL="0" indent="0">
              <a:buNone/>
            </a:pPr>
            <a:r>
              <a:rPr lang="en-US" sz="1000" dirty="0">
                <a:solidFill>
                  <a:srgbClr val="E4F2E9"/>
                </a:solidFill>
                <a:latin typeface="Calibri" pitchFamily="34" charset="0"/>
                <a:ea typeface="Calibri" pitchFamily="34" charset="-122"/>
                <a:cs typeface="Calibri" pitchFamily="34" charset="-120"/>
              </a:rPr>
              <a:t>Time saved  ·  27.81s → 13.23s</a:t>
            </a:r>
            <a:endParaRPr lang="en-US" sz="1000" dirty="0"/>
          </a:p>
        </p:txBody>
      </p:sp>
      <p:sp>
        <p:nvSpPr>
          <p:cNvPr id="22" name="Shape 20"/>
          <p:cNvSpPr/>
          <p:nvPr/>
        </p:nvSpPr>
        <p:spPr>
          <a:xfrm>
            <a:off x="3429000" y="4754880"/>
            <a:ext cx="2606040" cy="1234440"/>
          </a:xfrm>
          <a:prstGeom prst="rect">
            <a:avLst/>
          </a:prstGeom>
          <a:solidFill>
            <a:srgbClr val="107C41"/>
          </a:solidFill>
          <a:ln/>
        </p:spPr>
        <p:txBody>
          <a:bodyPr/>
          <a:lstStyle/>
          <a:p>
            <a:endParaRPr lang="en-IN"/>
          </a:p>
        </p:txBody>
      </p:sp>
      <p:sp>
        <p:nvSpPr>
          <p:cNvPr id="23" name="Text 21"/>
          <p:cNvSpPr/>
          <p:nvPr/>
        </p:nvSpPr>
        <p:spPr>
          <a:xfrm>
            <a:off x="3611880" y="4892040"/>
            <a:ext cx="2240280" cy="594360"/>
          </a:xfrm>
          <a:prstGeom prst="rect">
            <a:avLst/>
          </a:prstGeom>
          <a:noFill/>
          <a:ln/>
        </p:spPr>
        <p:txBody>
          <a:bodyPr wrap="square"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63.9%</a:t>
            </a:r>
            <a:endParaRPr lang="en-US" sz="2600" dirty="0"/>
          </a:p>
        </p:txBody>
      </p:sp>
      <p:sp>
        <p:nvSpPr>
          <p:cNvPr id="24" name="Text 22"/>
          <p:cNvSpPr/>
          <p:nvPr/>
        </p:nvSpPr>
        <p:spPr>
          <a:xfrm>
            <a:off x="3611880" y="5532120"/>
            <a:ext cx="2240280" cy="365760"/>
          </a:xfrm>
          <a:prstGeom prst="rect">
            <a:avLst/>
          </a:prstGeom>
          <a:noFill/>
          <a:ln/>
        </p:spPr>
        <p:txBody>
          <a:bodyPr wrap="square" rtlCol="0" anchor="t"/>
          <a:lstStyle/>
          <a:p>
            <a:pPr marL="0" indent="0">
              <a:buNone/>
            </a:pPr>
            <a:r>
              <a:rPr lang="en-US" sz="1000" dirty="0">
                <a:solidFill>
                  <a:srgbClr val="E4F2E9"/>
                </a:solidFill>
                <a:latin typeface="Calibri" pitchFamily="34" charset="0"/>
                <a:ea typeface="Calibri" pitchFamily="34" charset="-122"/>
                <a:cs typeface="Calibri" pitchFamily="34" charset="-120"/>
              </a:rPr>
              <a:t>Tokens saved  ·  6,890 → 2,489</a:t>
            </a:r>
            <a:endParaRPr lang="en-US" sz="1000" dirty="0"/>
          </a:p>
        </p:txBody>
      </p:sp>
      <p:sp>
        <p:nvSpPr>
          <p:cNvPr id="25" name="Shape 23"/>
          <p:cNvSpPr/>
          <p:nvPr/>
        </p:nvSpPr>
        <p:spPr>
          <a:xfrm>
            <a:off x="6400800" y="4343400"/>
            <a:ext cx="5212080" cy="1965960"/>
          </a:xfrm>
          <a:prstGeom prst="rect">
            <a:avLst/>
          </a:prstGeom>
          <a:solidFill>
            <a:srgbClr val="F2F2F2"/>
          </a:solidFill>
          <a:ln/>
        </p:spPr>
        <p:txBody>
          <a:bodyPr/>
          <a:lstStyle/>
          <a:p>
            <a:endParaRPr lang="en-IN"/>
          </a:p>
        </p:txBody>
      </p:sp>
      <p:sp>
        <p:nvSpPr>
          <p:cNvPr id="26" name="Text 24"/>
          <p:cNvSpPr/>
          <p:nvPr/>
        </p:nvSpPr>
        <p:spPr>
          <a:xfrm>
            <a:off x="6601968" y="4507992"/>
            <a:ext cx="4846320" cy="320040"/>
          </a:xfrm>
          <a:prstGeom prst="rect">
            <a:avLst/>
          </a:prstGeom>
          <a:noFill/>
          <a:ln/>
        </p:spPr>
        <p:txBody>
          <a:bodyPr wrap="square" rtlCol="0" anchor="ctr"/>
          <a:lstStyle/>
          <a:p>
            <a:pPr marL="0" indent="0">
              <a:buNone/>
            </a:pPr>
            <a:r>
              <a:rPr lang="en-US" sz="1300" b="1" dirty="0">
                <a:solidFill>
                  <a:srgbClr val="2E2E2E"/>
                </a:solidFill>
                <a:latin typeface="Calibri" pitchFamily="34" charset="0"/>
                <a:ea typeface="Calibri" pitchFamily="34" charset="-122"/>
                <a:cs typeface="Calibri" pitchFamily="34" charset="-120"/>
              </a:rPr>
              <a:t>Also Reaching 1.0</a:t>
            </a:r>
            <a:endParaRPr lang="en-US" sz="1300" dirty="0"/>
          </a:p>
        </p:txBody>
      </p:sp>
      <p:sp>
        <p:nvSpPr>
          <p:cNvPr id="27" name="Text 25"/>
          <p:cNvSpPr/>
          <p:nvPr/>
        </p:nvSpPr>
        <p:spPr>
          <a:xfrm>
            <a:off x="6601968" y="4892040"/>
            <a:ext cx="4846320" cy="1371600"/>
          </a:xfrm>
          <a:prstGeom prst="rect">
            <a:avLst/>
          </a:prstGeom>
          <a:noFill/>
          <a:ln/>
        </p:spPr>
        <p:txBody>
          <a:bodyPr wrap="square" rtlCol="0" anchor="t"/>
          <a:lstStyle/>
          <a:p>
            <a:pPr marL="342900" indent="-342900">
              <a:spcAft>
                <a:spcPts val="1200"/>
              </a:spcAft>
              <a:buSzPct val="100000"/>
              <a:buChar char="•"/>
            </a:pPr>
            <a:r>
              <a:rPr lang="en-US" sz="1150" dirty="0">
                <a:solidFill>
                  <a:srgbClr val="404040"/>
                </a:solidFill>
                <a:latin typeface="Calibri" pitchFamily="34" charset="0"/>
                <a:ea typeface="Calibri" pitchFamily="34" charset="-122"/>
                <a:cs typeface="Calibri" pitchFamily="34" charset="-120"/>
              </a:rPr>
              <a:t>GitHub Copilot SDK as an agent backend (shell, files, URL fetch, MCP)</a:t>
            </a:r>
            <a:endParaRPr lang="en-US" sz="1150" dirty="0"/>
          </a:p>
          <a:p>
            <a:pPr marL="342900" indent="-342900">
              <a:spcAft>
                <a:spcPts val="1200"/>
              </a:spcAft>
              <a:buSzPct val="100000"/>
              <a:buChar char="•"/>
            </a:pPr>
            <a:r>
              <a:rPr lang="en-US" sz="1150" dirty="0">
                <a:solidFill>
                  <a:srgbClr val="404040"/>
                </a:solidFill>
                <a:latin typeface="Calibri" pitchFamily="34" charset="0"/>
                <a:ea typeface="Calibri" pitchFamily="34" charset="-122"/>
                <a:cs typeface="Calibri" pitchFamily="34" charset="-120"/>
              </a:rPr>
              <a:t>Handoff orchestration for multi-agent routing (.NET + Python)</a:t>
            </a:r>
            <a:endParaRPr lang="en-US" sz="1150" dirty="0"/>
          </a:p>
          <a:p>
            <a:pPr marL="342900" indent="-342900">
              <a:spcAft>
                <a:spcPts val="1200"/>
              </a:spcAft>
              <a:buSzPct val="100000"/>
              <a:buChar char="•"/>
            </a:pPr>
            <a:r>
              <a:rPr lang="en-US" sz="1150" dirty="0">
                <a:solidFill>
                  <a:srgbClr val="404040"/>
                </a:solidFill>
                <a:latin typeface="Calibri" pitchFamily="34" charset="0"/>
                <a:ea typeface="Calibri" pitchFamily="34" charset="-122"/>
                <a:cs typeface="Calibri" pitchFamily="34" charset="-120"/>
              </a:rPr>
              <a:t>Convergence of AutoGen and Semantic Kernel into one supported SDK</a:t>
            </a:r>
            <a:endParaRPr lang="en-US" sz="1150" dirty="0"/>
          </a:p>
        </p:txBody>
      </p:sp>
      <p:sp>
        <p:nvSpPr>
          <p:cNvPr id="28" name="Text 26"/>
          <p:cNvSpPr/>
          <p:nvPr/>
        </p:nvSpPr>
        <p:spPr>
          <a:xfrm>
            <a:off x="548640" y="6263640"/>
            <a:ext cx="11064240" cy="274320"/>
          </a:xfrm>
          <a:prstGeom prst="rect">
            <a:avLst/>
          </a:prstGeom>
          <a:noFill/>
          <a:ln/>
        </p:spPr>
        <p:txBody>
          <a:bodyPr wrap="square" rtlCol="0" anchor="ctr"/>
          <a:lstStyle/>
          <a:p>
            <a:pPr marL="0" indent="0">
              <a:buNone/>
            </a:pPr>
            <a:r>
              <a:rPr lang="en-US" sz="900" i="1" dirty="0">
                <a:solidFill>
                  <a:srgbClr val="7F7F7F"/>
                </a:solidFill>
                <a:latin typeface="Calibri" pitchFamily="34" charset="0"/>
                <a:ea typeface="Calibri" pitchFamily="34" charset="-122"/>
                <a:cs typeface="Calibri" pitchFamily="34" charset="-120"/>
              </a:rPr>
              <a:t>Microsoft Agent Framework reached 1.0 GA on April 2, 2026  ·  Source: Microsoft Agent Framework devblog, Build 2026</a:t>
            </a:r>
            <a:endParaRPr lang="en-US" sz="900" dirty="0"/>
          </a:p>
        </p:txBody>
      </p:sp>
      <p:sp>
        <p:nvSpPr>
          <p:cNvPr id="29" name="Text 27"/>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30" name="Text 28"/>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b">
    <p:spTree>
      <p:nvGrpSpPr>
        <p:cNvPr id="1" name=""/>
        <p:cNvGrpSpPr/>
        <p:nvPr/>
      </p:nvGrpSpPr>
      <p:grpSpPr>
        <a:xfrm>
          <a:off x="0" y="0"/>
          <a:ext cx="0" cy="0"/>
          <a:chOff x="0" y="0"/>
          <a:chExt cx="0" cy="0"/>
        </a:xfrm>
      </p:grpSpPr>
      <p:sp>
        <p:nvSpPr>
          <p:cNvPr id="2" name="Text 0"/>
          <p:cNvSpPr/>
          <p:nvPr/>
        </p:nvSpPr>
        <p:spPr>
          <a:xfrm>
            <a:off x="548640" y="481418"/>
            <a:ext cx="11064240" cy="615862"/>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Microsoft Agent Framework: Architecture at a Glance</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pic>
        <p:nvPicPr>
          <p:cNvPr id="4" name="Microsoft Agent Framework Architecture Diagram" descr="Layered architecture diagram showing Your Application flowing through Middleware and Filters, into the Agent Framework Core (AIAgent, Threads, Workflows), then Connectivity (IChatClient with OpenAI, Azure OpenAI, Ollama and local model providers, Tools, MCP Servers, A2A), down to Deployment (Azure AI Foundry Hosted Agents, Self-hosted), with request and response arrows and an Observability rail for OpenTelemetry tracing"/>
          <p:cNvPicPr>
            <a:picLocks noChangeAspect="1"/>
          </p:cNvPicPr>
          <p:nvPr/>
        </p:nvPicPr>
        <p:blipFill>
          <a:blip r:embed="rId2"/>
          <a:stretch>
            <a:fillRect/>
          </a:stretch>
        </p:blipFill>
        <p:spPr>
          <a:xfrm>
            <a:off x="633555" y="1691640"/>
            <a:ext cx="10924585" cy="4572000"/>
          </a:xfrm>
          <a:prstGeom prst="rect">
            <a:avLst/>
          </a:prstGeom>
        </p:spPr>
      </p:pic>
      <p:sp>
        <p:nvSpPr>
          <p:cNvPr id="19" name="Text 17"/>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20" name="Text 18"/>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18</a:t>
            </a:r>
            <a:endParaRPr lang="en-US" sz="1000" dirty="0"/>
          </a:p>
        </p:txBody>
      </p:sp>
      <p:sp>
        <p:nvSpPr>
          <p:cNvPr id="23" name="Eyebrow">
            <a:extLst>
              <a:ext uri="{FF2B5EF4-FFF2-40B4-BE49-F238E27FC236}">
                <a16:creationId xmlns:a16="http://schemas.microsoft.com/office/drawing/2014/main" id="{9FCF795A-0FA1-3641-76CD-3701C5B1C5DD}"/>
              </a:ext>
            </a:extLst>
          </p:cNvPr>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MICROSOFT AGENT FRAMEWORK</a:t>
            </a:r>
            <a:endParaRPr lang="en-US" sz="11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3">
    <p:bg>
      <p:bgPr>
        <a:solidFill>
          <a:srgbClr val="0078D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78D4"/>
          </a:solidFill>
          <a:ln/>
        </p:spPr>
        <p:txBody>
          <a:bodyPr/>
          <a:lstStyle/>
          <a:p>
            <a:endParaRPr lang="en-IN"/>
          </a:p>
        </p:txBody>
      </p:sp>
      <p:sp>
        <p:nvSpPr>
          <p:cNvPr id="3" name="Text 1"/>
          <p:cNvSpPr/>
          <p:nvPr/>
        </p:nvSpPr>
        <p:spPr>
          <a:xfrm>
            <a:off x="822960" y="2743200"/>
            <a:ext cx="10515600" cy="1188720"/>
          </a:xfrm>
          <a:prstGeom prst="rect">
            <a:avLst/>
          </a:prstGeom>
          <a:noFill/>
          <a:ln/>
        </p:spPr>
        <p:txBody>
          <a:bodyPr wrap="square" rtlCol="0" anchor="ctr"/>
          <a:lstStyle/>
          <a:p>
            <a:pPr marL="0" indent="0">
              <a:buNone/>
            </a:pPr>
            <a:r>
              <a:rPr lang="en-US" sz="4000" dirty="0">
                <a:solidFill>
                  <a:srgbClr val="FFFFFF"/>
                </a:solidFill>
                <a:latin typeface="Calibri Light" pitchFamily="34" charset="0"/>
                <a:ea typeface="Calibri Light" pitchFamily="34" charset="-122"/>
                <a:cs typeface="Calibri Light" pitchFamily="34" charset="-120"/>
              </a:rPr>
              <a:t>Live Demo</a:t>
            </a:r>
            <a:endParaRPr lang="en-US" sz="4000" dirty="0"/>
          </a:p>
        </p:txBody>
      </p:sp>
      <p:sp>
        <p:nvSpPr>
          <p:cNvPr id="4" name="Text 2"/>
          <p:cNvSpPr/>
          <p:nvPr/>
        </p:nvSpPr>
        <p:spPr>
          <a:xfrm>
            <a:off x="822959" y="3794760"/>
            <a:ext cx="10341033" cy="548640"/>
          </a:xfrm>
          <a:prstGeom prst="rect">
            <a:avLst/>
          </a:prstGeom>
          <a:noFill/>
          <a:ln/>
        </p:spPr>
        <p:txBody>
          <a:bodyPr wrap="square" rtlCol="0" anchor="ctr"/>
          <a:lstStyle/>
          <a:p>
            <a:pPr marL="0" indent="0">
              <a:buNone/>
            </a:pPr>
            <a:r>
              <a:rPr lang="en-US" sz="1800" dirty="0">
                <a:solidFill>
                  <a:srgbClr val="D9E8F7"/>
                </a:solidFill>
                <a:latin typeface="Calibri" pitchFamily="34" charset="0"/>
                <a:ea typeface="Calibri" pitchFamily="34" charset="-122"/>
                <a:cs typeface="Calibri" pitchFamily="34" charset="-120"/>
              </a:rPr>
              <a:t>Building and running an agent with Microsoft Agent Framework in C#</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3000" dirty="0">
                <a:solidFill>
                  <a:srgbClr val="2E2E2E"/>
                </a:solidFill>
                <a:latin typeface="Calibri Light" pitchFamily="34" charset="0"/>
                <a:ea typeface="Calibri Light" pitchFamily="34" charset="-122"/>
                <a:cs typeface="Calibri Light" pitchFamily="34" charset="-120"/>
              </a:rPr>
              <a:t>From Zero to Working Agent in C#</a:t>
            </a:r>
            <a:endParaRPr lang="en-US" sz="30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Shape 2"/>
          <p:cNvSpPr/>
          <p:nvPr/>
        </p:nvSpPr>
        <p:spPr>
          <a:xfrm>
            <a:off x="548640" y="1463040"/>
            <a:ext cx="2560320" cy="502920"/>
          </a:xfrm>
          <a:prstGeom prst="rect">
            <a:avLst/>
          </a:prstGeom>
          <a:solidFill>
            <a:srgbClr val="0078D4"/>
          </a:solidFill>
          <a:ln/>
        </p:spPr>
        <p:txBody>
          <a:bodyPr/>
          <a:lstStyle/>
          <a:p>
            <a:endParaRPr lang="en-IN"/>
          </a:p>
        </p:txBody>
      </p:sp>
      <p:sp>
        <p:nvSpPr>
          <p:cNvPr id="5" name="Text 3"/>
          <p:cNvSpPr/>
          <p:nvPr/>
        </p:nvSpPr>
        <p:spPr>
          <a:xfrm>
            <a:off x="54864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548640" y="2103120"/>
            <a:ext cx="2560320" cy="3566160"/>
          </a:xfrm>
          <a:prstGeom prst="rect">
            <a:avLst/>
          </a:prstGeom>
          <a:solidFill>
            <a:srgbClr val="F2F2F2"/>
          </a:solidFill>
          <a:ln/>
        </p:spPr>
        <p:txBody>
          <a:bodyPr/>
          <a:lstStyle/>
          <a:p>
            <a:endParaRPr lang="en-IN"/>
          </a:p>
        </p:txBody>
      </p:sp>
      <p:sp>
        <p:nvSpPr>
          <p:cNvPr id="7" name="Text 5"/>
          <p:cNvSpPr/>
          <p:nvPr/>
        </p:nvSpPr>
        <p:spPr>
          <a:xfrm>
            <a:off x="71323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Create the Agent</a:t>
            </a:r>
            <a:endParaRPr lang="en-US" sz="1400" dirty="0"/>
          </a:p>
        </p:txBody>
      </p:sp>
      <p:sp>
        <p:nvSpPr>
          <p:cNvPr id="8" name="Text 6"/>
          <p:cNvSpPr/>
          <p:nvPr/>
        </p:nvSpPr>
        <p:spPr>
          <a:xfrm>
            <a:off x="71323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One AIAgent from any </a:t>
            </a:r>
            <a:r>
              <a:rPr lang="en-US" sz="1150" dirty="0" err="1">
                <a:solidFill>
                  <a:srgbClr val="404040"/>
                </a:solidFill>
                <a:latin typeface="Calibri" pitchFamily="34" charset="0"/>
                <a:ea typeface="Calibri" pitchFamily="34" charset="-122"/>
                <a:cs typeface="Calibri" pitchFamily="34" charset="-120"/>
              </a:rPr>
              <a:t>IChatClient</a:t>
            </a:r>
            <a:r>
              <a:rPr lang="en-US" sz="1150" dirty="0">
                <a:solidFill>
                  <a:srgbClr val="404040"/>
                </a:solidFill>
                <a:latin typeface="Calibri" pitchFamily="34" charset="0"/>
                <a:ea typeface="Calibri" pitchFamily="34" charset="-122"/>
                <a:cs typeface="Calibri" pitchFamily="34" charset="-120"/>
              </a:rPr>
              <a:t> - today, a local model via Ollama, no API key or cloud spend required.</a:t>
            </a:r>
            <a:endParaRPr lang="en-US" sz="1150" dirty="0"/>
          </a:p>
        </p:txBody>
      </p:sp>
      <p:sp>
        <p:nvSpPr>
          <p:cNvPr id="9" name="Text 7"/>
          <p:cNvSpPr/>
          <p:nvPr/>
        </p:nvSpPr>
        <p:spPr>
          <a:xfrm>
            <a:off x="3063240" y="1417320"/>
            <a:ext cx="45720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383280" y="1463040"/>
            <a:ext cx="2560320" cy="502920"/>
          </a:xfrm>
          <a:prstGeom prst="rect">
            <a:avLst/>
          </a:prstGeom>
          <a:solidFill>
            <a:srgbClr val="0078D4"/>
          </a:solidFill>
          <a:ln/>
        </p:spPr>
        <p:txBody>
          <a:bodyPr/>
          <a:lstStyle/>
          <a:p>
            <a:endParaRPr lang="en-IN"/>
          </a:p>
        </p:txBody>
      </p:sp>
      <p:sp>
        <p:nvSpPr>
          <p:cNvPr id="11" name="Text 9"/>
          <p:cNvSpPr/>
          <p:nvPr/>
        </p:nvSpPr>
        <p:spPr>
          <a:xfrm>
            <a:off x="338328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Shape 10"/>
          <p:cNvSpPr/>
          <p:nvPr/>
        </p:nvSpPr>
        <p:spPr>
          <a:xfrm>
            <a:off x="3383280" y="2103120"/>
            <a:ext cx="2560320" cy="3566160"/>
          </a:xfrm>
          <a:prstGeom prst="rect">
            <a:avLst/>
          </a:prstGeom>
          <a:solidFill>
            <a:srgbClr val="F2F2F2"/>
          </a:solidFill>
          <a:ln/>
        </p:spPr>
        <p:txBody>
          <a:bodyPr/>
          <a:lstStyle/>
          <a:p>
            <a:endParaRPr lang="en-IN"/>
          </a:p>
        </p:txBody>
      </p:sp>
      <p:sp>
        <p:nvSpPr>
          <p:cNvPr id="13" name="Text 11"/>
          <p:cNvSpPr/>
          <p:nvPr/>
        </p:nvSpPr>
        <p:spPr>
          <a:xfrm>
            <a:off x="354787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Register a Tool</a:t>
            </a:r>
            <a:endParaRPr lang="en-US" sz="1400" dirty="0"/>
          </a:p>
        </p:txBody>
      </p:sp>
      <p:sp>
        <p:nvSpPr>
          <p:cNvPr id="14" name="Text 12"/>
          <p:cNvSpPr/>
          <p:nvPr/>
        </p:nvSpPr>
        <p:spPr>
          <a:xfrm>
            <a:off x="354787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A plain C# method plus [Description] becomes a callable tool via AIFunctionFactory.Create() - no hand-written JSON schema.</a:t>
            </a:r>
            <a:endParaRPr lang="en-US" sz="1150" dirty="0"/>
          </a:p>
        </p:txBody>
      </p:sp>
      <p:sp>
        <p:nvSpPr>
          <p:cNvPr id="15" name="Text 13"/>
          <p:cNvSpPr/>
          <p:nvPr/>
        </p:nvSpPr>
        <p:spPr>
          <a:xfrm>
            <a:off x="5897880" y="1417320"/>
            <a:ext cx="45720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17920" y="1463040"/>
            <a:ext cx="2560320" cy="502920"/>
          </a:xfrm>
          <a:prstGeom prst="rect">
            <a:avLst/>
          </a:prstGeom>
          <a:solidFill>
            <a:srgbClr val="0078D4"/>
          </a:solidFill>
          <a:ln/>
        </p:spPr>
        <p:txBody>
          <a:bodyPr/>
          <a:lstStyle/>
          <a:p>
            <a:endParaRPr lang="en-IN"/>
          </a:p>
        </p:txBody>
      </p:sp>
      <p:sp>
        <p:nvSpPr>
          <p:cNvPr id="17" name="Text 15"/>
          <p:cNvSpPr/>
          <p:nvPr/>
        </p:nvSpPr>
        <p:spPr>
          <a:xfrm>
            <a:off x="621792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Shape 16"/>
          <p:cNvSpPr/>
          <p:nvPr/>
        </p:nvSpPr>
        <p:spPr>
          <a:xfrm>
            <a:off x="6217920" y="2103120"/>
            <a:ext cx="2560320" cy="3566160"/>
          </a:xfrm>
          <a:prstGeom prst="rect">
            <a:avLst/>
          </a:prstGeom>
          <a:solidFill>
            <a:srgbClr val="F2F2F2"/>
          </a:solidFill>
          <a:ln/>
        </p:spPr>
        <p:txBody>
          <a:bodyPr/>
          <a:lstStyle/>
          <a:p>
            <a:endParaRPr lang="en-IN"/>
          </a:p>
        </p:txBody>
      </p:sp>
      <p:sp>
        <p:nvSpPr>
          <p:cNvPr id="19" name="Text 17"/>
          <p:cNvSpPr/>
          <p:nvPr/>
        </p:nvSpPr>
        <p:spPr>
          <a:xfrm>
            <a:off x="638251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Plug in an MCP Server</a:t>
            </a:r>
            <a:endParaRPr lang="en-US" sz="1400" dirty="0"/>
          </a:p>
        </p:txBody>
      </p:sp>
      <p:sp>
        <p:nvSpPr>
          <p:cNvPr id="20" name="Text 18"/>
          <p:cNvSpPr/>
          <p:nvPr/>
        </p:nvSpPr>
        <p:spPr>
          <a:xfrm>
            <a:off x="638251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McpClient.CreateAsync() discovers a server’s tools and hands them to the agent as ordinary AITool instances.</a:t>
            </a:r>
            <a:endParaRPr lang="en-US" sz="1150" dirty="0"/>
          </a:p>
        </p:txBody>
      </p:sp>
      <p:sp>
        <p:nvSpPr>
          <p:cNvPr id="21" name="Text 19"/>
          <p:cNvSpPr/>
          <p:nvPr/>
        </p:nvSpPr>
        <p:spPr>
          <a:xfrm>
            <a:off x="8732520" y="1417320"/>
            <a:ext cx="457200" cy="594360"/>
          </a:xfrm>
          <a:prstGeom prst="rect">
            <a:avLst/>
          </a:prstGeom>
          <a:noFill/>
          <a:ln/>
        </p:spPr>
        <p:txBody>
          <a:bodyPr wrap="square" rtlCol="0" anchor="ctr"/>
          <a:lstStyle/>
          <a:p>
            <a:pPr marL="0" indent="0" algn="ctr">
              <a:buNone/>
            </a:pPr>
            <a:r>
              <a:rPr lang="en-US" sz="2200" dirty="0">
                <a:solidFill>
                  <a:srgbClr val="0078D4"/>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052560" y="1463040"/>
            <a:ext cx="2560320" cy="502920"/>
          </a:xfrm>
          <a:prstGeom prst="rect">
            <a:avLst/>
          </a:prstGeom>
          <a:solidFill>
            <a:srgbClr val="0078D4"/>
          </a:solidFill>
          <a:ln/>
        </p:spPr>
        <p:txBody>
          <a:bodyPr/>
          <a:lstStyle/>
          <a:p>
            <a:endParaRPr lang="en-IN"/>
          </a:p>
        </p:txBody>
      </p:sp>
      <p:sp>
        <p:nvSpPr>
          <p:cNvPr id="23" name="Text 21"/>
          <p:cNvSpPr/>
          <p:nvPr/>
        </p:nvSpPr>
        <p:spPr>
          <a:xfrm>
            <a:off x="9052560" y="1463040"/>
            <a:ext cx="256032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4" name="Shape 22"/>
          <p:cNvSpPr/>
          <p:nvPr/>
        </p:nvSpPr>
        <p:spPr>
          <a:xfrm>
            <a:off x="9052560" y="2103120"/>
            <a:ext cx="2560320" cy="3566160"/>
          </a:xfrm>
          <a:prstGeom prst="rect">
            <a:avLst/>
          </a:prstGeom>
          <a:solidFill>
            <a:srgbClr val="F2F2F2"/>
          </a:solidFill>
          <a:ln/>
        </p:spPr>
        <p:txBody>
          <a:bodyPr/>
          <a:lstStyle/>
          <a:p>
            <a:endParaRPr lang="en-IN"/>
          </a:p>
        </p:txBody>
      </p:sp>
      <p:sp>
        <p:nvSpPr>
          <p:cNvPr id="25" name="Text 23"/>
          <p:cNvSpPr/>
          <p:nvPr/>
        </p:nvSpPr>
        <p:spPr>
          <a:xfrm>
            <a:off x="9217152" y="2240280"/>
            <a:ext cx="2231136" cy="822960"/>
          </a:xfrm>
          <a:prstGeom prst="rect">
            <a:avLst/>
          </a:prstGeom>
          <a:noFill/>
          <a:ln/>
        </p:spPr>
        <p:txBody>
          <a:bodyPr wrap="square" rtlCol="0" anchor="t"/>
          <a:lstStyle/>
          <a:p>
            <a:pPr marL="0" indent="0">
              <a:buNone/>
            </a:pPr>
            <a:r>
              <a:rPr lang="en-US" sz="1400" b="1" dirty="0">
                <a:solidFill>
                  <a:srgbClr val="2E2E2E"/>
                </a:solidFill>
                <a:latin typeface="Calibri" pitchFamily="34" charset="0"/>
                <a:ea typeface="Calibri" pitchFamily="34" charset="-122"/>
                <a:cs typeface="Calibri" pitchFamily="34" charset="-120"/>
              </a:rPr>
              <a:t>Run &amp; Stream</a:t>
            </a:r>
            <a:endParaRPr lang="en-US" sz="1400" dirty="0"/>
          </a:p>
        </p:txBody>
      </p:sp>
      <p:sp>
        <p:nvSpPr>
          <p:cNvPr id="26" name="Text 24"/>
          <p:cNvSpPr/>
          <p:nvPr/>
        </p:nvSpPr>
        <p:spPr>
          <a:xfrm>
            <a:off x="9217152" y="3063240"/>
            <a:ext cx="2231136" cy="2468880"/>
          </a:xfrm>
          <a:prstGeom prst="rect">
            <a:avLst/>
          </a:prstGeom>
          <a:noFill/>
          <a:ln/>
        </p:spPr>
        <p:txBody>
          <a:bodyPr wrap="square" rtlCol="0" anchor="t"/>
          <a:lstStyle/>
          <a:p>
            <a:pPr marL="0" indent="0">
              <a:buNone/>
            </a:pPr>
            <a:r>
              <a:rPr lang="en-US" sz="1150" dirty="0">
                <a:solidFill>
                  <a:srgbClr val="404040"/>
                </a:solidFill>
                <a:latin typeface="Calibri" pitchFamily="34" charset="0"/>
                <a:ea typeface="Calibri" pitchFamily="34" charset="-122"/>
                <a:cs typeface="Calibri" pitchFamily="34" charset="-120"/>
              </a:rPr>
              <a:t>agent.RunStreamingAsync() drives the loop - it reasons, calls tools and streams the answer back token by token.</a:t>
            </a:r>
            <a:endParaRPr lang="en-US" sz="1150" dirty="0"/>
          </a:p>
        </p:txBody>
      </p:sp>
      <p:sp>
        <p:nvSpPr>
          <p:cNvPr id="27" name="Text 25"/>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28" name="Text 2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20</a:t>
            </a:r>
            <a:endParaRPr lang="en-US" sz="1000" dirty="0"/>
          </a:p>
        </p:txBody>
      </p:sp>
      <p:sp>
        <p:nvSpPr>
          <p:cNvPr id="30" name="Eyebrow">
            <a:extLst>
              <a:ext uri="{FF2B5EF4-FFF2-40B4-BE49-F238E27FC236}">
                <a16:creationId xmlns:a16="http://schemas.microsoft.com/office/drawing/2014/main" id="{E6E90874-188C-50A6-95CC-1F13F7C8FDF9}"/>
              </a:ext>
            </a:extLst>
          </p:cNvPr>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LIVE DEMO</a:t>
            </a:r>
            <a:endParaRPr lang="en-US" sz="1100" b="1"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Takeaway">
    <p:spTree>
      <p:nvGrpSpPr>
        <p:cNvPr id="1" name=""/>
        <p:cNvGrpSpPr/>
        <p:nvPr/>
      </p:nvGrpSpPr>
      <p:grpSpPr>
        <a:xfrm>
          <a:off x="0" y="0"/>
          <a:ext cx="0" cy="0"/>
          <a:chOff x="0" y="0"/>
          <a:chExt cx="0" cy="0"/>
        </a:xfrm>
      </p:grpSpPr>
      <p:sp>
        <p:nvSpPr>
          <p:cNvPr id="90" name="Eyebrow"/>
          <p:cNvSpPr/>
          <p:nvPr/>
        </p:nvSpPr>
        <p:spPr>
          <a:xfrm>
            <a:off x="548640" y="365760"/>
            <a:ext cx="11064240" cy="213360"/>
          </a:xfrm>
          <a:prstGeom prst="rect">
            <a:avLst/>
          </a:prstGeom>
          <a:noFill/>
          <a:ln/>
        </p:spPr>
        <p:txBody>
          <a:bodyPr wrap="square" rtlCol="0" anchor="t"/>
          <a:lstStyle/>
          <a:p>
            <a:pPr marL="0" indent="0">
              <a:buNone/>
            </a:pPr>
            <a:r>
              <a:rPr lang="en-US" sz="1100" b="1" spc="150" dirty="0">
                <a:solidFill>
                  <a:srgbClr val="0078D4"/>
                </a:solidFill>
                <a:latin typeface="Calibri" pitchFamily="34" charset="0"/>
                <a:ea typeface="Calibri" pitchFamily="34" charset="-122"/>
                <a:cs typeface="Calibri" pitchFamily="34" charset="-120"/>
              </a:rPr>
              <a:t>TAKEAWAY</a:t>
            </a:r>
            <a:endParaRPr lang="en-US" sz="1100" b="1" dirty="0"/>
          </a:p>
        </p:txBody>
      </p:sp>
      <p:sp>
        <p:nvSpPr>
          <p:cNvPr id="2" name="Text 0"/>
          <p:cNvSpPr/>
          <p:nvPr/>
        </p:nvSpPr>
        <p:spPr>
          <a:xfrm>
            <a:off x="548640" y="579120"/>
            <a:ext cx="11064240" cy="518160"/>
          </a:xfrm>
          <a:prstGeom prst="rect">
            <a:avLst/>
          </a:prstGeom>
          <a:noFill/>
          <a:ln/>
        </p:spPr>
        <p:txBody>
          <a:bodyPr wrap="square" rtlCol="0" anchor="ctr"/>
          <a:lstStyle/>
          <a:p>
            <a:pPr marL="0" indent="0">
              <a:buNone/>
            </a:pPr>
            <a:r>
              <a:rPr lang="en-US" sz="2800" dirty="0">
                <a:solidFill>
                  <a:srgbClr val="2E2E2E"/>
                </a:solidFill>
                <a:latin typeface="Calibri Light" pitchFamily="34" charset="0"/>
                <a:ea typeface="Calibri Light" pitchFamily="34" charset="-122"/>
                <a:cs typeface="Calibri Light" pitchFamily="34" charset="-120"/>
              </a:rPr>
              <a:t>What to Learn Next?</a:t>
            </a:r>
            <a:endParaRPr lang="en-US" sz="2800" dirty="0"/>
          </a:p>
        </p:txBody>
      </p:sp>
      <p:sp>
        <p:nvSpPr>
          <p:cNvPr id="3" name="Shape 1"/>
          <p:cNvSpPr/>
          <p:nvPr/>
        </p:nvSpPr>
        <p:spPr>
          <a:xfrm>
            <a:off x="0" y="1170432"/>
            <a:ext cx="12188952" cy="18288"/>
          </a:xfrm>
          <a:prstGeom prst="rect">
            <a:avLst/>
          </a:prstGeom>
          <a:solidFill>
            <a:srgbClr val="D9D9D9"/>
          </a:solidFill>
          <a:ln/>
        </p:spPr>
        <p:txBody>
          <a:bodyPr/>
          <a:lstStyle/>
          <a:p>
            <a:endParaRPr lang="en-IN"/>
          </a:p>
        </p:txBody>
      </p:sp>
      <p:sp>
        <p:nvSpPr>
          <p:cNvPr id="4" name="Text 2"/>
          <p:cNvSpPr/>
          <p:nvPr/>
        </p:nvSpPr>
        <p:spPr>
          <a:xfrm>
            <a:off x="548640" y="1417320"/>
            <a:ext cx="11064240" cy="4900000"/>
          </a:xfrm>
          <a:prstGeom prst="rect">
            <a:avLst/>
          </a:prstGeom>
          <a:noFill/>
          <a:ln/>
        </p:spPr>
        <p:txBody>
          <a:bodyPr wrap="square" rtlCol="0" anchor="t"/>
          <a:lstStyle/>
          <a:p>
            <a:pPr marL="342900" indent="-342900">
              <a:spcAft>
                <a:spcPts val="3000"/>
              </a:spcAft>
              <a:buSzPct val="100000"/>
              <a:buChar char="•"/>
            </a:pPr>
            <a:r>
              <a:rPr lang="en-US" sz="1600" b="1" dirty="0">
                <a:solidFill>
                  <a:srgbClr val="2E2E2E"/>
                </a:solidFill>
                <a:latin typeface="Calibri" pitchFamily="34" charset="0"/>
                <a:ea typeface="Calibri" pitchFamily="34" charset="-122"/>
                <a:cs typeface="Calibri" pitchFamily="34" charset="-120"/>
              </a:rPr>
              <a:t>Prompt &amp; Context Engineering</a:t>
            </a:r>
            <a:endParaRPr lang="en-US" sz="1600" dirty="0"/>
          </a:p>
          <a:p>
            <a:pPr marL="342900" indent="-342900">
              <a:spcAft>
                <a:spcPts val="3000"/>
              </a:spcAft>
              <a:buSzPct val="100000"/>
              <a:buChar char="•"/>
            </a:pPr>
            <a:r>
              <a:rPr lang="en-US" sz="1600" b="1" dirty="0">
                <a:solidFill>
                  <a:srgbClr val="2E2E2E"/>
                </a:solidFill>
                <a:latin typeface="Calibri" pitchFamily="34" charset="0"/>
                <a:ea typeface="Calibri" pitchFamily="34" charset="-122"/>
                <a:cs typeface="Calibri" pitchFamily="34" charset="-120"/>
              </a:rPr>
              <a:t>Agentic Coding Fluency</a:t>
            </a:r>
            <a:endParaRPr lang="en-US" sz="1600" dirty="0"/>
          </a:p>
          <a:p>
            <a:pPr marL="342900" indent="-342900">
              <a:spcAft>
                <a:spcPts val="3000"/>
              </a:spcAft>
              <a:buSzPct val="100000"/>
              <a:buChar char="•"/>
            </a:pPr>
            <a:r>
              <a:rPr lang="en-US" sz="1600" b="1" dirty="0">
                <a:solidFill>
                  <a:srgbClr val="2E2E2E"/>
                </a:solidFill>
                <a:latin typeface="Calibri" pitchFamily="34" charset="0"/>
                <a:ea typeface="Calibri" pitchFamily="34" charset="-122"/>
                <a:cs typeface="Calibri" pitchFamily="34" charset="-120"/>
              </a:rPr>
              <a:t>MCP &amp; Tool Integration</a:t>
            </a:r>
            <a:endParaRPr lang="en-US" sz="1600" dirty="0"/>
          </a:p>
          <a:p>
            <a:pPr marL="342900" indent="-342900">
              <a:spcAft>
                <a:spcPts val="3000"/>
              </a:spcAft>
              <a:buSzPct val="100000"/>
              <a:buChar char="•"/>
            </a:pPr>
            <a:r>
              <a:rPr lang="en-US" sz="1600" b="1" dirty="0">
                <a:solidFill>
                  <a:srgbClr val="2E2E2E"/>
                </a:solidFill>
                <a:latin typeface="Calibri" pitchFamily="34" charset="0"/>
                <a:ea typeface="Calibri" pitchFamily="34" charset="-122"/>
                <a:cs typeface="Calibri" pitchFamily="34" charset="-120"/>
              </a:rPr>
              <a:t>Agent Orchestration</a:t>
            </a:r>
            <a:endParaRPr lang="en-US" sz="1600" dirty="0"/>
          </a:p>
          <a:p>
            <a:pPr marL="342900" indent="-342900">
              <a:spcAft>
                <a:spcPts val="3000"/>
              </a:spcAft>
              <a:buSzPct val="100000"/>
              <a:buChar char="•"/>
            </a:pPr>
            <a:r>
              <a:rPr lang="en-US" sz="1600" b="1" dirty="0">
                <a:solidFill>
                  <a:srgbClr val="2E2E2E"/>
                </a:solidFill>
                <a:latin typeface="Calibri" pitchFamily="34" charset="0"/>
                <a:ea typeface="Calibri" pitchFamily="34" charset="-122"/>
                <a:cs typeface="Calibri" pitchFamily="34" charset="-120"/>
              </a:rPr>
              <a:t>AI-Aware System Design</a:t>
            </a:r>
            <a:endParaRPr lang="en-US" sz="1600" dirty="0"/>
          </a:p>
          <a:p>
            <a:pPr marL="342900" indent="-342900">
              <a:spcAft>
                <a:spcPts val="3000"/>
              </a:spcAft>
              <a:buSzPct val="100000"/>
              <a:buChar char="•"/>
            </a:pPr>
            <a:r>
              <a:rPr lang="en-US" sz="1600" b="1" dirty="0">
                <a:solidFill>
                  <a:srgbClr val="2E2E2E"/>
                </a:solidFill>
                <a:latin typeface="Calibri" pitchFamily="34" charset="0"/>
                <a:ea typeface="Calibri" pitchFamily="34" charset="-122"/>
                <a:cs typeface="Calibri" pitchFamily="34" charset="-120"/>
              </a:rPr>
              <a:t>Observability for AI Systems</a:t>
            </a:r>
            <a:endParaRPr lang="en-US" sz="1600" dirty="0"/>
          </a:p>
        </p:txBody>
      </p:sp>
      <p:sp>
        <p:nvSpPr>
          <p:cNvPr id="5" name="Footer"/>
          <p:cNvSpPr/>
          <p:nvPr/>
        </p:nvSpPr>
        <p:spPr>
          <a:xfrm>
            <a:off x="457200" y="6537960"/>
            <a:ext cx="11155680" cy="274320"/>
          </a:xfrm>
          <a:prstGeom prst="rect">
            <a:avLst/>
          </a:prstGeom>
          <a:noFill/>
          <a:ln/>
        </p:spPr>
        <p:txBody>
          <a:bodyPr wrap="square" rtlCol="0" anchor="ctr"/>
          <a:lstStyle/>
          <a:p>
            <a:pPr marL="0" indent="0">
              <a:buNone/>
            </a:pPr>
            <a:r>
              <a:rPr lang="en-US" sz="1000" dirty="0">
                <a:solidFill>
                  <a:srgbClr val="7F7F7F"/>
                </a:solidFill>
                <a:latin typeface="Calibri" pitchFamily="34" charset="0"/>
                <a:ea typeface="Calibri" pitchFamily="34" charset="-122"/>
                <a:cs typeface="Calibri" pitchFamily="34" charset="-120"/>
              </a:rPr>
              <a:t>#Azure Developer Community Tamil Nadu								                     #Innovation AI Chennai</a:t>
            </a:r>
            <a:endParaRPr lang="en-US" sz="1000" dirty="0"/>
          </a:p>
        </p:txBody>
      </p:sp>
      <p:sp>
        <p:nvSpPr>
          <p:cNvPr id="6" name="Text 4"/>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7F7F7F"/>
                </a:solidFill>
                <a:latin typeface="Calibri" pitchFamily="34" charset="0"/>
                <a:ea typeface="Calibri" pitchFamily="34" charset="-122"/>
                <a:cs typeface="Calibri" pitchFamily="34" charset="-120"/>
              </a:rPr>
              <a:t>21</a:t>
            </a:r>
            <a:endParaRPr lang="en-US" sz="1000" dirty="0"/>
          </a:p>
        </p:txBody>
      </p:sp>
      <p:sp>
        <p:nvSpPr>
          <p:cNvPr id="10" name="RefHeading"/>
          <p:cNvSpPr/>
          <p:nvPr/>
        </p:nvSpPr>
        <p:spPr>
          <a:xfrm>
            <a:off x="579120" y="5051236"/>
            <a:ext cx="11064240" cy="180000"/>
          </a:xfrm>
          <a:prstGeom prst="rect">
            <a:avLst/>
          </a:prstGeom>
          <a:noFill/>
          <a:ln/>
        </p:spPr>
        <p:txBody>
          <a:bodyPr wrap="square" rtlCol="0" anchor="t"/>
          <a:lstStyle/>
          <a:p>
            <a:pPr marL="0" indent="0">
              <a:buNone/>
            </a:pPr>
            <a:r>
              <a:rPr lang="en-US" sz="1000" b="1" spc="150" dirty="0">
                <a:solidFill>
                  <a:srgbClr val="0078D4"/>
                </a:solidFill>
                <a:latin typeface="Calibri" pitchFamily="34" charset="0"/>
                <a:ea typeface="Calibri" pitchFamily="34" charset="-122"/>
                <a:cs typeface="Calibri" pitchFamily="34" charset="-120"/>
              </a:rPr>
              <a:t>FOR FURTHER READING</a:t>
            </a:r>
            <a:endParaRPr lang="en-US" sz="1000" b="1" dirty="0"/>
          </a:p>
        </p:txBody>
      </p:sp>
      <p:sp>
        <p:nvSpPr>
          <p:cNvPr id="11" name="RefColA"/>
          <p:cNvSpPr/>
          <p:nvPr/>
        </p:nvSpPr>
        <p:spPr>
          <a:xfrm>
            <a:off x="579120" y="5342702"/>
            <a:ext cx="3550000" cy="560000"/>
          </a:xfrm>
          <a:prstGeom prst="rect">
            <a:avLst/>
          </a:prstGeom>
          <a:noFill/>
          <a:ln/>
        </p:spPr>
        <p:txBody>
          <a:bodyPr wrap="square" rtlCol="0" anchor="t"/>
          <a:lstStyle/>
          <a:p>
            <a:pPr marL="171450" indent="-171450">
              <a:spcAft>
                <a:spcPts val="400"/>
              </a:spcAft>
              <a:buSzPct val="100000"/>
              <a:buChar char="•"/>
            </a:pPr>
            <a:r>
              <a:rPr lang="en-US" sz="1000" u="sng" dirty="0">
                <a:solidFill>
                  <a:srgbClr val="0078D4"/>
                </a:solidFill>
                <a:latin typeface="Calibri" pitchFamily="34" charset="0"/>
                <a:ea typeface="Calibri" pitchFamily="34" charset="-122"/>
                <a:cs typeface="Calibri" pitchFamily="34" charset="-120"/>
                <a:hlinkClick r:id="rId3"/>
              </a:rPr>
              <a:t>.NET 10 - What's New</a:t>
            </a:r>
            <a:endParaRPr lang="en-US" sz="1000" dirty="0"/>
          </a:p>
          <a:p>
            <a:pPr marL="171450" indent="-171450">
              <a:spcAft>
                <a:spcPts val="400"/>
              </a:spcAft>
              <a:buSzPct val="100000"/>
              <a:buChar char="•"/>
            </a:pPr>
            <a:r>
              <a:rPr lang="en-US" sz="1000" u="sng" dirty="0">
                <a:solidFill>
                  <a:srgbClr val="0078D4"/>
                </a:solidFill>
                <a:latin typeface="Calibri" pitchFamily="34" charset="0"/>
                <a:ea typeface="Calibri" pitchFamily="34" charset="-122"/>
                <a:cs typeface="Calibri" pitchFamily="34" charset="-120"/>
                <a:hlinkClick r:id="rId4"/>
              </a:rPr>
              <a:t>GitHub Copilot - Agent Mode &amp; MCP</a:t>
            </a:r>
            <a:endParaRPr lang="en-US" sz="1000" dirty="0"/>
          </a:p>
          <a:p>
            <a:pPr marL="171450" indent="-171450">
              <a:spcAft>
                <a:spcPts val="400"/>
              </a:spcAft>
              <a:buSzPct val="100000"/>
              <a:buChar char="•"/>
            </a:pPr>
            <a:r>
              <a:rPr lang="en-US" sz="1000" u="sng" dirty="0">
                <a:solidFill>
                  <a:srgbClr val="0078D4"/>
                </a:solidFill>
                <a:latin typeface="Calibri" pitchFamily="34" charset="0"/>
                <a:ea typeface="Calibri" pitchFamily="34" charset="-122"/>
                <a:cs typeface="Calibri" pitchFamily="34" charset="-120"/>
                <a:hlinkClick r:id="rId5"/>
              </a:rPr>
              <a:t>Model Context Protocol - Spec &amp; Docs</a:t>
            </a:r>
            <a:endParaRPr lang="en-US" sz="1000" dirty="0"/>
          </a:p>
        </p:txBody>
      </p:sp>
      <p:sp>
        <p:nvSpPr>
          <p:cNvPr id="12" name="RefColB"/>
          <p:cNvSpPr/>
          <p:nvPr/>
        </p:nvSpPr>
        <p:spPr>
          <a:xfrm>
            <a:off x="579120" y="5955977"/>
            <a:ext cx="3550000" cy="560000"/>
          </a:xfrm>
          <a:prstGeom prst="rect">
            <a:avLst/>
          </a:prstGeom>
          <a:noFill/>
          <a:ln/>
        </p:spPr>
        <p:txBody>
          <a:bodyPr wrap="square" rtlCol="0" anchor="t"/>
          <a:lstStyle/>
          <a:p>
            <a:pPr marL="171450" indent="-171450">
              <a:spcAft>
                <a:spcPts val="400"/>
              </a:spcAft>
              <a:buSzPct val="100000"/>
              <a:buChar char="•"/>
            </a:pPr>
            <a:r>
              <a:rPr lang="en-US" sz="1000" u="sng" dirty="0">
                <a:solidFill>
                  <a:srgbClr val="0078D4"/>
                </a:solidFill>
                <a:latin typeface="Calibri" pitchFamily="34" charset="0"/>
                <a:ea typeface="Calibri" pitchFamily="34" charset="-122"/>
                <a:cs typeface="Calibri" pitchFamily="34" charset="-120"/>
                <a:hlinkClick r:id="rId6"/>
              </a:rPr>
              <a:t>Microsoft Agent Framework Docs</a:t>
            </a:r>
            <a:endParaRPr lang="en-US" sz="1000" dirty="0"/>
          </a:p>
          <a:p>
            <a:pPr marL="171450" indent="-171450">
              <a:spcAft>
                <a:spcPts val="400"/>
              </a:spcAft>
              <a:buSzPct val="100000"/>
              <a:buChar char="•"/>
            </a:pPr>
            <a:r>
              <a:rPr lang="en-US" sz="1000" u="sng" dirty="0">
                <a:solidFill>
                  <a:srgbClr val="0078D4"/>
                </a:solidFill>
                <a:latin typeface="Calibri" pitchFamily="34" charset="0"/>
                <a:ea typeface="Calibri" pitchFamily="34" charset="-122"/>
                <a:cs typeface="Calibri" pitchFamily="34" charset="-120"/>
                <a:hlinkClick r:id="rId7"/>
              </a:rPr>
              <a:t>Azure AI Foundry Agent Service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78D4"/>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78D4"/>
          </a:solidFill>
          <a:ln/>
        </p:spPr>
        <p:txBody>
          <a:bodyPr/>
          <a:lstStyle/>
          <a:p>
            <a:endParaRPr lang="en-IN"/>
          </a:p>
        </p:txBody>
      </p:sp>
      <p:sp>
        <p:nvSpPr>
          <p:cNvPr id="3" name="Top Heading"/>
          <p:cNvSpPr/>
          <p:nvPr/>
        </p:nvSpPr>
        <p:spPr>
          <a:xfrm>
            <a:off x="822960" y="640080"/>
            <a:ext cx="10515600" cy="1097280"/>
          </a:xfrm>
          <a:prstGeom prst="rect">
            <a:avLst/>
          </a:prstGeom>
          <a:noFill/>
          <a:ln/>
        </p:spPr>
        <p:txBody>
          <a:bodyPr wrap="square" rtlCol="0" anchor="ctr"/>
          <a:lstStyle/>
          <a:p>
            <a:pPr marL="0" indent="0">
              <a:buNone/>
            </a:pPr>
            <a:r>
              <a:rPr lang="en-US" sz="4400" dirty="0">
                <a:solidFill>
                  <a:srgbClr val="FFFFFF"/>
                </a:solidFill>
                <a:latin typeface="Calibri Light" pitchFamily="34" charset="0"/>
                <a:ea typeface="Calibri Light" pitchFamily="34" charset="-122"/>
                <a:cs typeface="Calibri Light" pitchFamily="34" charset="-120"/>
              </a:rPr>
              <a:t>Questions &amp; Answers</a:t>
            </a:r>
            <a:endParaRPr lang="en-US" sz="4400" dirty="0"/>
          </a:p>
        </p:txBody>
      </p:sp>
      <p:pic>
        <p:nvPicPr>
          <p:cNvPr id="7" name="LinkedIn QR Code"/>
          <p:cNvPicPr>
            <a:picLocks noChangeAspect="1"/>
          </p:cNvPicPr>
          <p:nvPr/>
        </p:nvPicPr>
        <p:blipFill>
          <a:blip r:embed="rId3"/>
          <a:stretch>
            <a:fillRect/>
          </a:stretch>
        </p:blipFill>
        <p:spPr>
          <a:xfrm>
            <a:off x="4095800" y="2700000"/>
            <a:ext cx="1600200" cy="1600200"/>
          </a:xfrm>
          <a:prstGeom prst="rect">
            <a:avLst/>
          </a:prstGeom>
          <a:ln w="12700">
            <a:solidFill>
              <a:srgbClr val="FFFFFF"/>
            </a:solidFill>
          </a:ln>
        </p:spPr>
      </p:pic>
      <p:sp>
        <p:nvSpPr>
          <p:cNvPr id="8" name="QR Caption"/>
          <p:cNvSpPr/>
          <p:nvPr/>
        </p:nvSpPr>
        <p:spPr>
          <a:xfrm>
            <a:off x="3595700" y="4390200"/>
            <a:ext cx="2600400" cy="36576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Connect on LinkedIn</a:t>
            </a:r>
          </a:p>
        </p:txBody>
      </p:sp>
      <p:pic>
        <p:nvPicPr>
          <p:cNvPr id="5" name="Speaker Photo"/>
          <p:cNvPicPr>
            <a:picLocks noChangeAspect="1"/>
          </p:cNvPicPr>
          <p:nvPr/>
        </p:nvPicPr>
        <p:blipFill>
          <a:blip r:embed="rId4"/>
          <a:stretch>
            <a:fillRect/>
          </a:stretch>
        </p:blipFill>
        <p:spPr>
          <a:xfrm>
            <a:off x="6496000" y="2700000"/>
            <a:ext cx="1600200" cy="1600200"/>
          </a:xfrm>
          <a:prstGeom prst="rect">
            <a:avLst/>
          </a:prstGeom>
        </p:spPr>
      </p:pic>
      <p:sp>
        <p:nvSpPr>
          <p:cNvPr id="6" name="Speaker Name"/>
          <p:cNvSpPr/>
          <p:nvPr/>
        </p:nvSpPr>
        <p:spPr>
          <a:xfrm>
            <a:off x="5995900" y="4390200"/>
            <a:ext cx="2600400" cy="36576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Naveen Prabhu Chinnadurai</a:t>
            </a:r>
          </a:p>
        </p:txBody>
      </p:sp>
      <p:sp>
        <p:nvSpPr>
          <p:cNvPr id="9" name="Thank You Bottom"/>
          <p:cNvSpPr/>
          <p:nvPr/>
        </p:nvSpPr>
        <p:spPr>
          <a:xfrm>
            <a:off x="7791242" y="5486400"/>
            <a:ext cx="3600000" cy="1005840"/>
          </a:xfrm>
          <a:prstGeom prst="rect">
            <a:avLst/>
          </a:prstGeom>
          <a:noFill/>
          <a:ln/>
        </p:spPr>
        <p:txBody>
          <a:bodyPr wrap="square" rtlCol="0" anchor="ctr"/>
          <a:lstStyle/>
          <a:p>
            <a:pPr marL="0" indent="0" algn="r">
              <a:buNone/>
            </a:pPr>
            <a:r>
              <a:rPr lang="en-US" sz="3200" dirty="0">
                <a:solidFill>
                  <a:srgbClr val="FFFFFF"/>
                </a:solidFill>
                <a:latin typeface="Calibri Light" pitchFamily="34" charset="0"/>
                <a:ea typeface="Calibri Light" pitchFamily="34" charset="-122"/>
                <a:cs typeface="Calibri Light" pitchFamily="34" charset="-120"/>
              </a:rPr>
              <a:t>Thank You!</a:t>
            </a:r>
          </a:p>
          <a:p>
            <a:pPr marL="0" indent="0" algn="r">
              <a:buNone/>
            </a:pPr>
            <a:r>
              <a:rPr lang="ta-IN" sz="2400" dirty="0">
                <a:solidFill>
                  <a:srgbClr val="D9E8F7"/>
                </a:solidFill>
                <a:latin typeface="Nirmala UI" pitchFamily="2" charset="0"/>
                <a:ea typeface="Nirmala UI" pitchFamily="2" charset="0"/>
                <a:cs typeface="Nirmala UI" pitchFamily="2" charset="0"/>
              </a:rPr>
              <a:t>நன்றி</a:t>
            </a:r>
            <a:r>
              <a:rPr lang="en-IN" sz="2400" dirty="0">
                <a:solidFill>
                  <a:srgbClr val="D9E8F7"/>
                </a:solidFill>
                <a:latin typeface="Nirmala UI" pitchFamily="2" charset="0"/>
                <a:ea typeface="Nirmala UI" pitchFamily="2" charset="0"/>
                <a:cs typeface="Nirmala UI" pitchFamily="2" charset="0"/>
              </a:rPr>
              <a:t>!</a:t>
            </a:r>
            <a:endParaRPr lang="en-US" sz="2400" dirty="0">
              <a:latin typeface="Nirmala UI" pitchFamily="2" charset="0"/>
              <a:cs typeface="Nirmala UI"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1660</TotalTime>
  <Words>2311</Words>
  <PresentationFormat>Widescreen</PresentationFormat>
  <Paragraphs>298</Paragraphs>
  <Slides>22</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Nirmala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2026-08-01T13:11:54Z</dcterms:created>
  <dcterms:modified xsi:type="dcterms:W3CDTF">2026-08-08T02:14:06Z</dcterms:modified>
</cp:coreProperties>
</file>