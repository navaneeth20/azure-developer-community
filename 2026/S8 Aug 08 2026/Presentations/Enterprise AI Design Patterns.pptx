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5"/>
  </p:notesMasterIdLst>
  <p:sldIdLst>
    <p:sldId id="260" r:id="rId2"/>
    <p:sldId id="300" r:id="rId3"/>
    <p:sldId id="416" r:id="rId4"/>
    <p:sldId id="282" r:id="rId5"/>
    <p:sldId id="417" r:id="rId6"/>
    <p:sldId id="289" r:id="rId7"/>
    <p:sldId id="294" r:id="rId8"/>
    <p:sldId id="298" r:id="rId9"/>
    <p:sldId id="299" r:id="rId10"/>
    <p:sldId id="420" r:id="rId11"/>
    <p:sldId id="423" r:id="rId12"/>
    <p:sldId id="426" r:id="rId13"/>
    <p:sldId id="429" r:id="rId14"/>
    <p:sldId id="432" r:id="rId15"/>
    <p:sldId id="435" r:id="rId16"/>
    <p:sldId id="438" r:id="rId17"/>
    <p:sldId id="441" r:id="rId18"/>
    <p:sldId id="444" r:id="rId19"/>
    <p:sldId id="310" r:id="rId20"/>
    <p:sldId id="311" r:id="rId21"/>
    <p:sldId id="415" r:id="rId22"/>
    <p:sldId id="371" r:id="rId23"/>
    <p:sldId id="3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EEC27C-F35D-4907-97B1-53DB2056695F}" v="27" dt="2026-08-08T04:13:15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83797" autoAdjust="0"/>
  </p:normalViewPr>
  <p:slideViewPr>
    <p:cSldViewPr snapToGrid="0">
      <p:cViewPr>
        <p:scale>
          <a:sx n="76" d="100"/>
          <a:sy n="76" d="100"/>
        </p:scale>
        <p:origin x="968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569F1-5B70-455E-951E-AFC78D6CE280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4D146-51E0-4D75-8534-1A6CDE4617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8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783E-2299-8EC0-8E14-B9B7118D7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4EDF1-CE91-16CB-9C25-A376B44BE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A72C9-3EDB-95B0-A89D-2CB1A3B33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778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3B87-ADBB-991D-4442-1EDE1877B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61C29-B7C2-8946-911C-0179632AF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1C072-9FAF-B73E-FC7D-181CF3C3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0C2A7-6331-08C2-CD49-2E0077DB3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F62A9-23F6-ABF0-119C-6E023F5A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68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956A-6FC3-E893-AF98-EA124E5F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7FED3-F04E-0BFB-3CE1-F6B35295E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66BCD-FAED-9AC5-6260-E17D451B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97E68-A05A-A027-A959-82D826621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B6D5C-0F2D-E864-CD8D-CDD685E0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935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744C-B9ED-0022-1A7D-F9205A9A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E8890-6F4C-9BC7-4268-5B71B18BC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63B51-901F-6928-F634-416589B8D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8AF7E-7976-A7D1-8F1A-DA0CB02A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D109A-DC96-7DA5-338E-B8F6095B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791F7-587D-E18E-EBEE-BA9FA547B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73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D6A8-FE80-FAC2-0F25-CBBF2039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EB5F9-0B41-EB02-B8EE-3B54ED143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9174C-A496-E21A-F778-BC00CCF0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32602-1521-60D4-8EDA-5732C9CF4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713D6-204C-000C-DD34-0577C4CE0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5667B-B2A0-C8CC-4862-C3880A4A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4AEB5-2BED-34AD-45E7-D54FA2CA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CD492A-EB5E-6A42-78F8-3AB8CCE18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59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B056-09C7-8BD7-2B7B-22BDB5B0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6536C-5846-FF4A-0558-BF0E74AF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95B3C-238C-7509-2A87-CB7AB825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C7974-C5CE-810D-AD99-1727EFB4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97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30C95-6073-83A4-5DEC-75A151BB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533195-A570-2F1C-3F83-C59E9CA19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3F41D-7F75-81BD-3BD3-AE5493AA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944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50CE-A9B3-CBE0-1354-9EF948B86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5E4B-E62A-7927-C1E9-E559AB78E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DF0065-0D35-B429-5BC8-2C2292AA4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6A1C5-F123-A23B-5BF4-564D4C59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25164-CA3A-BFAE-25C7-4E9D3708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86B8D-E193-0837-8D13-4FFB8CC2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598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659F8-45AA-59C9-A827-1A3ABC7D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509B8-00AD-9C43-758C-44A177F0EF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29D60-1E14-666C-84FE-F45F661D3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A3B62-289F-AE46-D95A-4CA3A8ED5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219D3-873A-0436-F880-69D67A19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2AC40-1066-6539-486F-4B12CDA0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4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F6008-ED9A-D6F9-4266-22A31F33A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41FBD2-A170-249F-5304-6413C0CE5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DE04-3B11-0EC6-570E-B8BEA178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BD9DC-5857-B46C-DB4E-6D1B06BF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0C286-A143-9C92-36BD-AB39EF40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39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331D0-EB32-4D14-5BAC-80FF468CFC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A9277-BFA6-76F7-9549-06762E515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7EF08-2303-780D-0D5F-F09C3B90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05AC4-E79C-26F1-110C-F9B93F59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BEB8D-9B7F-FA32-200E-7AA96974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80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BF4C-A701-33B3-E799-1168C075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C6F4-6B9B-87D0-E84C-D1020340A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C4086-8646-19E2-705A-08F53614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F3EF-B3BF-4E4E-A9D1-969FC8FCCEE8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B8011-49CE-DFF1-3784-EF402D223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65262-B4AE-11EE-1569-23FE8566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A790B-7E97-4A77-9107-3F64BF3F40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9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0FB351-7826-6826-151D-03BC6634B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D2E02-781C-1B4C-5098-F10BBCCBC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99B2-D6C8-DC05-CBB9-D625DA1A7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E79E0-F8A6-43AE-8C44-4D4DB39C379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77DF3-351D-B65B-50EB-6335611AB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C6320-5B98-B80F-2A72-917164418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D1953-68FF-4ED4-ADD1-3693B8887C8A}" type="slidenum">
              <a:rPr lang="en-IN" smtClean="0"/>
              <a:t>‹#›</a:t>
            </a:fld>
            <a:endParaRPr lang="en-IN"/>
          </a:p>
        </p:txBody>
      </p:sp>
      <p:sp>
        <p:nvSpPr>
          <p:cNvPr id="901" name="Accent Bar Top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Corner Accent Triangle"/>
          <p:cNvSpPr/>
          <p:nvPr/>
        </p:nvSpPr>
        <p:spPr>
          <a:xfrm rot="10800000" flipH="1">
            <a:off x="9792000" y="5358000"/>
            <a:ext cx="2400000" cy="1500000"/>
          </a:xfrm>
          <a:prstGeom prst="triangle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Corner Accent Line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chemeClr val="accent3">
              <a:alpha val="55000"/>
            </a:scheme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0" name="MS Logo Red"/>
          <p:cNvSpPr/>
          <p:nvPr/>
        </p:nvSpPr>
        <p:spPr>
          <a:xfrm>
            <a:off x="457200" y="6324600"/>
            <a:ext cx="114300" cy="114300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1" name="MS Logo Green"/>
          <p:cNvSpPr/>
          <p:nvPr/>
        </p:nvSpPr>
        <p:spPr>
          <a:xfrm>
            <a:off x="609600" y="6324600"/>
            <a:ext cx="114300" cy="11430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2" name="MS Logo Blue"/>
          <p:cNvSpPr/>
          <p:nvPr/>
        </p:nvSpPr>
        <p:spPr>
          <a:xfrm>
            <a:off x="457200" y="6477000"/>
            <a:ext cx="114300" cy="11430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3" name="MS Logo Yellow"/>
          <p:cNvSpPr/>
          <p:nvPr/>
        </p:nvSpPr>
        <p:spPr>
          <a:xfrm>
            <a:off x="609600" y="6477000"/>
            <a:ext cx="114300" cy="1143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24" name="MS Wordmark"/>
          <p:cNvSpPr txBox="1"/>
          <p:nvPr/>
        </p:nvSpPr>
        <p:spPr>
          <a:xfrm>
            <a:off x="850900" y="6286500"/>
            <a:ext cx="1778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>
              <a:buNone/>
            </a:pPr>
            <a:r>
              <a:rPr lang="en-US" sz="1600" dirty="0">
                <a:solidFill>
                  <a:schemeClr val="tx1"/>
                </a:solidFill>
              </a:rPr>
              <a:t>Microsoft</a:t>
            </a:r>
          </a:p>
        </p:txBody>
      </p:sp>
      <p:sp>
        <p:nvSpPr>
          <p:cNvPr id="925" name=".NET Logo Badge"/>
          <p:cNvSpPr/>
          <p:nvPr/>
        </p:nvSpPr>
        <p:spPr>
          <a:xfrm>
            <a:off x="2946400" y="6299200"/>
            <a:ext cx="609600" cy="406400"/>
          </a:xfrm>
          <a:prstGeom prst="roundRect">
            <a:avLst>
              <a:gd name="adj" fmla="val 16667"/>
            </a:avLst>
          </a:prstGeom>
          <a:solidFill>
            <a:srgbClr val="512BD4"/>
          </a:soli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.NET</a:t>
            </a:r>
          </a:p>
        </p:txBody>
      </p:sp>
      <p:sp>
        <p:nvSpPr>
          <p:cNvPr id="926" name="AI Foundry Logo Badge"/>
          <p:cNvSpPr/>
          <p:nvPr/>
        </p:nvSpPr>
        <p:spPr>
          <a:xfrm>
            <a:off x="3784600" y="6299200"/>
            <a:ext cx="1270000" cy="4064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0078D4"/>
              </a:gs>
              <a:gs pos="100000">
                <a:srgbClr val="00B7C3"/>
              </a:gs>
            </a:gsLst>
            <a:lin ang="2700000" scaled="1"/>
          </a:gradFill>
          <a:ln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Foundry</a:t>
            </a:r>
          </a:p>
        </p:txBody>
      </p:sp>
    </p:spTree>
    <p:extLst>
      <p:ext uri="{BB962C8B-B14F-4D97-AF65-F5344CB8AC3E}">
        <p14:creationId xmlns:p14="http://schemas.microsoft.com/office/powerpoint/2010/main" val="3233030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chemeClr val="tx1"/>
          </a:solidFill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CA49-7C6A-D856-8DAC-7B6717FCA9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Enterprise AI Design Patterns in .NET 10(LTS) using Foundry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BF074-0B18-EF65-D550-B689417CAD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Karthikeyan VK</a:t>
            </a:r>
          </a:p>
          <a:p>
            <a:r>
              <a:rPr lang="en-IN"/>
              <a:t>Microsoft AI MVP</a:t>
            </a:r>
          </a:p>
        </p:txBody>
      </p:sp>
    </p:spTree>
    <p:extLst>
      <p:ext uri="{BB962C8B-B14F-4D97-AF65-F5344CB8AC3E}">
        <p14:creationId xmlns:p14="http://schemas.microsoft.com/office/powerpoint/2010/main" val="292403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952C4-2132-C1B9-21E8-21D102D6C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AI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58AF3-348E-0E19-2D9D-C178FA9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44" y="2827309"/>
            <a:ext cx="11446625" cy="21104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6000" b="1" dirty="0"/>
              <a:t>AI writes Every code. Why should I care?</a:t>
            </a:r>
            <a:br>
              <a:rPr lang="en-IN" sz="6000" dirty="0"/>
            </a:b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62812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BD0E-EE67-92F8-2D4E-BE6F7797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5F73-ED46-C15A-1FC9-8FE01224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AI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CB4B6-4022-DB65-007B-47CBC2AF6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1691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AI writes Every code. Why should I care?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E376B9-A075-A832-239A-37DB19E48ABE}"/>
              </a:ext>
            </a:extLst>
          </p:cNvPr>
          <p:cNvSpPr/>
          <p:nvPr/>
        </p:nvSpPr>
        <p:spPr>
          <a:xfrm>
            <a:off x="838200" y="25400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E326D0-52B2-9302-B69F-663D3B2A8CD2}"/>
              </a:ext>
            </a:extLst>
          </p:cNvPr>
          <p:cNvSpPr txBox="1"/>
          <p:nvPr/>
        </p:nvSpPr>
        <p:spPr>
          <a:xfrm>
            <a:off x="1905000" y="3136384"/>
            <a:ext cx="37338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IN" b="1" dirty="0"/>
              <a:t>It works… until it doesn't</a:t>
            </a:r>
            <a:endParaRPr lang="en-IN" b="1" dirty="0">
              <a:solidFill>
                <a:srgbClr val="F5F6FA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A94462-09FC-B2B2-C241-1062D42FCF0A}"/>
              </a:ext>
            </a:extLst>
          </p:cNvPr>
          <p:cNvSpPr/>
          <p:nvPr/>
        </p:nvSpPr>
        <p:spPr>
          <a:xfrm>
            <a:off x="6248400" y="25400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DB8CA4-5647-248C-93C5-07849333E498}"/>
              </a:ext>
            </a:extLst>
          </p:cNvPr>
          <p:cNvSpPr txBox="1"/>
          <p:nvPr/>
        </p:nvSpPr>
        <p:spPr>
          <a:xfrm>
            <a:off x="7315200" y="3136384"/>
            <a:ext cx="37338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IN" b="1" dirty="0"/>
              <a:t>Complexity explosion</a:t>
            </a:r>
            <a:endParaRPr lang="en-IN" b="1" dirty="0">
              <a:solidFill>
                <a:srgbClr val="F5F6FA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6235A0-9390-BB80-AEE1-169BA5CA7C4C}"/>
              </a:ext>
            </a:extLst>
          </p:cNvPr>
          <p:cNvSpPr/>
          <p:nvPr/>
        </p:nvSpPr>
        <p:spPr>
          <a:xfrm>
            <a:off x="838200" y="44069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9D5D81-F982-93FF-7687-B36C5E47209D}"/>
              </a:ext>
            </a:extLst>
          </p:cNvPr>
          <p:cNvSpPr txBox="1"/>
          <p:nvPr/>
        </p:nvSpPr>
        <p:spPr>
          <a:xfrm>
            <a:off x="1905000" y="5003283"/>
            <a:ext cx="37338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IN" dirty="0"/>
              <a:t>Hallucinations, false positives</a:t>
            </a:r>
            <a:endParaRPr lang="en-IN" b="1" dirty="0">
              <a:solidFill>
                <a:srgbClr val="F5F6FA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95C53E-EBE5-F714-B401-E289885981D6}"/>
              </a:ext>
            </a:extLst>
          </p:cNvPr>
          <p:cNvSpPr/>
          <p:nvPr/>
        </p:nvSpPr>
        <p:spPr>
          <a:xfrm>
            <a:off x="6248400" y="44069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FE969D-256E-C487-C149-53605BE3090E}"/>
              </a:ext>
            </a:extLst>
          </p:cNvPr>
          <p:cNvSpPr txBox="1"/>
          <p:nvPr/>
        </p:nvSpPr>
        <p:spPr>
          <a:xfrm>
            <a:off x="7315200" y="5003284"/>
            <a:ext cx="37338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IN" b="1" dirty="0"/>
              <a:t>Impossible to prove quality</a:t>
            </a:r>
            <a:endParaRPr lang="en-IN" b="1" dirty="0">
              <a:solidFill>
                <a:srgbClr val="F5F6FA"/>
              </a:solidFill>
            </a:endParaRPr>
          </a:p>
        </p:txBody>
      </p:sp>
      <p:pic>
        <p:nvPicPr>
          <p:cNvPr id="20" name="Graphic 20" descr="Architecture blueprint icon">
            <a:extLst>
              <a:ext uri="{FF2B5EF4-FFF2-40B4-BE49-F238E27FC236}">
                <a16:creationId xmlns:a16="http://schemas.microsoft.com/office/drawing/2014/main" id="{F0252C0F-1841-693C-E6CE-87A1D9F935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048000"/>
            <a:ext cx="558800" cy="558800"/>
          </a:xfrm>
          <a:prstGeom prst="rect">
            <a:avLst/>
          </a:prstGeom>
        </p:spPr>
      </p:pic>
      <p:pic>
        <p:nvPicPr>
          <p:cNvPr id="21" name="Graphic 21" descr="AI coding tools icon">
            <a:extLst>
              <a:ext uri="{FF2B5EF4-FFF2-40B4-BE49-F238E27FC236}">
                <a16:creationId xmlns:a16="http://schemas.microsoft.com/office/drawing/2014/main" id="{6ACF98B4-56B2-ECD5-9A27-E026BFA61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3200" y="3048000"/>
            <a:ext cx="558800" cy="558800"/>
          </a:xfrm>
          <a:prstGeom prst="rect">
            <a:avLst/>
          </a:prstGeom>
        </p:spPr>
      </p:pic>
      <p:pic>
        <p:nvPicPr>
          <p:cNvPr id="22" name="Graphic 22" descr="Failure modes bug icon">
            <a:extLst>
              <a:ext uri="{FF2B5EF4-FFF2-40B4-BE49-F238E27FC236}">
                <a16:creationId xmlns:a16="http://schemas.microsoft.com/office/drawing/2014/main" id="{2B5580A4-B022-CBE9-C089-BA4C391D3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914900"/>
            <a:ext cx="558800" cy="558800"/>
          </a:xfrm>
          <a:prstGeom prst="rect">
            <a:avLst/>
          </a:prstGeom>
        </p:spPr>
      </p:pic>
      <p:pic>
        <p:nvPicPr>
          <p:cNvPr id="23" name="Graphic 23" descr="Reliable agents shield icon">
            <a:extLst>
              <a:ext uri="{FF2B5EF4-FFF2-40B4-BE49-F238E27FC236}">
                <a16:creationId xmlns:a16="http://schemas.microsoft.com/office/drawing/2014/main" id="{1F1544FD-99D7-D23F-3099-49074444AE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49149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8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8D5D9-7E4F-A299-A4D3-C13ED606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3A0F-9515-591E-14BD-92DFD309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AI Design Patterns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8DD0A-4554-46E8-B06D-2B1DC6914BB1}"/>
              </a:ext>
            </a:extLst>
          </p:cNvPr>
          <p:cNvSpPr txBox="1"/>
          <p:nvPr/>
        </p:nvSpPr>
        <p:spPr>
          <a:xfrm>
            <a:off x="838200" y="1828800"/>
            <a:ext cx="105156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9A9FBD"/>
                </a:solidFill>
              </a:rPr>
              <a:t>AI Design Patterns are reusable approaches for solving common problems when building AI applications and agents.</a:t>
            </a:r>
            <a:endParaRPr lang="en-IN" sz="1600">
              <a:solidFill>
                <a:srgbClr val="9A9FBD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E62E17-F859-426D-ACAD-170EE62D0EEE}"/>
              </a:ext>
            </a:extLst>
          </p:cNvPr>
          <p:cNvSpPr/>
          <p:nvPr/>
        </p:nvSpPr>
        <p:spPr>
          <a:xfrm>
            <a:off x="838200" y="24765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8AAB3-D3F2-4EBF-8CCB-D0D97B017683}"/>
              </a:ext>
            </a:extLst>
          </p:cNvPr>
          <p:cNvSpPr txBox="1"/>
          <p:nvPr/>
        </p:nvSpPr>
        <p:spPr>
          <a:xfrm>
            <a:off x="1651000" y="24765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Use context &amp;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389D76-CD32-429A-82EF-9729EEA6BC50}"/>
              </a:ext>
            </a:extLst>
          </p:cNvPr>
          <p:cNvSpPr/>
          <p:nvPr/>
        </p:nvSpPr>
        <p:spPr>
          <a:xfrm>
            <a:off x="4406900" y="24765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60732-DD5A-4A86-9037-292F7DCF8CBA}"/>
              </a:ext>
            </a:extLst>
          </p:cNvPr>
          <p:cNvSpPr txBox="1"/>
          <p:nvPr/>
        </p:nvSpPr>
        <p:spPr>
          <a:xfrm>
            <a:off x="5219700" y="24765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600" b="1">
                <a:solidFill>
                  <a:srgbClr val="F5F6FA"/>
                </a:solidFill>
              </a:rPr>
              <a:t>Know when to call tools</a:t>
            </a:r>
            <a:endParaRPr lang="en-IN" sz="1600" b="1">
              <a:solidFill>
                <a:srgbClr val="F5F6FA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46A254-5E38-44FD-930A-17DDD9A24E67}"/>
              </a:ext>
            </a:extLst>
          </p:cNvPr>
          <p:cNvSpPr/>
          <p:nvPr/>
        </p:nvSpPr>
        <p:spPr>
          <a:xfrm>
            <a:off x="7975600" y="24765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7E1B9-5F05-4BF0-B8C3-73330D850B22}"/>
              </a:ext>
            </a:extLst>
          </p:cNvPr>
          <p:cNvSpPr txBox="1"/>
          <p:nvPr/>
        </p:nvSpPr>
        <p:spPr>
          <a:xfrm>
            <a:off x="8788400" y="24765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Control hallucinations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5B599E-DBF7-4842-AF66-66D0880B6E8C}"/>
              </a:ext>
            </a:extLst>
          </p:cNvPr>
          <p:cNvSpPr/>
          <p:nvPr/>
        </p:nvSpPr>
        <p:spPr>
          <a:xfrm>
            <a:off x="838200" y="44323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9DD06-772C-4CE1-8B16-9FCF601F9949}"/>
              </a:ext>
            </a:extLst>
          </p:cNvPr>
          <p:cNvSpPr txBox="1"/>
          <p:nvPr/>
        </p:nvSpPr>
        <p:spPr>
          <a:xfrm>
            <a:off x="1651000" y="44323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Validate &amp; retry output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36B4DC-1C77-4661-AA6C-C1C8445E80B6}"/>
              </a:ext>
            </a:extLst>
          </p:cNvPr>
          <p:cNvSpPr/>
          <p:nvPr/>
        </p:nvSpPr>
        <p:spPr>
          <a:xfrm>
            <a:off x="4406900" y="44323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037EA-58C4-451F-9820-515BD85E207F}"/>
              </a:ext>
            </a:extLst>
          </p:cNvPr>
          <p:cNvSpPr txBox="1"/>
          <p:nvPr/>
        </p:nvSpPr>
        <p:spPr>
          <a:xfrm>
            <a:off x="5219700" y="44323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Handle complex tasks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116295-09D0-477A-AA4E-41757A9173D9}"/>
              </a:ext>
            </a:extLst>
          </p:cNvPr>
          <p:cNvSpPr/>
          <p:nvPr/>
        </p:nvSpPr>
        <p:spPr>
          <a:xfrm>
            <a:off x="7975600" y="44323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D226A4-54B5-46DC-B818-457A553A132D}"/>
              </a:ext>
            </a:extLst>
          </p:cNvPr>
          <p:cNvSpPr txBox="1"/>
          <p:nvPr/>
        </p:nvSpPr>
        <p:spPr>
          <a:xfrm>
            <a:off x="8788400" y="44323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Judge response quality</a:t>
            </a:r>
          </a:p>
        </p:txBody>
      </p:sp>
      <p:pic>
        <p:nvPicPr>
          <p:cNvPr id="17" name="Graphic 17" descr="Context and data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124200"/>
            <a:ext cx="457200" cy="457200"/>
          </a:xfrm>
          <a:prstGeom prst="rect">
            <a:avLst/>
          </a:prstGeom>
        </p:spPr>
      </p:pic>
      <p:pic>
        <p:nvPicPr>
          <p:cNvPr id="18" name="Graphic 18" descr="Tool ca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124200"/>
            <a:ext cx="457200" cy="457200"/>
          </a:xfrm>
          <a:prstGeom prst="rect">
            <a:avLst/>
          </a:prstGeom>
        </p:spPr>
      </p:pic>
      <p:pic>
        <p:nvPicPr>
          <p:cNvPr id="19" name="Graphic 19" descr="Control hallucinat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124200"/>
            <a:ext cx="457200" cy="457200"/>
          </a:xfrm>
          <a:prstGeom prst="rect">
            <a:avLst/>
          </a:prstGeom>
        </p:spPr>
      </p:pic>
      <p:pic>
        <p:nvPicPr>
          <p:cNvPr id="20" name="Graphic 20" descr="Validate and ret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400" y="5080000"/>
            <a:ext cx="457200" cy="457200"/>
          </a:xfrm>
          <a:prstGeom prst="rect">
            <a:avLst/>
          </a:prstGeom>
        </p:spPr>
      </p:pic>
      <p:pic>
        <p:nvPicPr>
          <p:cNvPr id="21" name="Graphic 21" descr="Complex task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0100" y="5080000"/>
            <a:ext cx="457200" cy="457200"/>
          </a:xfrm>
          <a:prstGeom prst="rect">
            <a:avLst/>
          </a:prstGeom>
        </p:spPr>
      </p:pic>
      <p:pic>
        <p:nvPicPr>
          <p:cNvPr id="22" name="Graphic 22" descr="Response qualit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8800" y="5080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473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23FC-5774-3428-4A5E-FF2653D4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Category of AI Design Pattern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2D5990-DF64-4D16-9002-FA30F6B921EA}"/>
              </a:ext>
            </a:extLst>
          </p:cNvPr>
          <p:cNvSpPr/>
          <p:nvPr/>
        </p:nvSpPr>
        <p:spPr>
          <a:xfrm>
            <a:off x="838200" y="29845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D3B17-9C3A-440B-98DA-EFF71D174B13}"/>
              </a:ext>
            </a:extLst>
          </p:cNvPr>
          <p:cNvSpPr txBox="1"/>
          <p:nvPr/>
        </p:nvSpPr>
        <p:spPr>
          <a:xfrm>
            <a:off x="838200" y="4889500"/>
            <a:ext cx="3365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IN" sz="2000" b="1" dirty="0">
                <a:solidFill>
                  <a:srgbClr val="F5F6FA"/>
                </a:solidFill>
              </a:rPr>
              <a:t>Foundation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D5DC43-6279-459D-94CB-8B47178C2D4B}"/>
              </a:ext>
            </a:extLst>
          </p:cNvPr>
          <p:cNvSpPr/>
          <p:nvPr/>
        </p:nvSpPr>
        <p:spPr>
          <a:xfrm>
            <a:off x="4406900" y="29845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12140D-4E0C-4A62-A188-C9A48CBAEFD0}"/>
              </a:ext>
            </a:extLst>
          </p:cNvPr>
          <p:cNvSpPr txBox="1"/>
          <p:nvPr/>
        </p:nvSpPr>
        <p:spPr>
          <a:xfrm>
            <a:off x="4406900" y="4889500"/>
            <a:ext cx="3365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IN" sz="2000" b="1" dirty="0">
                <a:solidFill>
                  <a:srgbClr val="F5F6FA"/>
                </a:solidFill>
              </a:rPr>
              <a:t>Intelligence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C88A9C-3FDE-4CB0-8BC6-1DA59D4D32B6}"/>
              </a:ext>
            </a:extLst>
          </p:cNvPr>
          <p:cNvSpPr/>
          <p:nvPr/>
        </p:nvSpPr>
        <p:spPr>
          <a:xfrm>
            <a:off x="7975600" y="29845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112C3-45F9-4A28-A1BD-EAD006C2EB4C}"/>
              </a:ext>
            </a:extLst>
          </p:cNvPr>
          <p:cNvSpPr txBox="1"/>
          <p:nvPr/>
        </p:nvSpPr>
        <p:spPr>
          <a:xfrm>
            <a:off x="7975600" y="4889500"/>
            <a:ext cx="33655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IN" sz="2000" b="1" dirty="0">
                <a:solidFill>
                  <a:srgbClr val="F5F6FA"/>
                </a:solidFill>
              </a:rPr>
              <a:t>Reliability</a:t>
            </a:r>
          </a:p>
        </p:txBody>
      </p:sp>
      <p:pic>
        <p:nvPicPr>
          <p:cNvPr id="10" name="Graphic 10" descr="Foundation catego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08200" y="3492500"/>
            <a:ext cx="812800" cy="812800"/>
          </a:xfrm>
          <a:prstGeom prst="rect">
            <a:avLst/>
          </a:prstGeom>
        </p:spPr>
      </p:pic>
      <p:pic>
        <p:nvPicPr>
          <p:cNvPr id="11" name="Graphic 11" descr="Intelligence catego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00" y="3492500"/>
            <a:ext cx="812800" cy="812800"/>
          </a:xfrm>
          <a:prstGeom prst="rect">
            <a:avLst/>
          </a:prstGeom>
        </p:spPr>
      </p:pic>
      <p:pic>
        <p:nvPicPr>
          <p:cNvPr id="12" name="Graphic 12" descr="Reliability catego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5600" y="34925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8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4333-7E86-128A-4E0D-9E2A48963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Foundation Design Pattern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E0F245-652E-4418-8DFB-0FB990DC98A9}"/>
              </a:ext>
            </a:extLst>
          </p:cNvPr>
          <p:cNvSpPr/>
          <p:nvPr/>
        </p:nvSpPr>
        <p:spPr>
          <a:xfrm>
            <a:off x="838200" y="22860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168A5-8EE2-49FF-AC6F-8D89B2CCEFD6}"/>
              </a:ext>
            </a:extLst>
          </p:cNvPr>
          <p:cNvSpPr txBox="1"/>
          <p:nvPr/>
        </p:nvSpPr>
        <p:spPr>
          <a:xfrm>
            <a:off x="1905000" y="22860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Prompts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05BA12-EE73-48B9-8E42-9EAF4EA627FA}"/>
              </a:ext>
            </a:extLst>
          </p:cNvPr>
          <p:cNvSpPr/>
          <p:nvPr/>
        </p:nvSpPr>
        <p:spPr>
          <a:xfrm>
            <a:off x="6248400" y="22860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D27DE-E1DA-40D8-B0D5-CFE103B8403A}"/>
              </a:ext>
            </a:extLst>
          </p:cNvPr>
          <p:cNvSpPr txBox="1"/>
          <p:nvPr/>
        </p:nvSpPr>
        <p:spPr>
          <a:xfrm>
            <a:off x="7315200" y="22860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Context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8DB535-85A5-4900-96AE-1320AB1B1F2D}"/>
              </a:ext>
            </a:extLst>
          </p:cNvPr>
          <p:cNvSpPr/>
          <p:nvPr/>
        </p:nvSpPr>
        <p:spPr>
          <a:xfrm>
            <a:off x="838200" y="41529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308D7-EFA0-44BE-93D5-544114DC1CFB}"/>
              </a:ext>
            </a:extLst>
          </p:cNvPr>
          <p:cNvSpPr txBox="1"/>
          <p:nvPr/>
        </p:nvSpPr>
        <p:spPr>
          <a:xfrm>
            <a:off x="1905000" y="41529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Instructions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99B0E3-F648-49B3-A8CB-F34F99DB09F6}"/>
              </a:ext>
            </a:extLst>
          </p:cNvPr>
          <p:cNvSpPr/>
          <p:nvPr/>
        </p:nvSpPr>
        <p:spPr>
          <a:xfrm>
            <a:off x="6248400" y="41529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0BCAB-794A-4057-8DAF-3826179CFD30}"/>
              </a:ext>
            </a:extLst>
          </p:cNvPr>
          <p:cNvSpPr txBox="1"/>
          <p:nvPr/>
        </p:nvSpPr>
        <p:spPr>
          <a:xfrm>
            <a:off x="7315200" y="4749284"/>
            <a:ext cx="37338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 dirty="0">
                <a:solidFill>
                  <a:srgbClr val="F5F6FA"/>
                </a:solidFill>
              </a:rPr>
              <a:t>One/Few-shot examples</a:t>
            </a:r>
          </a:p>
        </p:txBody>
      </p:sp>
      <p:pic>
        <p:nvPicPr>
          <p:cNvPr id="12" name="Graphic 12" descr="Promp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794000"/>
            <a:ext cx="558800" cy="558800"/>
          </a:xfrm>
          <a:prstGeom prst="rect">
            <a:avLst/>
          </a:prstGeom>
        </p:spPr>
      </p:pic>
      <p:pic>
        <p:nvPicPr>
          <p:cNvPr id="13" name="Graphic 13" descr="Contex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3200" y="2794000"/>
            <a:ext cx="558800" cy="558800"/>
          </a:xfrm>
          <a:prstGeom prst="rect">
            <a:avLst/>
          </a:prstGeom>
        </p:spPr>
      </p:pic>
      <p:pic>
        <p:nvPicPr>
          <p:cNvPr id="14" name="Graphic 14" descr="Instruction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660900"/>
            <a:ext cx="558800" cy="558800"/>
          </a:xfrm>
          <a:prstGeom prst="rect">
            <a:avLst/>
          </a:prstGeom>
        </p:spPr>
      </p:pic>
      <p:pic>
        <p:nvPicPr>
          <p:cNvPr id="15" name="Graphic 15" descr="Few-shot examp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46609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16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F236-9E62-8C18-9861-BF75A8D43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Intelligence design Pattern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9052747-F626-41F6-8395-00F75EDB21D4}"/>
              </a:ext>
            </a:extLst>
          </p:cNvPr>
          <p:cNvSpPr/>
          <p:nvPr/>
        </p:nvSpPr>
        <p:spPr>
          <a:xfrm>
            <a:off x="838200" y="22860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C940D-8D0E-4A84-B7A2-70AA5B815862}"/>
              </a:ext>
            </a:extLst>
          </p:cNvPr>
          <p:cNvSpPr txBox="1"/>
          <p:nvPr/>
        </p:nvSpPr>
        <p:spPr>
          <a:xfrm>
            <a:off x="1651000" y="22860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Chaining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AC7286-6599-406B-ABBA-E97965F3F610}"/>
              </a:ext>
            </a:extLst>
          </p:cNvPr>
          <p:cNvSpPr/>
          <p:nvPr/>
        </p:nvSpPr>
        <p:spPr>
          <a:xfrm>
            <a:off x="4406900" y="22860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3AAE0-6403-4686-9F1F-46556B4FB556}"/>
              </a:ext>
            </a:extLst>
          </p:cNvPr>
          <p:cNvSpPr txBox="1"/>
          <p:nvPr/>
        </p:nvSpPr>
        <p:spPr>
          <a:xfrm>
            <a:off x="5219700" y="22860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Tools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023DBC-2E30-45B4-BD48-FAC758CDDFF1}"/>
              </a:ext>
            </a:extLst>
          </p:cNvPr>
          <p:cNvSpPr/>
          <p:nvPr/>
        </p:nvSpPr>
        <p:spPr>
          <a:xfrm>
            <a:off x="7975600" y="22860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67BE78-AFF0-4ACA-BAD7-FA0C0211B9CE}"/>
              </a:ext>
            </a:extLst>
          </p:cNvPr>
          <p:cNvSpPr txBox="1"/>
          <p:nvPr/>
        </p:nvSpPr>
        <p:spPr>
          <a:xfrm>
            <a:off x="8788400" y="22860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Memory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417EE41-6D37-4F43-9FC8-E3901D368FB7}"/>
              </a:ext>
            </a:extLst>
          </p:cNvPr>
          <p:cNvSpPr/>
          <p:nvPr/>
        </p:nvSpPr>
        <p:spPr>
          <a:xfrm>
            <a:off x="2628900" y="43434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47513D-E8D4-460C-9C21-BF3194BCA8C0}"/>
              </a:ext>
            </a:extLst>
          </p:cNvPr>
          <p:cNvSpPr txBox="1"/>
          <p:nvPr/>
        </p:nvSpPr>
        <p:spPr>
          <a:xfrm>
            <a:off x="3441700" y="43434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Reasoning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BF15E8-2A9D-4133-90DD-2F6C8D9B818D}"/>
              </a:ext>
            </a:extLst>
          </p:cNvPr>
          <p:cNvSpPr/>
          <p:nvPr/>
        </p:nvSpPr>
        <p:spPr>
          <a:xfrm>
            <a:off x="6197600" y="4343400"/>
            <a:ext cx="3365500" cy="17526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5996C-960F-4C6F-BD34-6C2C0169C7EC}"/>
              </a:ext>
            </a:extLst>
          </p:cNvPr>
          <p:cNvSpPr txBox="1"/>
          <p:nvPr/>
        </p:nvSpPr>
        <p:spPr>
          <a:xfrm>
            <a:off x="7010400" y="4343400"/>
            <a:ext cx="2349500" cy="1752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1600" b="1">
                <a:solidFill>
                  <a:srgbClr val="F5F6FA"/>
                </a:solidFill>
              </a:rPr>
              <a:t>Orchestration</a:t>
            </a:r>
          </a:p>
        </p:txBody>
      </p:sp>
      <p:pic>
        <p:nvPicPr>
          <p:cNvPr id="14" name="Graphic 14" descr="Chain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2933700"/>
            <a:ext cx="457200" cy="457200"/>
          </a:xfrm>
          <a:prstGeom prst="rect">
            <a:avLst/>
          </a:prstGeom>
        </p:spPr>
      </p:pic>
      <p:pic>
        <p:nvPicPr>
          <p:cNvPr id="15" name="Graphic 15" descr="Tool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2933700"/>
            <a:ext cx="457200" cy="457200"/>
          </a:xfrm>
          <a:prstGeom prst="rect">
            <a:avLst/>
          </a:prstGeom>
        </p:spPr>
      </p:pic>
      <p:pic>
        <p:nvPicPr>
          <p:cNvPr id="16" name="Graphic 16" descr="Memo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2933700"/>
            <a:ext cx="457200" cy="457200"/>
          </a:xfrm>
          <a:prstGeom prst="rect">
            <a:avLst/>
          </a:prstGeom>
        </p:spPr>
      </p:pic>
      <p:pic>
        <p:nvPicPr>
          <p:cNvPr id="17" name="Graphic 17" descr="Reason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2100" y="4991100"/>
            <a:ext cx="457200" cy="457200"/>
          </a:xfrm>
          <a:prstGeom prst="rect">
            <a:avLst/>
          </a:prstGeom>
        </p:spPr>
      </p:pic>
      <p:pic>
        <p:nvPicPr>
          <p:cNvPr id="18" name="Graphic 18" descr="Orchestr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800" y="4991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1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480C-2B66-7033-83FD-1CB27BB2D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C27A-4B3B-A522-53E5-AD6750C9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Reliability</a:t>
            </a:r>
            <a:r>
              <a:rPr lang="en-IN" dirty="0"/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69C803-F774-46B4-921F-81AE6E79E3E9}"/>
              </a:ext>
            </a:extLst>
          </p:cNvPr>
          <p:cNvSpPr/>
          <p:nvPr/>
        </p:nvSpPr>
        <p:spPr>
          <a:xfrm>
            <a:off x="838200" y="22860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DBF2E-934B-4A5C-8726-E8FB0B09F297}"/>
              </a:ext>
            </a:extLst>
          </p:cNvPr>
          <p:cNvSpPr txBox="1"/>
          <p:nvPr/>
        </p:nvSpPr>
        <p:spPr>
          <a:xfrm>
            <a:off x="1905000" y="22860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Validation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3B92E3-B509-4072-AAC8-EEA6D37F9DB3}"/>
              </a:ext>
            </a:extLst>
          </p:cNvPr>
          <p:cNvSpPr/>
          <p:nvPr/>
        </p:nvSpPr>
        <p:spPr>
          <a:xfrm>
            <a:off x="6248400" y="22860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CF0B7-5FAC-47C7-BD91-CF98C1DA9F10}"/>
              </a:ext>
            </a:extLst>
          </p:cNvPr>
          <p:cNvSpPr txBox="1"/>
          <p:nvPr/>
        </p:nvSpPr>
        <p:spPr>
          <a:xfrm>
            <a:off x="7315200" y="22860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Retry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817BA1-17BF-4DEE-B6B8-EEC11AD7420D}"/>
              </a:ext>
            </a:extLst>
          </p:cNvPr>
          <p:cNvSpPr/>
          <p:nvPr/>
        </p:nvSpPr>
        <p:spPr>
          <a:xfrm>
            <a:off x="838200" y="41529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37A113-8B0B-44D3-A025-AD88A19057D8}"/>
              </a:ext>
            </a:extLst>
          </p:cNvPr>
          <p:cNvSpPr txBox="1"/>
          <p:nvPr/>
        </p:nvSpPr>
        <p:spPr>
          <a:xfrm>
            <a:off x="1905000" y="41529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Review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D1DB-B6D4-4BC5-A6C7-21410833BA20}"/>
              </a:ext>
            </a:extLst>
          </p:cNvPr>
          <p:cNvSpPr/>
          <p:nvPr/>
        </p:nvSpPr>
        <p:spPr>
          <a:xfrm>
            <a:off x="6248400" y="4152900"/>
            <a:ext cx="5105400" cy="15621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A4FF5-E6C8-4B56-A694-FA00EFD14CB0}"/>
              </a:ext>
            </a:extLst>
          </p:cNvPr>
          <p:cNvSpPr txBox="1"/>
          <p:nvPr/>
        </p:nvSpPr>
        <p:spPr>
          <a:xfrm>
            <a:off x="7315200" y="4152900"/>
            <a:ext cx="3733800" cy="15621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b="1">
                <a:solidFill>
                  <a:srgbClr val="F5F6FA"/>
                </a:solidFill>
              </a:rPr>
              <a:t>Evaluation</a:t>
            </a:r>
          </a:p>
        </p:txBody>
      </p:sp>
      <p:pic>
        <p:nvPicPr>
          <p:cNvPr id="12" name="Graphic 12" descr="Valid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794000"/>
            <a:ext cx="558800" cy="558800"/>
          </a:xfrm>
          <a:prstGeom prst="rect">
            <a:avLst/>
          </a:prstGeom>
        </p:spPr>
      </p:pic>
      <p:pic>
        <p:nvPicPr>
          <p:cNvPr id="13" name="Graphic 13" descr="Retr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3200" y="2794000"/>
            <a:ext cx="558800" cy="558800"/>
          </a:xfrm>
          <a:prstGeom prst="rect">
            <a:avLst/>
          </a:prstGeom>
        </p:spPr>
      </p:pic>
      <p:pic>
        <p:nvPicPr>
          <p:cNvPr id="14" name="Graphic 14" descr="Review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4660900"/>
            <a:ext cx="558800" cy="558800"/>
          </a:xfrm>
          <a:prstGeom prst="rect">
            <a:avLst/>
          </a:prstGeom>
        </p:spPr>
      </p:pic>
      <p:pic>
        <p:nvPicPr>
          <p:cNvPr id="15" name="Graphic 15" descr="Evalu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3200" y="46609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7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61E-35C2-73E5-632E-113F2E4C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587" y="2443307"/>
            <a:ext cx="4664825" cy="985693"/>
          </a:xfrm>
        </p:spPr>
        <p:txBody>
          <a:bodyPr/>
          <a:lstStyle/>
          <a:p>
            <a:r>
              <a:rPr lang="en-IN" dirty="0"/>
              <a:t>DEMO – Basic Chat</a:t>
            </a:r>
          </a:p>
        </p:txBody>
      </p:sp>
    </p:spTree>
    <p:extLst>
      <p:ext uri="{BB962C8B-B14F-4D97-AF65-F5344CB8AC3E}">
        <p14:creationId xmlns:p14="http://schemas.microsoft.com/office/powerpoint/2010/main" val="101467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F057-EB8B-337B-4610-2B9BCACD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 Design &amp; Specificity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A9FFB31-521D-4DA7-A57E-9E67DA872E09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7D48AE-26F3-484D-AFE0-52403337C51D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IN" sz="2000">
                <a:solidFill>
                  <a:srgbClr val="F5F6FA"/>
                </a:solidFill>
              </a:rPr>
              <a:t>Vague prompts produce inconsistent, unpredictable outputs across runs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5A26E2-CB44-44FA-90B0-9B2E9C87FE5D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83999-6C53-4725-8804-1006A001DEFE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Generic answers miss actual intent, forcing costly follow-up rounds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42BC19-D3DE-4B4E-8FF7-194CB1BB2F75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203115-C5CE-436E-A75C-8D02F0DFF324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enforced structure or schema means downstream parsing breaks constantly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Randomnes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Missed inten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Parsing breaks warn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0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31BF-381C-617B-50D9-AD909B45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One/Few-shot Prompting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9656F5-8577-404F-B359-209579491FDD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F29C35-9D3A-4D7D-9B8D-4BB61F5663E0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reference examples means output varies wildly from what's needed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95DB16-BD99-499F-AC66-05C744121322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1F3E8B-1D4A-40A4-A6BF-660AE9F79EB7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Higher error rate on edge cases the model hasn't implicitly learned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F99DA5-4A6D-4DF7-9693-A8E3E209BE62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CD13B-7ED7-41D0-B11E-81E800DDA618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Teams waste time hand-correcting output instead of steering the model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Varying outpu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Edge case erro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Wasted tim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82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74AB-ABF2-D408-BD23-5BAF8EB99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Prompt Chaining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8587CC-2D68-4F59-9FDD-1538AAA7442E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D66C9-EDAF-4F1C-B75F-36A38842BFB6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Mega-prompts degrade quality on multi-step tasks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D13C97-1F78-449B-B2CF-90528C21AE72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AA850-F01C-46F0-827D-563020AA3ACA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Errors early in reasoning silently propagate through the response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F5D242-FEAD-43AF-B2FC-7681192D77F4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3E45F-3BE6-4455-B988-C4675009D2C1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way to inspect or reuse intermediate results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Mega-promp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Silent error propag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Can't inspect intermediate resul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93EC-FA19-BDB7-880D-97FD6BCD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Session Context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D06EE2-7E8B-471D-B7B5-DF9D450B10FC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08D56-4BAF-474C-AA87-7344C3D59E2D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Every turn feels stateless — the model forgets what the user just said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57165A7-B2C2-458B-AEF9-06B0CEBC068D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DB949-A4A7-40D4-A07E-2116A3816242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Users repeat themselves constantly, creating a frustrating experience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80E3B0-FD38-4CC3-B858-C853AEB8C966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109E12-CF63-49AE-B98A-53EAB10D75DE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Follow-up questions get answered out of context, damaging trust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Stateless forge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Repeats constantl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Out of contex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13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00E16-7AE7-5656-55D7-529D8F479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Persistent Memory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373819-E354-46B7-BFE4-1BABA344E4BC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D264E6-5B8E-49B0-8E63-61003B582BD7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Preferences and history are lost between sessions — every interaction starts from zero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65789A-1AAF-43CC-BAFA-47543E353706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DAAB0-18D7-448B-8EC1-124660796444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The agent can't personalize responses over time, limiting long-term usefulness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DBD2C8-49B8-4F2B-AC26-C02F85010DF5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DC7AD-3A98-4D8C-9188-FB4DD9DB813E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Users must re-explain background repeatedly, increasing friction and cost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Lost between sess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Can't personaliz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Re-explain repeatedl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62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B62F-5942-6858-868D-A2818FC1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Immutable Business Facts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3A2F68-6228-40FF-B4D9-8993E6297FFA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B2228-515E-473B-8EBB-6199EB7F8D9C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Model can hallucinate or override hard business rules like pricing and policy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5D300D8-0D6C-4EF6-80D6-69F4CC1FDEB7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DC59CA-62A2-4C10-9961-619AF5D944A2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Inconsistent answers to the same factual question erode stakeholder trust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E1AF03-7792-40DB-A742-1762477BDEA4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4BAFFA-BF58-43A5-8EC7-3AC1D0C99790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fixed source of truth creates legal and compliance exposure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Hallucinate override rul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Inconsistent answers erode tru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Legal compliance expos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57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D0B6E-9681-A753-1150-D0698F24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Validation + Retry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8939E2-0244-4519-83A4-540457FA767C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17D67-4803-4233-96D0-C8AE6EB60C3F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Malformed output flows straight into downstream systems, causing silent failures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60996A-96BA-4459-BBD5-E9E4B17ECD10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EDBDA-B1EA-41D1-B928-62A12A565538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automatic retry — transient errors become hard failures a human must resolve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5E77AC-450B-4893-8943-2162831FEE3B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B8B2A-53CA-4752-808E-D622E0B7E313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Bad outputs go undetected until they've already caused damage downstream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Malformed output bu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No automatic retr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Undetected bad outpu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5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D5D2-3E85-4D67-A439-6DD92DE7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Multi-pass Review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DB416C-4ECD-4097-A0E0-AE27A434BB22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D0C368-17E1-4817-9942-72768DF490AD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First-draft output ships without a quality gate, letting subtle errors reach production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1902A6-7231-4BDA-A6B3-BF36B18B439B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8FEE8-9B67-4769-ACFD-5D6FAE47D668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mechanism to catch reasoning mistakes missed on the first attempt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89002ED-95DB-43C7-84C7-8DCE5AFEC4C0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F8A405-2EA2-4A52-AE46-C35A2282FF18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Quality is capped at whatever a single generation pass can achieve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Quality gat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Reasoning mistak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Quality cappe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4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B0CB-19E0-713E-B588-1A0A13CF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Self Review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D142F6-B1E7-4094-A11C-0FAA29970E07}"/>
              </a:ext>
            </a:extLst>
          </p:cNvPr>
          <p:cNvSpPr/>
          <p:nvPr/>
        </p:nvSpPr>
        <p:spPr>
          <a:xfrm>
            <a:off x="8382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97FCF-7988-4304-9E13-358BFFAE1064}"/>
              </a:ext>
            </a:extLst>
          </p:cNvPr>
          <p:cNvSpPr txBox="1"/>
          <p:nvPr/>
        </p:nvSpPr>
        <p:spPr>
          <a:xfrm>
            <a:off x="18542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Agent can't catch its own mistakes — errors go straight to the user unchecked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45B58E-5040-441B-98D7-E3F634E81C3C}"/>
              </a:ext>
            </a:extLst>
          </p:cNvPr>
          <p:cNvSpPr/>
          <p:nvPr/>
        </p:nvSpPr>
        <p:spPr>
          <a:xfrm>
            <a:off x="44069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4553F-4612-4580-AC53-1BB185FFCAE9}"/>
              </a:ext>
            </a:extLst>
          </p:cNvPr>
          <p:cNvSpPr txBox="1"/>
          <p:nvPr/>
        </p:nvSpPr>
        <p:spPr>
          <a:xfrm>
            <a:off x="54229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No confidence signal — every answer is treated as equally reliable</a:t>
            </a:r>
            <a:endParaRPr lang="en-IN" sz="2000">
              <a:solidFill>
                <a:srgbClr val="F5F6F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75B884-C2D8-475C-BD9D-705FCFD8CD15}"/>
              </a:ext>
            </a:extLst>
          </p:cNvPr>
          <p:cNvSpPr/>
          <p:nvPr/>
        </p:nvSpPr>
        <p:spPr>
          <a:xfrm>
            <a:off x="7975600" y="2616200"/>
            <a:ext cx="3365500" cy="2794000"/>
          </a:xfrm>
          <a:prstGeom prst="roundRect">
            <a:avLst/>
          </a:prstGeom>
          <a:solidFill>
            <a:srgbClr val="1B1E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>
              <a:solidFill>
                <a:srgbClr val="F5F6FA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A40070-839A-4704-8212-0038C9A48EFC}"/>
              </a:ext>
            </a:extLst>
          </p:cNvPr>
          <p:cNvSpPr txBox="1"/>
          <p:nvPr/>
        </p:nvSpPr>
        <p:spPr>
          <a:xfrm>
            <a:off x="8991600" y="2616200"/>
            <a:ext cx="2146300" cy="2794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000">
                <a:solidFill>
                  <a:srgbClr val="F5F6FA"/>
                </a:solidFill>
              </a:rPr>
              <a:t>Missed chance to auto-correct simple issues before they reach the user</a:t>
            </a:r>
            <a:endParaRPr lang="en-IN" sz="2000">
              <a:solidFill>
                <a:srgbClr val="F5F6FA"/>
              </a:solidFill>
            </a:endParaRPr>
          </a:p>
        </p:txBody>
      </p:sp>
      <p:pic>
        <p:nvPicPr>
          <p:cNvPr id="10" name="Graphic 10" descr="Can't catch own mistak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3683000"/>
            <a:ext cx="660400" cy="660400"/>
          </a:xfrm>
          <a:prstGeom prst="rect">
            <a:avLst/>
          </a:prstGeom>
        </p:spPr>
      </p:pic>
      <p:pic>
        <p:nvPicPr>
          <p:cNvPr id="11" name="Graphic 11" descr="No confidence sign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0100" y="3683000"/>
            <a:ext cx="660400" cy="660400"/>
          </a:xfrm>
          <a:prstGeom prst="rect">
            <a:avLst/>
          </a:prstGeom>
        </p:spPr>
      </p:pic>
      <p:pic>
        <p:nvPicPr>
          <p:cNvPr id="12" name="Graphic 12" descr="Missed auto-correct opportun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3683000"/>
            <a:ext cx="6604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81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8CD2-372D-FB3D-06A8-E5ED6DA38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Deep Evaluation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31FC-3C1D-8F0D-9E4F-FAD38431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670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4EED-DB8F-3A51-257C-FEE73FF5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CB401-EF2E-85EE-43AB-87EEDC71D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03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D390-14C3-CE68-8BED-1CAE5FDE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Claude Code - Data </a:t>
            </a:r>
            <a:r>
              <a:rPr lang="en-IN" dirty="0"/>
              <a:t>Architect Workshop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9ECB4-910D-2D80-9A3D-616A92BE2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094" y="1555376"/>
            <a:ext cx="5186082" cy="518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030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51FF28-8B2B-6703-4363-59EA1A321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883" y="1240184"/>
            <a:ext cx="3149680" cy="4574855"/>
          </a:xfrm>
          <a:prstGeom prst="rect">
            <a:avLst/>
          </a:prstGeom>
        </p:spPr>
      </p:pic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C73AB52F-F033-B2DC-B61A-EBB89E2A7A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8880"/>
          <a:stretch/>
        </p:blipFill>
        <p:spPr>
          <a:xfrm>
            <a:off x="1477187" y="1826827"/>
            <a:ext cx="2938266" cy="3605784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9E6D695E-8FD2-E8E9-013B-B0E02A5A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504248" cy="68437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spcBef>
                <a:spcPct val="0"/>
              </a:spcBef>
            </a:pP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My Books</a:t>
            </a:r>
          </a:p>
        </p:txBody>
      </p:sp>
    </p:spTree>
    <p:extLst>
      <p:ext uri="{BB962C8B-B14F-4D97-AF65-F5344CB8AC3E}">
        <p14:creationId xmlns:p14="http://schemas.microsoft.com/office/powerpoint/2010/main" val="2068968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C6680-79EF-F1C7-BAAB-8EB00F46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73C7F7-B33B-0C95-F8DE-B64AEBA1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Connect with me @ LinkedIn</a:t>
            </a:r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9B96DC1F-D15D-A57E-19F4-A9D6DF660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" r="1" b="726"/>
          <a:stretch>
            <a:fillRect/>
          </a:stretch>
        </p:blipFill>
        <p:spPr bwMode="auto">
          <a:xfrm>
            <a:off x="20" y="10"/>
            <a:ext cx="6931132" cy="68579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6556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126388424]">
  <a:themeElements>
    <a:clrScheme name="Office">
      <a:dk1>
        <a:srgbClr val="F5F6FA"/>
      </a:dk1>
      <a:lt1>
        <a:srgbClr val="0E0F16"/>
      </a:lt1>
      <a:dk2>
        <a:srgbClr val="9A9FBD"/>
      </a:dk2>
      <a:lt2>
        <a:srgbClr val="1B1E2B"/>
      </a:lt2>
      <a:accent1>
        <a:srgbClr val="7C5CFC"/>
      </a:accent1>
      <a:accent2>
        <a:srgbClr val="00C2FF"/>
      </a:accent2>
      <a:accent3>
        <a:srgbClr val="00E5A0"/>
      </a:accent3>
      <a:accent4>
        <a:srgbClr val="FFB74D"/>
      </a:accent4>
      <a:accent5>
        <a:srgbClr val="FF5C8D"/>
      </a:accent5>
      <a:accent6>
        <a:srgbClr val="5C6BC0"/>
      </a:accent6>
      <a:hlink>
        <a:srgbClr val="467886"/>
      </a:hlink>
      <a:folHlink>
        <a:srgbClr val="96607D"/>
      </a:folHlink>
    </a:clrScheme>
    <a:fontScheme name="Office">
      <a:majorFont>
        <a:latin typeface="Space Grotesk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6C05BE-68C4-4FF3-B9B6-E160A9EFD4D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5865f6a-3d39-454a-bc82-848a5141b46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471</Words>
  <Application>Microsoft Office PowerPoint</Application>
  <PresentationFormat>Widescreen</PresentationFormat>
  <Paragraphs>81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 [1786126388424]</vt:lpstr>
      <vt:lpstr>Enterprise AI Design Patterns in .NET 10(LTS) using Foundry </vt:lpstr>
      <vt:lpstr>Why AI Design Patterns</vt:lpstr>
      <vt:lpstr>Why AI Design Patterns</vt:lpstr>
      <vt:lpstr>What are AI Design Patterns ?</vt:lpstr>
      <vt:lpstr>Category of AI Design Pattern</vt:lpstr>
      <vt:lpstr>Foundation Design Pattern</vt:lpstr>
      <vt:lpstr>Intelligence design Pattern</vt:lpstr>
      <vt:lpstr>Reliability </vt:lpstr>
      <vt:lpstr>DEMO – Basic Chat</vt:lpstr>
      <vt:lpstr>Prompt Design &amp; Specificity</vt:lpstr>
      <vt:lpstr>One/Few-shot Prompting </vt:lpstr>
      <vt:lpstr>Prompt Chaining</vt:lpstr>
      <vt:lpstr>Session Context</vt:lpstr>
      <vt:lpstr>Persistent Memory</vt:lpstr>
      <vt:lpstr>Immutable Business Facts</vt:lpstr>
      <vt:lpstr>Validation + Retry</vt:lpstr>
      <vt:lpstr>Multi-pass Review</vt:lpstr>
      <vt:lpstr>Self Review</vt:lpstr>
      <vt:lpstr>Deep Evaluation</vt:lpstr>
      <vt:lpstr>DEMO</vt:lpstr>
      <vt:lpstr>Claude Code - Data Architect Workshop</vt:lpstr>
      <vt:lpstr>My Books</vt:lpstr>
      <vt:lpstr>Connect with me @ LinkedIn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 VK</dc:creator>
  <cp:lastModifiedBy>Karthikeyan VK</cp:lastModifiedBy>
  <cp:revision>6</cp:revision>
  <dcterms:created xsi:type="dcterms:W3CDTF">2026-08-07T17:34:37Z</dcterms:created>
  <dcterms:modified xsi:type="dcterms:W3CDTF">2026-08-14T11:52:07Z</dcterms:modified>
</cp:coreProperties>
</file>