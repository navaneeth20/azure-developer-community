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nva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2" d="100"/>
          <a:sy n="102" d="100"/>
        </p:scale>
        <p:origin x="5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.png"/><Relationship Id="rId3" Type="http://schemas.openxmlformats.org/officeDocument/2006/relationships/image" Target="../media/image14.sv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13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18.svg"/><Relationship Id="rId5" Type="http://schemas.openxmlformats.org/officeDocument/2006/relationships/image" Target="../media/image11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9.sv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76BC">
                <a:alpha val="100000"/>
              </a:srgbClr>
            </a:gs>
            <a:gs pos="100000">
              <a:srgbClr val="F9DA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5876" y="3790194"/>
            <a:ext cx="2465106" cy="2513196"/>
            <a:chOff x="0" y="0"/>
            <a:chExt cx="3286807" cy="3350929"/>
          </a:xfrm>
        </p:grpSpPr>
        <p:sp>
          <p:nvSpPr>
            <p:cNvPr id="3" name="AutoShape 3"/>
            <p:cNvSpPr/>
            <p:nvPr/>
          </p:nvSpPr>
          <p:spPr>
            <a:xfrm>
              <a:off x="0" y="2488173"/>
              <a:ext cx="156757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4" name="Freeform 4"/>
            <p:cNvSpPr/>
            <p:nvPr/>
          </p:nvSpPr>
          <p:spPr>
            <a:xfrm>
              <a:off x="1567570" y="1625417"/>
              <a:ext cx="1719237" cy="1725512"/>
            </a:xfrm>
            <a:custGeom>
              <a:avLst/>
              <a:gdLst/>
              <a:ahLst/>
              <a:cxnLst/>
              <a:rect l="l" t="t" r="r" b="b"/>
              <a:pathLst>
                <a:path w="1719237" h="1725512">
                  <a:moveTo>
                    <a:pt x="0" y="0"/>
                  </a:moveTo>
                  <a:lnTo>
                    <a:pt x="1719237" y="0"/>
                  </a:lnTo>
                  <a:lnTo>
                    <a:pt x="1719237" y="1725512"/>
                  </a:lnTo>
                  <a:lnTo>
                    <a:pt x="0" y="172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8598" y="-28575"/>
              <a:ext cx="1841897" cy="32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  <a:spcBef>
                  <a:spcPct val="0"/>
                </a:spcBef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Business logics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7714" y="3790194"/>
            <a:ext cx="1629702" cy="2865772"/>
            <a:chOff x="0" y="0"/>
            <a:chExt cx="2172936" cy="3821029"/>
          </a:xfrm>
        </p:grpSpPr>
        <p:sp>
          <p:nvSpPr>
            <p:cNvPr id="7" name="Freeform 7"/>
            <p:cNvSpPr/>
            <p:nvPr/>
          </p:nvSpPr>
          <p:spPr>
            <a:xfrm>
              <a:off x="0" y="1746863"/>
              <a:ext cx="2172936" cy="2074166"/>
            </a:xfrm>
            <a:custGeom>
              <a:avLst/>
              <a:gdLst/>
              <a:ahLst/>
              <a:cxnLst/>
              <a:rect l="l" t="t" r="r" b="b"/>
              <a:pathLst>
                <a:path w="2172936" h="2074166">
                  <a:moveTo>
                    <a:pt x="0" y="0"/>
                  </a:moveTo>
                  <a:lnTo>
                    <a:pt x="2172936" y="0"/>
                  </a:lnTo>
                  <a:lnTo>
                    <a:pt x="2172936" y="2074166"/>
                  </a:lnTo>
                  <a:lnTo>
                    <a:pt x="0" y="2074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9983" y="-28575"/>
              <a:ext cx="892969" cy="32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  <a:spcBef>
                  <a:spcPct val="0"/>
                </a:spcBef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77416" y="3790194"/>
            <a:ext cx="2918460" cy="2627144"/>
            <a:chOff x="0" y="0"/>
            <a:chExt cx="3891280" cy="3502859"/>
          </a:xfrm>
        </p:grpSpPr>
        <p:sp>
          <p:nvSpPr>
            <p:cNvPr id="10" name="AutoShape 10"/>
            <p:cNvSpPr/>
            <p:nvPr/>
          </p:nvSpPr>
          <p:spPr>
            <a:xfrm>
              <a:off x="0" y="2530631"/>
              <a:ext cx="199762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7625" y="1609203"/>
              <a:ext cx="1893656" cy="1893656"/>
            </a:xfrm>
            <a:custGeom>
              <a:avLst/>
              <a:gdLst/>
              <a:ahLst/>
              <a:cxnLst/>
              <a:rect l="l" t="t" r="r" b="b"/>
              <a:pathLst>
                <a:path w="1893656" h="1893656">
                  <a:moveTo>
                    <a:pt x="0" y="0"/>
                  </a:moveTo>
                  <a:lnTo>
                    <a:pt x="1893655" y="0"/>
                  </a:lnTo>
                  <a:lnTo>
                    <a:pt x="1893655" y="1893656"/>
                  </a:lnTo>
                  <a:lnTo>
                    <a:pt x="0" y="1893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68124" y="-28575"/>
              <a:ext cx="1152657" cy="32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  <a:spcBef>
                  <a:spcPct val="0"/>
                </a:spcBef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 Layer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60847" y="4253603"/>
            <a:ext cx="970001" cy="1227863"/>
            <a:chOff x="0" y="0"/>
            <a:chExt cx="1293335" cy="1637150"/>
          </a:xfrm>
        </p:grpSpPr>
        <p:sp>
          <p:nvSpPr>
            <p:cNvPr id="14" name="Freeform 14"/>
            <p:cNvSpPr/>
            <p:nvPr/>
          </p:nvSpPr>
          <p:spPr>
            <a:xfrm>
              <a:off x="0" y="343815"/>
              <a:ext cx="1293335" cy="1293335"/>
            </a:xfrm>
            <a:custGeom>
              <a:avLst/>
              <a:gdLst/>
              <a:ahLst/>
              <a:cxnLst/>
              <a:rect l="l" t="t" r="r" b="b"/>
              <a:pathLst>
                <a:path w="1293335" h="1293335">
                  <a:moveTo>
                    <a:pt x="0" y="0"/>
                  </a:moveTo>
                  <a:lnTo>
                    <a:pt x="1293335" y="0"/>
                  </a:lnTo>
                  <a:lnTo>
                    <a:pt x="1293335" y="1293335"/>
                  </a:lnTo>
                  <a:lnTo>
                    <a:pt x="0" y="1293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356260" y="-28575"/>
              <a:ext cx="580814" cy="32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  <a:spcBef>
                  <a:spcPct val="0"/>
                </a:spcBef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LLM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75196" y="2492027"/>
            <a:ext cx="1541304" cy="3066101"/>
            <a:chOff x="0" y="0"/>
            <a:chExt cx="2055072" cy="40881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5072" cy="4088135"/>
            </a:xfrm>
            <a:custGeom>
              <a:avLst/>
              <a:gdLst/>
              <a:ahLst/>
              <a:cxnLst/>
              <a:rect l="l" t="t" r="r" b="b"/>
              <a:pathLst>
                <a:path w="2055072" h="4088135">
                  <a:moveTo>
                    <a:pt x="0" y="0"/>
                  </a:moveTo>
                  <a:lnTo>
                    <a:pt x="2055072" y="0"/>
                  </a:lnTo>
                  <a:lnTo>
                    <a:pt x="2055072" y="4088135"/>
                  </a:lnTo>
                  <a:lnTo>
                    <a:pt x="0" y="4088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8380" y="102388"/>
              <a:ext cx="1637550" cy="603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2"/>
                </a:lnSpc>
                <a:spcBef>
                  <a:spcPct val="0"/>
                </a:spcBef>
              </a:pPr>
              <a:r>
                <a:rPr lang="en-US" sz="1308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Agent / Orchestrator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95400" y="602666"/>
            <a:ext cx="15248137" cy="73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Application Workflow (Traditional → AI-Driven)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591460" y="3790194"/>
            <a:ext cx="8160312" cy="2843819"/>
            <a:chOff x="0" y="0"/>
            <a:chExt cx="10880416" cy="3791758"/>
          </a:xfrm>
        </p:grpSpPr>
        <p:sp>
          <p:nvSpPr>
            <p:cNvPr id="21" name="Freeform 21"/>
            <p:cNvSpPr/>
            <p:nvPr/>
          </p:nvSpPr>
          <p:spPr>
            <a:xfrm>
              <a:off x="7594751" y="1103488"/>
              <a:ext cx="3285664" cy="2688271"/>
            </a:xfrm>
            <a:custGeom>
              <a:avLst/>
              <a:gdLst/>
              <a:ahLst/>
              <a:cxnLst/>
              <a:rect l="l" t="t" r="r" b="b"/>
              <a:pathLst>
                <a:path w="3285664" h="2688271">
                  <a:moveTo>
                    <a:pt x="0" y="0"/>
                  </a:moveTo>
                  <a:lnTo>
                    <a:pt x="3285665" y="0"/>
                  </a:lnTo>
                  <a:lnTo>
                    <a:pt x="3285665" y="2688270"/>
                  </a:lnTo>
                  <a:lnTo>
                    <a:pt x="0" y="2688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7556651" y="-28575"/>
              <a:ext cx="3318801" cy="32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2"/>
                </a:lnSpc>
                <a:spcBef>
                  <a:spcPct val="0"/>
                </a:spcBef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Database/External systems</a:t>
              </a:r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85" y="2422223"/>
              <a:ext cx="7556481" cy="254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  <p:sp>
        <p:nvSpPr>
          <p:cNvPr id="24" name="Freeform 24"/>
          <p:cNvSpPr/>
          <p:nvPr/>
        </p:nvSpPr>
        <p:spPr>
          <a:xfrm>
            <a:off x="11356287" y="4693016"/>
            <a:ext cx="1473537" cy="1964716"/>
          </a:xfrm>
          <a:custGeom>
            <a:avLst/>
            <a:gdLst/>
            <a:ahLst/>
            <a:cxnLst/>
            <a:rect l="l" t="t" r="r" b="b"/>
            <a:pathLst>
              <a:path w="1473537" h="1964716">
                <a:moveTo>
                  <a:pt x="0" y="0"/>
                </a:moveTo>
                <a:lnTo>
                  <a:pt x="1473537" y="0"/>
                </a:lnTo>
                <a:lnTo>
                  <a:pt x="1473537" y="1964716"/>
                </a:lnTo>
                <a:lnTo>
                  <a:pt x="0" y="19647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6739" b="-16739"/>
            </a:stretch>
          </a:blipFill>
          <a:ln cap="rnd">
            <a:noFill/>
            <a:prstDash val="sysDot"/>
            <a:round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76BC">
                <a:alpha val="100000"/>
              </a:srgbClr>
            </a:gs>
            <a:gs pos="100000">
              <a:srgbClr val="F9DA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485" y="6881200"/>
            <a:ext cx="2908940" cy="773838"/>
            <a:chOff x="0" y="0"/>
            <a:chExt cx="766141" cy="203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6141" cy="203809"/>
            </a:xfrm>
            <a:custGeom>
              <a:avLst/>
              <a:gdLst/>
              <a:ahLst/>
              <a:cxnLst/>
              <a:rect l="l" t="t" r="r" b="b"/>
              <a:pathLst>
                <a:path w="766141" h="203809">
                  <a:moveTo>
                    <a:pt x="50567" y="0"/>
                  </a:moveTo>
                  <a:lnTo>
                    <a:pt x="715574" y="0"/>
                  </a:lnTo>
                  <a:cubicBezTo>
                    <a:pt x="743501" y="0"/>
                    <a:pt x="766141" y="22640"/>
                    <a:pt x="766141" y="50567"/>
                  </a:cubicBezTo>
                  <a:lnTo>
                    <a:pt x="766141" y="153242"/>
                  </a:lnTo>
                  <a:cubicBezTo>
                    <a:pt x="766141" y="181170"/>
                    <a:pt x="743501" y="203809"/>
                    <a:pt x="715574" y="203809"/>
                  </a:cubicBezTo>
                  <a:lnTo>
                    <a:pt x="50567" y="203809"/>
                  </a:lnTo>
                  <a:cubicBezTo>
                    <a:pt x="22640" y="203809"/>
                    <a:pt x="0" y="181170"/>
                    <a:pt x="0" y="153242"/>
                  </a:cubicBezTo>
                  <a:lnTo>
                    <a:pt x="0" y="50567"/>
                  </a:lnTo>
                  <a:cubicBezTo>
                    <a:pt x="0" y="22640"/>
                    <a:pt x="22640" y="0"/>
                    <a:pt x="505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66141" cy="232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2"/>
                </a:lnSpc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MCP Client</a:t>
              </a:r>
            </a:p>
            <a:p>
              <a:pPr algn="ctr">
                <a:lnSpc>
                  <a:spcPts val="2062"/>
                </a:lnSpc>
              </a:pPr>
              <a:r>
                <a:rPr lang="en-US" sz="1472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(Request sender/Adapter)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399434" y="2035089"/>
            <a:ext cx="3709143" cy="5543556"/>
          </a:xfrm>
          <a:custGeom>
            <a:avLst/>
            <a:gdLst/>
            <a:ahLst/>
            <a:cxnLst/>
            <a:rect l="l" t="t" r="r" b="b"/>
            <a:pathLst>
              <a:path w="3709143" h="5543556">
                <a:moveTo>
                  <a:pt x="0" y="0"/>
                </a:moveTo>
                <a:lnTo>
                  <a:pt x="3709143" y="0"/>
                </a:lnTo>
                <a:lnTo>
                  <a:pt x="3709143" y="5543556"/>
                </a:lnTo>
                <a:lnTo>
                  <a:pt x="0" y="554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80100" y="4135399"/>
            <a:ext cx="2464248" cy="2016203"/>
          </a:xfrm>
          <a:custGeom>
            <a:avLst/>
            <a:gdLst/>
            <a:ahLst/>
            <a:cxnLst/>
            <a:rect l="l" t="t" r="r" b="b"/>
            <a:pathLst>
              <a:path w="2464248" h="2016203">
                <a:moveTo>
                  <a:pt x="0" y="0"/>
                </a:moveTo>
                <a:lnTo>
                  <a:pt x="2464249" y="0"/>
                </a:lnTo>
                <a:lnTo>
                  <a:pt x="2464249" y="2016202"/>
                </a:lnTo>
                <a:lnTo>
                  <a:pt x="0" y="2016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37693" y="1620750"/>
            <a:ext cx="1768392" cy="1768392"/>
          </a:xfrm>
          <a:custGeom>
            <a:avLst/>
            <a:gdLst/>
            <a:ahLst/>
            <a:cxnLst/>
            <a:rect l="l" t="t" r="r" b="b"/>
            <a:pathLst>
              <a:path w="1768392" h="1768392">
                <a:moveTo>
                  <a:pt x="0" y="0"/>
                </a:moveTo>
                <a:lnTo>
                  <a:pt x="1768392" y="0"/>
                </a:lnTo>
                <a:lnTo>
                  <a:pt x="1768392" y="1768392"/>
                </a:lnTo>
                <a:lnTo>
                  <a:pt x="0" y="1768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80100" y="6656966"/>
            <a:ext cx="2283578" cy="2283578"/>
          </a:xfrm>
          <a:custGeom>
            <a:avLst/>
            <a:gdLst/>
            <a:ahLst/>
            <a:cxnLst/>
            <a:rect l="l" t="t" r="r" b="b"/>
            <a:pathLst>
              <a:path w="2283578" h="2283578">
                <a:moveTo>
                  <a:pt x="0" y="0"/>
                </a:moveTo>
                <a:lnTo>
                  <a:pt x="2283578" y="0"/>
                </a:lnTo>
                <a:lnTo>
                  <a:pt x="2283578" y="2283578"/>
                </a:lnTo>
                <a:lnTo>
                  <a:pt x="0" y="2283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18327" y="1476635"/>
            <a:ext cx="3588257" cy="7138086"/>
          </a:xfrm>
          <a:custGeom>
            <a:avLst/>
            <a:gdLst/>
            <a:ahLst/>
            <a:cxnLst/>
            <a:rect l="l" t="t" r="r" b="b"/>
            <a:pathLst>
              <a:path w="3588257" h="7138086">
                <a:moveTo>
                  <a:pt x="0" y="0"/>
                </a:moveTo>
                <a:lnTo>
                  <a:pt x="3588257" y="0"/>
                </a:lnTo>
                <a:lnTo>
                  <a:pt x="3588257" y="7138086"/>
                </a:lnTo>
                <a:lnTo>
                  <a:pt x="0" y="71380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5485" y="2279866"/>
            <a:ext cx="1590678" cy="1152459"/>
          </a:xfrm>
          <a:custGeom>
            <a:avLst/>
            <a:gdLst/>
            <a:ahLst/>
            <a:cxnLst/>
            <a:rect l="l" t="t" r="r" b="b"/>
            <a:pathLst>
              <a:path w="1590678" h="1152459">
                <a:moveTo>
                  <a:pt x="0" y="0"/>
                </a:moveTo>
                <a:lnTo>
                  <a:pt x="1590678" y="0"/>
                </a:lnTo>
                <a:lnTo>
                  <a:pt x="1590678" y="1152458"/>
                </a:lnTo>
                <a:lnTo>
                  <a:pt x="0" y="11524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93206" y="2345724"/>
            <a:ext cx="841315" cy="1020743"/>
          </a:xfrm>
          <a:custGeom>
            <a:avLst/>
            <a:gdLst/>
            <a:ahLst/>
            <a:cxnLst/>
            <a:rect l="l" t="t" r="r" b="b"/>
            <a:pathLst>
              <a:path w="841315" h="1020743">
                <a:moveTo>
                  <a:pt x="0" y="0"/>
                </a:moveTo>
                <a:lnTo>
                  <a:pt x="841315" y="0"/>
                </a:lnTo>
                <a:lnTo>
                  <a:pt x="841315" y="1020742"/>
                </a:lnTo>
                <a:lnTo>
                  <a:pt x="0" y="1020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8494" y="4138141"/>
            <a:ext cx="2965234" cy="2257284"/>
          </a:xfrm>
          <a:custGeom>
            <a:avLst/>
            <a:gdLst/>
            <a:ahLst/>
            <a:cxnLst/>
            <a:rect l="l" t="t" r="r" b="b"/>
            <a:pathLst>
              <a:path w="2965234" h="2257284">
                <a:moveTo>
                  <a:pt x="0" y="0"/>
                </a:moveTo>
                <a:lnTo>
                  <a:pt x="2965234" y="0"/>
                </a:lnTo>
                <a:lnTo>
                  <a:pt x="2965234" y="2257284"/>
                </a:lnTo>
                <a:lnTo>
                  <a:pt x="0" y="22572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H="1">
            <a:off x="2052427" y="7655417"/>
            <a:ext cx="38797" cy="938751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14" name="Freeform 14"/>
          <p:cNvSpPr/>
          <p:nvPr/>
        </p:nvSpPr>
        <p:spPr>
          <a:xfrm>
            <a:off x="980025" y="8614721"/>
            <a:ext cx="2260485" cy="1618837"/>
          </a:xfrm>
          <a:custGeom>
            <a:avLst/>
            <a:gdLst/>
            <a:ahLst/>
            <a:cxnLst/>
            <a:rect l="l" t="t" r="r" b="b"/>
            <a:pathLst>
              <a:path w="2260485" h="1618837">
                <a:moveTo>
                  <a:pt x="0" y="0"/>
                </a:moveTo>
                <a:lnTo>
                  <a:pt x="2260485" y="0"/>
                </a:lnTo>
                <a:lnTo>
                  <a:pt x="2260485" y="1618837"/>
                </a:lnTo>
                <a:lnTo>
                  <a:pt x="0" y="16188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8065" y="1533341"/>
            <a:ext cx="3291149" cy="6547051"/>
          </a:xfrm>
          <a:custGeom>
            <a:avLst/>
            <a:gdLst/>
            <a:ahLst/>
            <a:cxnLst/>
            <a:rect l="l" t="t" r="r" b="b"/>
            <a:pathLst>
              <a:path w="3291149" h="6547051">
                <a:moveTo>
                  <a:pt x="0" y="0"/>
                </a:moveTo>
                <a:lnTo>
                  <a:pt x="3291149" y="0"/>
                </a:lnTo>
                <a:lnTo>
                  <a:pt x="3291149" y="6547051"/>
                </a:lnTo>
                <a:lnTo>
                  <a:pt x="0" y="65470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828634" y="2504946"/>
            <a:ext cx="2850743" cy="2041548"/>
          </a:xfrm>
          <a:custGeom>
            <a:avLst/>
            <a:gdLst/>
            <a:ahLst/>
            <a:cxnLst/>
            <a:rect l="l" t="t" r="r" b="b"/>
            <a:pathLst>
              <a:path w="2850743" h="2041548">
                <a:moveTo>
                  <a:pt x="0" y="0"/>
                </a:moveTo>
                <a:lnTo>
                  <a:pt x="2850743" y="0"/>
                </a:lnTo>
                <a:lnTo>
                  <a:pt x="2850743" y="2041548"/>
                </a:lnTo>
                <a:lnTo>
                  <a:pt x="0" y="20415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005711" y="4713009"/>
            <a:ext cx="2774374" cy="2718887"/>
          </a:xfrm>
          <a:custGeom>
            <a:avLst/>
            <a:gdLst/>
            <a:ahLst/>
            <a:cxnLst/>
            <a:rect l="l" t="t" r="r" b="b"/>
            <a:pathLst>
              <a:path w="2774374" h="2718887">
                <a:moveTo>
                  <a:pt x="0" y="0"/>
                </a:moveTo>
                <a:lnTo>
                  <a:pt x="2774374" y="0"/>
                </a:lnTo>
                <a:lnTo>
                  <a:pt x="2774374" y="2718886"/>
                </a:lnTo>
                <a:lnTo>
                  <a:pt x="0" y="27188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840350" y="532881"/>
            <a:ext cx="3943747" cy="38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2"/>
              </a:lnSpc>
              <a:spcBef>
                <a:spcPct val="0"/>
              </a:spcBef>
            </a:pPr>
            <a:r>
              <a:rPr lang="en-US" sz="227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Database/ External Systems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63728" y="171100"/>
            <a:ext cx="10584428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MCP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1916" y="1656434"/>
            <a:ext cx="2258616" cy="24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Web/Mobile  Application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8311" y="3528198"/>
            <a:ext cx="981373" cy="24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systems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050" y="8767402"/>
            <a:ext cx="1480939" cy="98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2"/>
              </a:lnSpc>
            </a:pPr>
            <a:r>
              <a:rPr lang="en-US" sz="11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Structured MCP</a:t>
            </a:r>
          </a:p>
          <a:p>
            <a:pPr algn="ctr">
              <a:lnSpc>
                <a:spcPts val="1642"/>
              </a:lnSpc>
            </a:pPr>
            <a:r>
              <a:rPr lang="en-US" sz="11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Messagess </a:t>
            </a:r>
          </a:p>
          <a:p>
            <a:pPr algn="ctr">
              <a:lnSpc>
                <a:spcPts val="1642"/>
              </a:lnSpc>
            </a:pPr>
            <a:r>
              <a:rPr lang="en-US" sz="11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(JSON-RPC based)</a:t>
            </a:r>
          </a:p>
          <a:p>
            <a:pPr algn="ctr">
              <a:lnSpc>
                <a:spcPts val="1642"/>
              </a:lnSpc>
            </a:pPr>
            <a:endParaRPr lang="en-US" sz="1172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642"/>
              </a:lnSpc>
              <a:spcBef>
                <a:spcPct val="0"/>
              </a:spcBef>
            </a:pPr>
            <a:r>
              <a:rPr lang="en-US" sz="11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(request + response)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2050" y="519222"/>
            <a:ext cx="1580753" cy="44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MCP Host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22931" y="1275480"/>
            <a:ext cx="3709143" cy="413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2"/>
              </a:lnSpc>
              <a:spcBef>
                <a:spcPct val="0"/>
              </a:spcBef>
            </a:pPr>
            <a:r>
              <a:rPr lang="en-US" sz="2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MCP Server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4921" y="2931506"/>
            <a:ext cx="2805164" cy="120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2997" lvl="1" indent="-186499" algn="l">
              <a:lnSpc>
                <a:spcPts val="2418"/>
              </a:lnSpc>
              <a:buFont typeface="Arial"/>
              <a:buChar char="•"/>
            </a:pPr>
            <a:r>
              <a:rPr lang="en-US" sz="1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 Registry</a:t>
            </a:r>
          </a:p>
          <a:p>
            <a:pPr marL="372997" lvl="1" indent="-186499" algn="l">
              <a:lnSpc>
                <a:spcPts val="2418"/>
              </a:lnSpc>
              <a:buFont typeface="Arial"/>
              <a:buChar char="•"/>
            </a:pPr>
            <a:r>
              <a:rPr lang="en-US" sz="1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Schema Validator</a:t>
            </a:r>
          </a:p>
          <a:p>
            <a:pPr marL="372997" lvl="1" indent="-186499" algn="l">
              <a:lnSpc>
                <a:spcPts val="2418"/>
              </a:lnSpc>
              <a:buFont typeface="Arial"/>
              <a:buChar char="•"/>
            </a:pPr>
            <a:r>
              <a:rPr lang="en-US" sz="1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Router/Dispatcher</a:t>
            </a:r>
          </a:p>
          <a:p>
            <a:pPr marL="372997" lvl="1" indent="-186499" algn="l">
              <a:lnSpc>
                <a:spcPts val="2418"/>
              </a:lnSpc>
              <a:buFont typeface="Arial"/>
              <a:buChar char="•"/>
            </a:pPr>
            <a:r>
              <a:rPr lang="en-US" sz="1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00048" y="5446944"/>
            <a:ext cx="2185700" cy="101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endParaRPr/>
          </a:p>
          <a:p>
            <a:pPr marL="318016" lvl="1" indent="-159008" algn="l">
              <a:lnSpc>
                <a:spcPts val="2062"/>
              </a:lnSpc>
              <a:buFont typeface="Arial"/>
              <a:buChar char="•"/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get_transactions()</a:t>
            </a:r>
          </a:p>
          <a:p>
            <a:pPr marL="318016" lvl="1" indent="-159008" algn="l">
              <a:lnSpc>
                <a:spcPts val="2062"/>
              </a:lnSpc>
              <a:buFont typeface="Arial"/>
              <a:buChar char="•"/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transfer_money()</a:t>
            </a:r>
          </a:p>
          <a:p>
            <a:pPr marL="318016" lvl="1" indent="-159008" algn="l">
              <a:lnSpc>
                <a:spcPts val="2062"/>
              </a:lnSpc>
              <a:buFont typeface="Arial"/>
              <a:buChar char="•"/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send_notifications()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26541" y="4995519"/>
            <a:ext cx="1901924" cy="34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2"/>
              </a:lnSpc>
              <a:spcBef>
                <a:spcPct val="0"/>
              </a:spcBef>
            </a:pPr>
            <a:r>
              <a:rPr lang="en-US" sz="20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Available tools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108577" y="4825917"/>
            <a:ext cx="385372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>
            <a:off x="8254006" y="8226345"/>
            <a:ext cx="576432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V="1">
            <a:off x="8273056" y="7615191"/>
            <a:ext cx="0" cy="6111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TextBox 31"/>
          <p:cNvSpPr txBox="1"/>
          <p:nvPr/>
        </p:nvSpPr>
        <p:spPr>
          <a:xfrm>
            <a:off x="10546728" y="3929616"/>
            <a:ext cx="2776835" cy="5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Native System Calls</a:t>
            </a:r>
          </a:p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(DB queries / REST / SDK / CLI)</a:t>
            </a:r>
          </a:p>
        </p:txBody>
      </p:sp>
      <p:sp>
        <p:nvSpPr>
          <p:cNvPr id="32" name="AutoShape 32"/>
          <p:cNvSpPr/>
          <p:nvPr/>
        </p:nvSpPr>
        <p:spPr>
          <a:xfrm>
            <a:off x="3809660" y="4806867"/>
            <a:ext cx="25897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33" name="TextBox 33"/>
          <p:cNvSpPr txBox="1"/>
          <p:nvPr/>
        </p:nvSpPr>
        <p:spPr>
          <a:xfrm>
            <a:off x="9177739" y="7892970"/>
            <a:ext cx="4145824" cy="24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 Execution Result (Raw System Output)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09530" y="3942255"/>
            <a:ext cx="2369588" cy="72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8"/>
              </a:lnSpc>
              <a:spcBef>
                <a:spcPct val="0"/>
              </a:spcBef>
            </a:pPr>
            <a:r>
              <a:rPr lang="en-US" sz="1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MCP Protocol</a:t>
            </a:r>
          </a:p>
          <a:p>
            <a:pPr algn="ctr">
              <a:lnSpc>
                <a:spcPts val="1988"/>
              </a:lnSpc>
              <a:spcBef>
                <a:spcPct val="0"/>
              </a:spcBef>
            </a:pPr>
            <a:r>
              <a:rPr lang="en-US" sz="1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(Structured Tool Invocation &amp; Results)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76BC">
                <a:alpha val="100000"/>
              </a:srgbClr>
            </a:gs>
            <a:gs pos="100000">
              <a:srgbClr val="F9DA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8026" y="113044"/>
            <a:ext cx="17259300" cy="10373537"/>
          </a:xfrm>
          <a:custGeom>
            <a:avLst/>
            <a:gdLst/>
            <a:ahLst/>
            <a:cxnLst/>
            <a:rect l="l" t="t" r="r" b="b"/>
            <a:pathLst>
              <a:path w="17259300" h="10373537">
                <a:moveTo>
                  <a:pt x="0" y="0"/>
                </a:moveTo>
                <a:lnTo>
                  <a:pt x="17259300" y="0"/>
                </a:lnTo>
                <a:lnTo>
                  <a:pt x="17259300" y="10373537"/>
                </a:lnTo>
                <a:lnTo>
                  <a:pt x="0" y="10373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24" b="-542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D76BC">
                <a:alpha val="100000"/>
              </a:srgbClr>
            </a:gs>
            <a:gs pos="100000">
              <a:srgbClr val="F9DA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</Words>
  <Application>Microsoft Office PowerPoint</Application>
  <PresentationFormat>Custom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Canva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cp:lastModifiedBy>Mathan Kumar</cp:lastModifiedBy>
  <cp:revision>4</cp:revision>
  <dcterms:created xsi:type="dcterms:W3CDTF">2006-08-16T00:00:00Z</dcterms:created>
  <dcterms:modified xsi:type="dcterms:W3CDTF">2026-01-10T14:13:50Z</dcterms:modified>
  <dc:identifier>DAG9WWjv78U</dc:identifier>
</cp:coreProperties>
</file>