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84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85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6" r:id="rId30"/>
    <p:sldId id="282" r:id="rId31"/>
    <p:sldId id="283" r:id="rId3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0F01E6-F43E-A838-382F-F6F075C4423D}" v="71" dt="2026-09-12T05:12:11.655"/>
    <p1510:client id="{6BFFDE48-5C66-090E-9653-4ED32EDB20BD}" v="239" dt="2026-09-12T04:31:28.5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477745-23E8-4D63-9E43-A77E25D312A4}" type="datetimeFigureOut">
              <a:t>9/11/2026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FB1B94-428E-4DB4-B976-57C9E110E1AB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26043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4E20C-526D-59FC-1A6E-B7DDC5196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2A98C2-2816-8B44-F0CF-EE84300F68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91892F-A1BD-C2B4-15E2-B06D5F698C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00C52D-1207-FF86-11F1-52C119074B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521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BBF9A-C71B-4139-53BD-3AC35DDD2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F93155-0617-C469-A199-34758831AF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40D22D-6CFB-CB87-290E-F033C2C4E3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8C1B69-60E6-9536-A05C-1165482583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8347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270D6-CBF7-79EF-6E14-B24C0B772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D58CCF-5C70-4374-4270-2A40385C1C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E45C06-B07C-90D2-B316-ADFE2ED641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2C483E-B134-D79D-B74E-9F82E26296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9760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FF5F3C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371600"/>
            <a:ext cx="7132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56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Demo</a:t>
            </a:r>
            <a:endParaRPr lang="en-US" sz="5000" dirty="0"/>
          </a:p>
          <a:p>
            <a:pPr marL="0" indent="0">
              <a:lnSpc>
                <a:spcPts val="56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Dependable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914400" y="3145536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A9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of taking AI from experiment to enterprise scale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914400" y="3986784"/>
            <a:ext cx="6766560" cy="10973"/>
          </a:xfrm>
          <a:prstGeom prst="rect">
            <a:avLst/>
          </a:prstGeom>
          <a:solidFill>
            <a:srgbClr val="33405A"/>
          </a:solidFill>
          <a:ln/>
        </p:spPr>
      </p:sp>
      <p:sp>
        <p:nvSpPr>
          <p:cNvPr id="6" name="Shape 4"/>
          <p:cNvSpPr/>
          <p:nvPr/>
        </p:nvSpPr>
        <p:spPr>
          <a:xfrm>
            <a:off x="864108" y="3941064"/>
            <a:ext cx="100584" cy="100584"/>
          </a:xfrm>
          <a:prstGeom prst="ellipse">
            <a:avLst/>
          </a:prstGeom>
          <a:solidFill>
            <a:srgbClr val="FF5F3C"/>
          </a:solidFill>
          <a:ln/>
        </p:spPr>
      </p:sp>
      <p:sp>
        <p:nvSpPr>
          <p:cNvPr id="7" name="Shape 5"/>
          <p:cNvSpPr/>
          <p:nvPr/>
        </p:nvSpPr>
        <p:spPr>
          <a:xfrm>
            <a:off x="2555748" y="3941064"/>
            <a:ext cx="100584" cy="100584"/>
          </a:xfrm>
          <a:prstGeom prst="ellipse">
            <a:avLst/>
          </a:prstGeom>
          <a:solidFill>
            <a:srgbClr val="44506B"/>
          </a:solidFill>
          <a:ln/>
        </p:spPr>
      </p:sp>
      <p:sp>
        <p:nvSpPr>
          <p:cNvPr id="8" name="Shape 6"/>
          <p:cNvSpPr/>
          <p:nvPr/>
        </p:nvSpPr>
        <p:spPr>
          <a:xfrm>
            <a:off x="4247388" y="3941064"/>
            <a:ext cx="100584" cy="100584"/>
          </a:xfrm>
          <a:prstGeom prst="ellipse">
            <a:avLst/>
          </a:prstGeom>
          <a:solidFill>
            <a:srgbClr val="44506B"/>
          </a:solidFill>
          <a:ln/>
        </p:spPr>
      </p:sp>
      <p:sp>
        <p:nvSpPr>
          <p:cNvPr id="9" name="Shape 7"/>
          <p:cNvSpPr/>
          <p:nvPr/>
        </p:nvSpPr>
        <p:spPr>
          <a:xfrm>
            <a:off x="5939028" y="3941064"/>
            <a:ext cx="100584" cy="100584"/>
          </a:xfrm>
          <a:prstGeom prst="ellipse">
            <a:avLst/>
          </a:prstGeom>
          <a:solidFill>
            <a:srgbClr val="44506B"/>
          </a:solidFill>
          <a:ln/>
        </p:spPr>
      </p:sp>
      <p:sp>
        <p:nvSpPr>
          <p:cNvPr id="10" name="Shape 8"/>
          <p:cNvSpPr/>
          <p:nvPr/>
        </p:nvSpPr>
        <p:spPr>
          <a:xfrm>
            <a:off x="7630668" y="3941064"/>
            <a:ext cx="100584" cy="100584"/>
          </a:xfrm>
          <a:prstGeom prst="ellipse">
            <a:avLst/>
          </a:prstGeom>
          <a:solidFill>
            <a:srgbClr val="44506B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297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kern="0" spc="80" dirty="0">
                <a:solidFill>
                  <a:srgbClr val="8A93A3"/>
                </a:solidFill>
                <a:latin typeface="Calibri"/>
                <a:ea typeface="Calibri"/>
                <a:cs typeface="Calibri"/>
              </a:rPr>
              <a:t>Bhuvaneshwari Rajasekar | Sr AI </a:t>
            </a:r>
            <a:r>
              <a:rPr lang="en-US" sz="1150" kern="0" spc="80" dirty="0">
                <a:solidFill>
                  <a:srgbClr val="8A93A3"/>
                </a:solidFill>
                <a:ea typeface="+mn-lt"/>
                <a:cs typeface="+mn-lt"/>
              </a:rPr>
              <a:t>Engineering Manager | Architect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626864"/>
            <a:ext cx="8010144" cy="12802"/>
          </a:xfrm>
          <a:prstGeom prst="rect">
            <a:avLst/>
          </a:prstGeom>
          <a:solidFill>
            <a:srgbClr val="33405A"/>
          </a:solidFill>
          <a:ln/>
        </p:spPr>
      </p:sp>
      <p:sp>
        <p:nvSpPr>
          <p:cNvPr id="3" name="Shape 1"/>
          <p:cNvSpPr/>
          <p:nvPr/>
        </p:nvSpPr>
        <p:spPr>
          <a:xfrm>
            <a:off x="489204" y="4555541"/>
            <a:ext cx="155448" cy="155448"/>
          </a:xfrm>
          <a:prstGeom prst="ellipse">
            <a:avLst/>
          </a:prstGeom>
          <a:solidFill>
            <a:srgbClr val="FF5F3C"/>
          </a:solidFill>
          <a:ln/>
        </p:spPr>
      </p:sp>
      <p:sp>
        <p:nvSpPr>
          <p:cNvPr id="4" name="Text 2"/>
          <p:cNvSpPr/>
          <p:nvPr/>
        </p:nvSpPr>
        <p:spPr>
          <a:xfrm>
            <a:off x="-210312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60" dirty="0">
                <a:solidFill>
                  <a:srgbClr val="FF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2530602" y="4594403"/>
            <a:ext cx="77724" cy="77724"/>
          </a:xfrm>
          <a:prstGeom prst="ellipse">
            <a:avLst/>
          </a:prstGeom>
          <a:solidFill>
            <a:srgbClr val="44506B"/>
          </a:solidFill>
          <a:ln/>
        </p:spPr>
      </p:sp>
      <p:sp>
        <p:nvSpPr>
          <p:cNvPr id="6" name="Text 4"/>
          <p:cNvSpPr/>
          <p:nvPr/>
        </p:nvSpPr>
        <p:spPr>
          <a:xfrm>
            <a:off x="1792224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5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0-90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33138" y="4594403"/>
            <a:ext cx="77724" cy="77724"/>
          </a:xfrm>
          <a:prstGeom prst="ellipse">
            <a:avLst/>
          </a:prstGeom>
          <a:solidFill>
            <a:srgbClr val="44506B"/>
          </a:solidFill>
          <a:ln/>
        </p:spPr>
      </p:sp>
      <p:sp>
        <p:nvSpPr>
          <p:cNvPr id="8" name="Text 6"/>
          <p:cNvSpPr/>
          <p:nvPr/>
        </p:nvSpPr>
        <p:spPr>
          <a:xfrm>
            <a:off x="3794760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5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535674" y="4594403"/>
            <a:ext cx="77724" cy="77724"/>
          </a:xfrm>
          <a:prstGeom prst="ellipse">
            <a:avLst/>
          </a:prstGeom>
          <a:solidFill>
            <a:srgbClr val="44506B"/>
          </a:solidFill>
          <a:ln/>
        </p:spPr>
      </p:sp>
      <p:sp>
        <p:nvSpPr>
          <p:cNvPr id="10" name="Text 8"/>
          <p:cNvSpPr/>
          <p:nvPr/>
        </p:nvSpPr>
        <p:spPr>
          <a:xfrm>
            <a:off x="5797296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5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538210" y="4594403"/>
            <a:ext cx="77724" cy="77724"/>
          </a:xfrm>
          <a:prstGeom prst="ellipse">
            <a:avLst/>
          </a:prstGeom>
          <a:solidFill>
            <a:srgbClr val="44506B"/>
          </a:solidFill>
          <a:ln/>
        </p:spPr>
      </p:sp>
      <p:sp>
        <p:nvSpPr>
          <p:cNvPr id="12" name="Text 10"/>
          <p:cNvSpPr/>
          <p:nvPr/>
        </p:nvSpPr>
        <p:spPr>
          <a:xfrm>
            <a:off x="7799832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5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state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229600" y="21945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6928" y="420624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FF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 AI PROJECT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66928" y="1316736"/>
            <a:ext cx="7863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the first question</a:t>
            </a:r>
            <a:endParaRPr lang="en-US" sz="36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ask before starting</a:t>
            </a:r>
            <a:endParaRPr lang="en-US" sz="36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any project?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DAA0B2-2F16-C235-31E1-7032BDA76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24AA151-F5DB-2904-4C7D-619D58525BA7}"/>
              </a:ext>
            </a:extLst>
          </p:cNvPr>
          <p:cNvSpPr/>
          <p:nvPr/>
        </p:nvSpPr>
        <p:spPr>
          <a:xfrm>
            <a:off x="566928" y="4626864"/>
            <a:ext cx="8010144" cy="12802"/>
          </a:xfrm>
          <a:prstGeom prst="rect">
            <a:avLst/>
          </a:prstGeom>
          <a:solidFill>
            <a:srgbClr val="DAD5C9"/>
          </a:solidFill>
          <a:ln/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99E605B-0A0D-4D58-2DA6-0811E6F61DD8}"/>
              </a:ext>
            </a:extLst>
          </p:cNvPr>
          <p:cNvSpPr/>
          <p:nvPr/>
        </p:nvSpPr>
        <p:spPr>
          <a:xfrm>
            <a:off x="528066" y="4594403"/>
            <a:ext cx="77724" cy="77724"/>
          </a:xfrm>
          <a:prstGeom prst="ellipse">
            <a:avLst/>
          </a:prstGeom>
          <a:solidFill>
            <a:srgbClr val="C6C1B4"/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A61D440-797E-169F-8AE3-D0384E1D0376}"/>
              </a:ext>
            </a:extLst>
          </p:cNvPr>
          <p:cNvSpPr/>
          <p:nvPr/>
        </p:nvSpPr>
        <p:spPr>
          <a:xfrm>
            <a:off x="-210312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</a:t>
            </a:r>
            <a:endParaRPr lang="en-US" sz="85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2537E2B-3E3F-D302-590C-BE3DD246A726}"/>
              </a:ext>
            </a:extLst>
          </p:cNvPr>
          <p:cNvSpPr/>
          <p:nvPr/>
        </p:nvSpPr>
        <p:spPr>
          <a:xfrm>
            <a:off x="2530602" y="4594403"/>
            <a:ext cx="77724" cy="77724"/>
          </a:xfrm>
          <a:prstGeom prst="ellipse">
            <a:avLst/>
          </a:prstGeom>
          <a:solidFill>
            <a:srgbClr val="C6C1B4"/>
          </a:solidFill>
          <a:ln/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CFA6409-5D05-89E9-2884-7E6EFFE732DB}"/>
              </a:ext>
            </a:extLst>
          </p:cNvPr>
          <p:cNvSpPr/>
          <p:nvPr/>
        </p:nvSpPr>
        <p:spPr>
          <a:xfrm>
            <a:off x="1792224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0-90</a:t>
            </a:r>
            <a:endParaRPr lang="en-US" sz="85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75742788-0954-3F5B-1479-2864CFBC8385}"/>
              </a:ext>
            </a:extLst>
          </p:cNvPr>
          <p:cNvSpPr/>
          <p:nvPr/>
        </p:nvSpPr>
        <p:spPr>
          <a:xfrm>
            <a:off x="4533138" y="4594403"/>
            <a:ext cx="77724" cy="77724"/>
          </a:xfrm>
          <a:prstGeom prst="ellipse">
            <a:avLst/>
          </a:prstGeom>
          <a:solidFill>
            <a:srgbClr val="C6C1B4"/>
          </a:solidFill>
          <a:ln/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88769D4-A616-AB82-249E-6D65511E9F93}"/>
              </a:ext>
            </a:extLst>
          </p:cNvPr>
          <p:cNvSpPr/>
          <p:nvPr/>
        </p:nvSpPr>
        <p:spPr>
          <a:xfrm>
            <a:off x="3794760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85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0370D850-B342-EFB2-7941-3F0EBBE9DAF7}"/>
              </a:ext>
            </a:extLst>
          </p:cNvPr>
          <p:cNvSpPr/>
          <p:nvPr/>
        </p:nvSpPr>
        <p:spPr>
          <a:xfrm>
            <a:off x="6496812" y="4555541"/>
            <a:ext cx="155448" cy="155448"/>
          </a:xfrm>
          <a:prstGeom prst="ellipse">
            <a:avLst/>
          </a:prstGeom>
          <a:solidFill>
            <a:srgbClr val="FF5F3C"/>
          </a:solidFill>
          <a:ln/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3C53564-C23D-EC0F-E6E2-8E6C0DA58304}"/>
              </a:ext>
            </a:extLst>
          </p:cNvPr>
          <p:cNvSpPr/>
          <p:nvPr/>
        </p:nvSpPr>
        <p:spPr>
          <a:xfrm>
            <a:off x="5797296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60" dirty="0">
                <a:solidFill>
                  <a:srgbClr val="FF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5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01AE81A6-24C2-9103-BFF9-AABCD404338E}"/>
              </a:ext>
            </a:extLst>
          </p:cNvPr>
          <p:cNvSpPr/>
          <p:nvPr/>
        </p:nvSpPr>
        <p:spPr>
          <a:xfrm>
            <a:off x="8538210" y="4594403"/>
            <a:ext cx="77724" cy="77724"/>
          </a:xfrm>
          <a:prstGeom prst="ellipse">
            <a:avLst/>
          </a:prstGeom>
          <a:solidFill>
            <a:srgbClr val="C6C1B4"/>
          </a:solidFill>
          <a:ln/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56F1A64-18C0-AAAB-E9E1-F0DEC51DD028}"/>
              </a:ext>
            </a:extLst>
          </p:cNvPr>
          <p:cNvSpPr/>
          <p:nvPr/>
        </p:nvSpPr>
        <p:spPr>
          <a:xfrm>
            <a:off x="7799832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state</a:t>
            </a:r>
            <a:endParaRPr lang="en-US" sz="85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E0E6B45D-57D8-2969-BEEE-AA542FFAF867}"/>
              </a:ext>
            </a:extLst>
          </p:cNvPr>
          <p:cNvSpPr/>
          <p:nvPr/>
        </p:nvSpPr>
        <p:spPr>
          <a:xfrm>
            <a:off x="8229600" y="21945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FB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ADEA9B0C-A116-0B00-91C5-2794DEE1F81D}"/>
              </a:ext>
            </a:extLst>
          </p:cNvPr>
          <p:cNvSpPr/>
          <p:nvPr/>
        </p:nvSpPr>
        <p:spPr>
          <a:xfrm>
            <a:off x="566928" y="420624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FF5F3C"/>
                </a:solidFill>
                <a:latin typeface="Calibri"/>
                <a:ea typeface="Calibri"/>
                <a:cs typeface="Calibri"/>
              </a:rPr>
              <a:t>THE WHY</a:t>
            </a:r>
            <a:endParaRPr lang="en-US" sz="1050" dirty="0">
              <a:latin typeface="Calibri"/>
              <a:ea typeface="Calibri"/>
              <a:cs typeface="Calibri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84D58BA-4027-F527-34F6-AF7F7944A7C4}"/>
              </a:ext>
            </a:extLst>
          </p:cNvPr>
          <p:cNvSpPr/>
          <p:nvPr/>
        </p:nvSpPr>
        <p:spPr>
          <a:xfrm>
            <a:off x="566928" y="1316736"/>
            <a:ext cx="8010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3200"/>
              </a:lnSpc>
            </a:pPr>
            <a:r>
              <a:rPr lang="en-US" sz="2100" dirty="0" err="1">
                <a:solidFill>
                  <a:srgbClr val="121A2B"/>
                </a:solidFill>
                <a:latin typeface="Nirmala UI"/>
                <a:ea typeface="Nirmala UI"/>
                <a:cs typeface="Nirmala UI"/>
              </a:rPr>
              <a:t>அழிவதூஉம்</a:t>
            </a:r>
            <a:r>
              <a:rPr lang="en-US" sz="2100" dirty="0">
                <a:solidFill>
                  <a:srgbClr val="121A2B"/>
                </a:solidFill>
                <a:latin typeface="Nirmala UI"/>
                <a:ea typeface="Nirmala UI"/>
                <a:cs typeface="Nirmala UI"/>
              </a:rPr>
              <a:t> </a:t>
            </a:r>
            <a:r>
              <a:rPr lang="en-US" sz="2100" dirty="0" err="1">
                <a:solidFill>
                  <a:srgbClr val="121A2B"/>
                </a:solidFill>
                <a:latin typeface="Nirmala UI"/>
                <a:ea typeface="Nirmala UI"/>
                <a:cs typeface="Nirmala UI"/>
              </a:rPr>
              <a:t>ஆவதூஉம்</a:t>
            </a:r>
            <a:r>
              <a:rPr lang="en-US" sz="2100" dirty="0">
                <a:solidFill>
                  <a:srgbClr val="121A2B"/>
                </a:solidFill>
                <a:latin typeface="Nirmala UI"/>
                <a:ea typeface="Nirmala UI"/>
                <a:cs typeface="Nirmala UI"/>
              </a:rPr>
              <a:t> </a:t>
            </a:r>
            <a:r>
              <a:rPr lang="en-US" sz="2100" dirty="0" err="1">
                <a:solidFill>
                  <a:srgbClr val="121A2B"/>
                </a:solidFill>
                <a:latin typeface="Nirmala UI"/>
                <a:ea typeface="Nirmala UI"/>
                <a:cs typeface="Nirmala UI"/>
              </a:rPr>
              <a:t>ஆகி</a:t>
            </a:r>
            <a:r>
              <a:rPr lang="en-US" sz="2100" dirty="0">
                <a:solidFill>
                  <a:srgbClr val="121A2B"/>
                </a:solidFill>
                <a:latin typeface="Nirmala UI"/>
                <a:ea typeface="Nirmala UI"/>
                <a:cs typeface="Nirmala UI"/>
              </a:rPr>
              <a:t> </a:t>
            </a:r>
            <a:r>
              <a:rPr lang="en-US" sz="2100" dirty="0" err="1">
                <a:solidFill>
                  <a:srgbClr val="121A2B"/>
                </a:solidFill>
                <a:latin typeface="Nirmala UI"/>
                <a:ea typeface="Nirmala UI"/>
                <a:cs typeface="Nirmala UI"/>
              </a:rPr>
              <a:t>வழிபயக்கும்</a:t>
            </a:r>
            <a:br>
              <a:rPr lang="en-US" sz="2100" dirty="0">
                <a:latin typeface="Nirmala UI"/>
                <a:ea typeface="Nirmala UI"/>
                <a:cs typeface="Nirmala UI"/>
              </a:rPr>
            </a:br>
            <a:r>
              <a:rPr lang="en-US" sz="2100" dirty="0">
                <a:solidFill>
                  <a:srgbClr val="121A2B"/>
                </a:solidFill>
                <a:latin typeface="Nirmala UI"/>
                <a:ea typeface="Nirmala UI"/>
                <a:cs typeface="Nirmala UI"/>
              </a:rPr>
              <a:t> </a:t>
            </a:r>
            <a:r>
              <a:rPr lang="en-US" sz="2100" dirty="0" err="1">
                <a:solidFill>
                  <a:srgbClr val="121A2B"/>
                </a:solidFill>
                <a:latin typeface="Nirmala UI"/>
                <a:ea typeface="Nirmala UI"/>
                <a:cs typeface="Nirmala UI"/>
              </a:rPr>
              <a:t>ஊதியமும்</a:t>
            </a:r>
            <a:r>
              <a:rPr lang="en-US" sz="2100" dirty="0">
                <a:solidFill>
                  <a:srgbClr val="121A2B"/>
                </a:solidFill>
                <a:latin typeface="Nirmala UI"/>
                <a:ea typeface="Nirmala UI"/>
                <a:cs typeface="Nirmala UI"/>
              </a:rPr>
              <a:t> </a:t>
            </a:r>
            <a:r>
              <a:rPr lang="en-US" sz="2100" dirty="0" err="1">
                <a:solidFill>
                  <a:srgbClr val="121A2B"/>
                </a:solidFill>
                <a:latin typeface="Nirmala UI"/>
                <a:ea typeface="Nirmala UI"/>
                <a:cs typeface="Nirmala UI"/>
              </a:rPr>
              <a:t>சூழ்ந்து</a:t>
            </a:r>
            <a:r>
              <a:rPr lang="en-US" sz="2100" dirty="0">
                <a:solidFill>
                  <a:srgbClr val="121A2B"/>
                </a:solidFill>
                <a:latin typeface="Nirmala UI"/>
                <a:ea typeface="Nirmala UI"/>
                <a:cs typeface="Nirmala UI"/>
              </a:rPr>
              <a:t> </a:t>
            </a:r>
            <a:r>
              <a:rPr lang="en-US" sz="2100" dirty="0" err="1">
                <a:solidFill>
                  <a:srgbClr val="121A2B"/>
                </a:solidFill>
                <a:latin typeface="Nirmala UI"/>
                <a:ea typeface="Nirmala UI"/>
                <a:cs typeface="Nirmala UI"/>
              </a:rPr>
              <a:t>செயல்</a:t>
            </a:r>
            <a:r>
              <a:rPr lang="en-US" sz="2100" dirty="0">
                <a:solidFill>
                  <a:srgbClr val="121A2B"/>
                </a:solidFill>
                <a:latin typeface="Nirmala UI"/>
                <a:ea typeface="Nirmala UI"/>
                <a:cs typeface="Nirmala UI"/>
              </a:rPr>
              <a:t>.</a:t>
            </a:r>
            <a:endParaRPr lang="en-US">
              <a:latin typeface="Nirmala UI"/>
              <a:ea typeface="Nirmala UI"/>
              <a:cs typeface="Nirmala UI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F9B84E1D-350E-8DA5-4A24-07CD75EEF7FA}"/>
              </a:ext>
            </a:extLst>
          </p:cNvPr>
          <p:cNvSpPr/>
          <p:nvPr/>
        </p:nvSpPr>
        <p:spPr>
          <a:xfrm>
            <a:off x="566928" y="2286000"/>
            <a:ext cx="8010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dirty="0">
                <a:solidFill>
                  <a:srgbClr val="8A93A3"/>
                </a:solidFill>
                <a:latin typeface="Nirmala UI"/>
                <a:ea typeface="Nirmala UI"/>
                <a:cs typeface="Nirmala UI"/>
              </a:rPr>
              <a:t>— </a:t>
            </a:r>
            <a:r>
              <a:rPr lang="en-US" sz="1100" dirty="0" err="1">
                <a:solidFill>
                  <a:srgbClr val="8A93A3"/>
                </a:solidFill>
                <a:latin typeface="Nirmala UI"/>
                <a:ea typeface="Nirmala UI"/>
                <a:cs typeface="Nirmala UI"/>
              </a:rPr>
              <a:t>குறள்</a:t>
            </a:r>
            <a:r>
              <a:rPr lang="en-US" sz="1100" dirty="0">
                <a:solidFill>
                  <a:srgbClr val="8A93A3"/>
                </a:solidFill>
                <a:latin typeface="Nirmala UI"/>
                <a:ea typeface="Nirmala UI"/>
                <a:cs typeface="Nirmala UI"/>
              </a:rPr>
              <a:t> 461</a:t>
            </a:r>
            <a:endParaRPr lang="en-US" sz="1100" dirty="0">
              <a:latin typeface="Nirmala UI"/>
              <a:ea typeface="Nirmala UI"/>
              <a:cs typeface="Nirmala UI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943850E0-795D-93E5-FD05-DA360FD4DF2D}"/>
              </a:ext>
            </a:extLst>
          </p:cNvPr>
          <p:cNvSpPr/>
          <p:nvPr/>
        </p:nvSpPr>
        <p:spPr>
          <a:xfrm>
            <a:off x="566928" y="2798064"/>
            <a:ext cx="8010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00" b="1" i="1" dirty="0">
                <a:solidFill>
                  <a:srgbClr val="FF5F3C"/>
                </a:solidFill>
                <a:latin typeface="Georgia"/>
                <a:ea typeface="Calibri"/>
                <a:cs typeface="Calibri"/>
              </a:rPr>
              <a:t>“</a:t>
            </a:r>
            <a:r>
              <a:rPr lang="en-US" sz="2100" dirty="0">
                <a:solidFill>
                  <a:srgbClr val="FF5F3C"/>
                </a:solidFill>
                <a:ea typeface="+mn-lt"/>
                <a:cs typeface="+mn-lt"/>
              </a:rPr>
              <a:t>Act after taking into account the cost, the benefit and the result</a:t>
            </a:r>
            <a:r>
              <a:rPr lang="en-US" sz="2100" b="1" i="1" dirty="0">
                <a:solidFill>
                  <a:srgbClr val="FF5F3C"/>
                </a:solidFill>
                <a:latin typeface="Georgia"/>
                <a:ea typeface="Calibri"/>
                <a:cs typeface="Calibri"/>
              </a:rPr>
              <a:t>”</a:t>
            </a:r>
            <a:endParaRPr lang="en-US" sz="2100" dirty="0">
              <a:latin typeface="Georgia"/>
              <a:ea typeface="Calibri"/>
              <a:cs typeface="Calibri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9C2B7B7F-BA8C-4CCC-C028-92116FA903D4}"/>
              </a:ext>
            </a:extLst>
          </p:cNvPr>
          <p:cNvSpPr/>
          <p:nvPr/>
        </p:nvSpPr>
        <p:spPr>
          <a:xfrm>
            <a:off x="566928" y="3346704"/>
            <a:ext cx="8010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50" dirty="0">
                <a:solidFill>
                  <a:srgbClr val="5C6779"/>
                </a:solidFill>
                <a:ea typeface="+mn-lt"/>
                <a:cs typeface="+mn-lt"/>
              </a:rPr>
              <a:t>You can build the right thing well and still solve the wrong problem.</a:t>
            </a:r>
            <a:endParaRPr lang="en-U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253059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626864"/>
            <a:ext cx="8010144" cy="12802"/>
          </a:xfrm>
          <a:prstGeom prst="rect">
            <a:avLst/>
          </a:prstGeom>
          <a:solidFill>
            <a:srgbClr val="DAD5C9"/>
          </a:solidFill>
          <a:ln/>
        </p:spPr>
      </p:sp>
      <p:sp>
        <p:nvSpPr>
          <p:cNvPr id="3" name="Shape 1"/>
          <p:cNvSpPr/>
          <p:nvPr/>
        </p:nvSpPr>
        <p:spPr>
          <a:xfrm>
            <a:off x="489204" y="4555541"/>
            <a:ext cx="155448" cy="155448"/>
          </a:xfrm>
          <a:prstGeom prst="ellipse">
            <a:avLst/>
          </a:prstGeom>
          <a:solidFill>
            <a:srgbClr val="FF5F3C"/>
          </a:solidFill>
          <a:ln/>
        </p:spPr>
      </p:sp>
      <p:sp>
        <p:nvSpPr>
          <p:cNvPr id="4" name="Text 2"/>
          <p:cNvSpPr/>
          <p:nvPr/>
        </p:nvSpPr>
        <p:spPr>
          <a:xfrm>
            <a:off x="-210312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60" dirty="0">
                <a:solidFill>
                  <a:srgbClr val="FF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2530602" y="4594403"/>
            <a:ext cx="77724" cy="77724"/>
          </a:xfrm>
          <a:prstGeom prst="ellipse">
            <a:avLst/>
          </a:prstGeom>
          <a:solidFill>
            <a:srgbClr val="C6C1B4"/>
          </a:solidFill>
          <a:ln/>
        </p:spPr>
      </p:sp>
      <p:sp>
        <p:nvSpPr>
          <p:cNvPr id="6" name="Text 4"/>
          <p:cNvSpPr/>
          <p:nvPr/>
        </p:nvSpPr>
        <p:spPr>
          <a:xfrm>
            <a:off x="1792224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0-90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33138" y="4594403"/>
            <a:ext cx="77724" cy="77724"/>
          </a:xfrm>
          <a:prstGeom prst="ellipse">
            <a:avLst/>
          </a:prstGeom>
          <a:solidFill>
            <a:srgbClr val="C6C1B4"/>
          </a:solidFill>
          <a:ln/>
        </p:spPr>
      </p:sp>
      <p:sp>
        <p:nvSpPr>
          <p:cNvPr id="8" name="Text 6"/>
          <p:cNvSpPr/>
          <p:nvPr/>
        </p:nvSpPr>
        <p:spPr>
          <a:xfrm>
            <a:off x="3794760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535674" y="4594403"/>
            <a:ext cx="77724" cy="77724"/>
          </a:xfrm>
          <a:prstGeom prst="ellipse">
            <a:avLst/>
          </a:prstGeom>
          <a:solidFill>
            <a:srgbClr val="C6C1B4"/>
          </a:solidFill>
          <a:ln/>
        </p:spPr>
      </p:sp>
      <p:sp>
        <p:nvSpPr>
          <p:cNvPr id="10" name="Text 8"/>
          <p:cNvSpPr/>
          <p:nvPr/>
        </p:nvSpPr>
        <p:spPr>
          <a:xfrm>
            <a:off x="5797296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538210" y="4594403"/>
            <a:ext cx="77724" cy="77724"/>
          </a:xfrm>
          <a:prstGeom prst="ellipse">
            <a:avLst/>
          </a:prstGeom>
          <a:solidFill>
            <a:srgbClr val="C6C1B4"/>
          </a:solidFill>
          <a:ln/>
        </p:spPr>
      </p:sp>
      <p:sp>
        <p:nvSpPr>
          <p:cNvPr id="12" name="Text 10"/>
          <p:cNvSpPr/>
          <p:nvPr/>
        </p:nvSpPr>
        <p:spPr>
          <a:xfrm>
            <a:off x="7799832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state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229600" y="21945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FB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6928" y="420624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FF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QUESTION THAT MATTERS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66928" y="749808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700"/>
              </a:lnSpc>
              <a:buNone/>
            </a:pPr>
            <a:r>
              <a:rPr lang="en-US" sz="3000" b="1" dirty="0">
                <a:solidFill>
                  <a:srgbClr val="12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“What is the solid customer problem?”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566928" y="1938528"/>
            <a:ext cx="2535936" cy="1956816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204825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4DE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822960" y="2542032"/>
            <a:ext cx="2060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2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What?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22960" y="2871216"/>
            <a:ext cx="206044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50"/>
              </a:lnSpc>
              <a:buNone/>
            </a:pPr>
            <a:r>
              <a:rPr lang="en-US" sz="120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stated in one sentence.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304032" y="1938528"/>
            <a:ext cx="2535936" cy="1956816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560064" y="204825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4DE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3560064" y="2542032"/>
            <a:ext cx="2060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2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Who?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3560064" y="2871216"/>
            <a:ext cx="206044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50"/>
              </a:lnSpc>
              <a:buNone/>
            </a:pPr>
            <a:r>
              <a:rPr lang="en-US" sz="120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customer. Not a persona.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041136" y="1938528"/>
            <a:ext cx="2535936" cy="1956816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297168" y="204825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4DE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297168" y="2542032"/>
            <a:ext cx="2060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2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does “good enough” mean?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297168" y="3054096"/>
            <a:ext cx="206044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50"/>
              </a:lnSpc>
              <a:buNone/>
            </a:pPr>
            <a:r>
              <a:rPr lang="en-US" sz="120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them. Not to us.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66928" y="4078224"/>
            <a:ext cx="8010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POC is how you start without being overwhelmed.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626864"/>
            <a:ext cx="8010144" cy="12802"/>
          </a:xfrm>
          <a:prstGeom prst="rect">
            <a:avLst/>
          </a:prstGeom>
          <a:solidFill>
            <a:srgbClr val="DAD5C9"/>
          </a:solidFill>
          <a:ln/>
        </p:spPr>
      </p:sp>
      <p:sp>
        <p:nvSpPr>
          <p:cNvPr id="3" name="Shape 1"/>
          <p:cNvSpPr/>
          <p:nvPr/>
        </p:nvSpPr>
        <p:spPr>
          <a:xfrm>
            <a:off x="528066" y="4594403"/>
            <a:ext cx="77724" cy="77724"/>
          </a:xfrm>
          <a:prstGeom prst="ellipse">
            <a:avLst/>
          </a:prstGeom>
          <a:solidFill>
            <a:srgbClr val="C6C1B4"/>
          </a:solidFill>
          <a:ln/>
        </p:spPr>
      </p:sp>
      <p:sp>
        <p:nvSpPr>
          <p:cNvPr id="4" name="Text 2"/>
          <p:cNvSpPr/>
          <p:nvPr/>
        </p:nvSpPr>
        <p:spPr>
          <a:xfrm>
            <a:off x="-210312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2491740" y="4555541"/>
            <a:ext cx="155448" cy="155448"/>
          </a:xfrm>
          <a:prstGeom prst="ellipse">
            <a:avLst/>
          </a:prstGeom>
          <a:solidFill>
            <a:srgbClr val="FF5F3C"/>
          </a:solidFill>
          <a:ln/>
        </p:spPr>
      </p:sp>
      <p:sp>
        <p:nvSpPr>
          <p:cNvPr id="6" name="Text 4"/>
          <p:cNvSpPr/>
          <p:nvPr/>
        </p:nvSpPr>
        <p:spPr>
          <a:xfrm>
            <a:off x="1792224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60" dirty="0">
                <a:solidFill>
                  <a:srgbClr val="FF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0-90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33138" y="4594403"/>
            <a:ext cx="77724" cy="77724"/>
          </a:xfrm>
          <a:prstGeom prst="ellipse">
            <a:avLst/>
          </a:prstGeom>
          <a:solidFill>
            <a:srgbClr val="C6C1B4"/>
          </a:solidFill>
          <a:ln/>
        </p:spPr>
      </p:sp>
      <p:sp>
        <p:nvSpPr>
          <p:cNvPr id="8" name="Text 6"/>
          <p:cNvSpPr/>
          <p:nvPr/>
        </p:nvSpPr>
        <p:spPr>
          <a:xfrm>
            <a:off x="3794760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535674" y="4594403"/>
            <a:ext cx="77724" cy="77724"/>
          </a:xfrm>
          <a:prstGeom prst="ellipse">
            <a:avLst/>
          </a:prstGeom>
          <a:solidFill>
            <a:srgbClr val="C6C1B4"/>
          </a:solidFill>
          <a:ln/>
        </p:spPr>
      </p:sp>
      <p:sp>
        <p:nvSpPr>
          <p:cNvPr id="10" name="Text 8"/>
          <p:cNvSpPr/>
          <p:nvPr/>
        </p:nvSpPr>
        <p:spPr>
          <a:xfrm>
            <a:off x="5797296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538210" y="4594403"/>
            <a:ext cx="77724" cy="77724"/>
          </a:xfrm>
          <a:prstGeom prst="ellipse">
            <a:avLst/>
          </a:prstGeom>
          <a:solidFill>
            <a:srgbClr val="C6C1B4"/>
          </a:solidFill>
          <a:ln/>
        </p:spPr>
      </p:sp>
      <p:sp>
        <p:nvSpPr>
          <p:cNvPr id="12" name="Text 10"/>
          <p:cNvSpPr/>
          <p:nvPr/>
        </p:nvSpPr>
        <p:spPr>
          <a:xfrm>
            <a:off x="7799832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state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229600" y="21945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FB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6928" y="420624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FF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POC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66928" y="749808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700"/>
              </a:lnSpc>
              <a:buNone/>
            </a:pPr>
            <a:r>
              <a:rPr lang="en-US" sz="3000" b="1" dirty="0">
                <a:solidFill>
                  <a:srgbClr val="12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wide — research, ideate, multiple approaches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566928" y="2377440"/>
            <a:ext cx="1796796" cy="768096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8368" y="2505456"/>
            <a:ext cx="16139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363724" y="2596896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2638044" y="2377440"/>
            <a:ext cx="1796796" cy="768096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729484" y="2505456"/>
            <a:ext cx="16139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Ideate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434840" y="2596896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709160" y="2377440"/>
            <a:ext cx="1796796" cy="768096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00600" y="2505456"/>
            <a:ext cx="16139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approaches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505956" y="2596896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780276" y="2377440"/>
            <a:ext cx="1796796" cy="768096"/>
          </a:xfrm>
          <a:prstGeom prst="rect">
            <a:avLst/>
          </a:prstGeom>
          <a:solidFill>
            <a:srgbClr val="FF5F3C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871716" y="2505456"/>
            <a:ext cx="16139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66928" y="3493008"/>
            <a:ext cx="8010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2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There is never one way to solve the problem.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566928" y="3877056"/>
            <a:ext cx="8010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i="1" dirty="0">
                <a:solidFill>
                  <a:srgbClr val="FF5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That’s the good news — and the trap.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626864"/>
            <a:ext cx="8010144" cy="12802"/>
          </a:xfrm>
          <a:prstGeom prst="rect">
            <a:avLst/>
          </a:prstGeom>
          <a:solidFill>
            <a:srgbClr val="DAD5C9"/>
          </a:solidFill>
          <a:ln/>
        </p:spPr>
      </p:sp>
      <p:sp>
        <p:nvSpPr>
          <p:cNvPr id="3" name="Shape 1"/>
          <p:cNvSpPr/>
          <p:nvPr/>
        </p:nvSpPr>
        <p:spPr>
          <a:xfrm>
            <a:off x="528066" y="4594403"/>
            <a:ext cx="77724" cy="77724"/>
          </a:xfrm>
          <a:prstGeom prst="ellipse">
            <a:avLst/>
          </a:prstGeom>
          <a:solidFill>
            <a:srgbClr val="C6C1B4"/>
          </a:solidFill>
          <a:ln/>
        </p:spPr>
      </p:sp>
      <p:sp>
        <p:nvSpPr>
          <p:cNvPr id="4" name="Text 2"/>
          <p:cNvSpPr/>
          <p:nvPr/>
        </p:nvSpPr>
        <p:spPr>
          <a:xfrm>
            <a:off x="-210312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2491740" y="4555541"/>
            <a:ext cx="155448" cy="155448"/>
          </a:xfrm>
          <a:prstGeom prst="ellipse">
            <a:avLst/>
          </a:prstGeom>
          <a:solidFill>
            <a:srgbClr val="FF5F3C"/>
          </a:solidFill>
          <a:ln/>
        </p:spPr>
      </p:sp>
      <p:sp>
        <p:nvSpPr>
          <p:cNvPr id="6" name="Text 4"/>
          <p:cNvSpPr/>
          <p:nvPr/>
        </p:nvSpPr>
        <p:spPr>
          <a:xfrm>
            <a:off x="1792224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60" dirty="0">
                <a:solidFill>
                  <a:srgbClr val="FF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0-90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33138" y="4594403"/>
            <a:ext cx="77724" cy="77724"/>
          </a:xfrm>
          <a:prstGeom prst="ellipse">
            <a:avLst/>
          </a:prstGeom>
          <a:solidFill>
            <a:srgbClr val="C6C1B4"/>
          </a:solidFill>
          <a:ln/>
        </p:spPr>
      </p:sp>
      <p:sp>
        <p:nvSpPr>
          <p:cNvPr id="8" name="Text 6"/>
          <p:cNvSpPr/>
          <p:nvPr/>
        </p:nvSpPr>
        <p:spPr>
          <a:xfrm>
            <a:off x="3794760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535674" y="4594403"/>
            <a:ext cx="77724" cy="77724"/>
          </a:xfrm>
          <a:prstGeom prst="ellipse">
            <a:avLst/>
          </a:prstGeom>
          <a:solidFill>
            <a:srgbClr val="C6C1B4"/>
          </a:solidFill>
          <a:ln/>
        </p:spPr>
      </p:sp>
      <p:sp>
        <p:nvSpPr>
          <p:cNvPr id="10" name="Text 8"/>
          <p:cNvSpPr/>
          <p:nvPr/>
        </p:nvSpPr>
        <p:spPr>
          <a:xfrm>
            <a:off x="5797296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538210" y="4594403"/>
            <a:ext cx="77724" cy="77724"/>
          </a:xfrm>
          <a:prstGeom prst="ellipse">
            <a:avLst/>
          </a:prstGeom>
          <a:solidFill>
            <a:srgbClr val="C6C1B4"/>
          </a:solidFill>
          <a:ln/>
        </p:spPr>
      </p:sp>
      <p:sp>
        <p:nvSpPr>
          <p:cNvPr id="12" name="Text 10"/>
          <p:cNvSpPr/>
          <p:nvPr/>
        </p:nvSpPr>
        <p:spPr>
          <a:xfrm>
            <a:off x="7799832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state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229600" y="21945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FB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6928" y="420624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FF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TRAP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66928" y="749808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700"/>
              </a:lnSpc>
              <a:buNone/>
            </a:pPr>
            <a:r>
              <a:rPr lang="en-US" sz="3200" b="1" dirty="0">
                <a:solidFill>
                  <a:srgbClr val="12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 paralysis</a:t>
            </a:r>
            <a:endParaRPr lang="en-US" sz="3200" dirty="0"/>
          </a:p>
        </p:txBody>
      </p:sp>
      <p:sp>
        <p:nvSpPr>
          <p:cNvPr id="16" name="Shape 14"/>
          <p:cNvSpPr/>
          <p:nvPr/>
        </p:nvSpPr>
        <p:spPr>
          <a:xfrm>
            <a:off x="566928" y="1920240"/>
            <a:ext cx="3904488" cy="1993392"/>
          </a:xfrm>
          <a:prstGeom prst="rect">
            <a:avLst/>
          </a:prstGeom>
          <a:solidFill>
            <a:srgbClr val="1C2740"/>
          </a:solidFill>
          <a:ln/>
        </p:spPr>
      </p:sp>
      <p:sp>
        <p:nvSpPr>
          <p:cNvPr id="17" name="Text 15"/>
          <p:cNvSpPr/>
          <p:nvPr/>
        </p:nvSpPr>
        <p:spPr>
          <a:xfrm>
            <a:off x="859536" y="2157984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8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STUCK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59536" y="2468880"/>
            <a:ext cx="3346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mode forever.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859536" y="2944368"/>
            <a:ext cx="334670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A9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approach has a defender. Every week adds one more option worth trying.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672584" y="1920240"/>
            <a:ext cx="3904488" cy="1993392"/>
          </a:xfrm>
          <a:prstGeom prst="rect">
            <a:avLst/>
          </a:prstGeom>
          <a:solidFill>
            <a:srgbClr val="FF5F3C"/>
          </a:solidFill>
          <a:ln/>
        </p:spPr>
      </p:sp>
      <p:sp>
        <p:nvSpPr>
          <p:cNvPr id="21" name="Text 19"/>
          <p:cNvSpPr/>
          <p:nvPr/>
        </p:nvSpPr>
        <p:spPr>
          <a:xfrm>
            <a:off x="4965192" y="2157984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80" dirty="0">
                <a:solidFill>
                  <a:srgbClr val="FFD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WAY OUT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965192" y="2468880"/>
            <a:ext cx="3346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Time-box it.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4965192" y="2944368"/>
            <a:ext cx="334670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FFE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deadline forces the question nobody wants to ask — what are we measuring?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626864"/>
            <a:ext cx="8010144" cy="12802"/>
          </a:xfrm>
          <a:prstGeom prst="rect">
            <a:avLst/>
          </a:prstGeom>
          <a:solidFill>
            <a:srgbClr val="33405A"/>
          </a:solidFill>
          <a:ln/>
        </p:spPr>
      </p:sp>
      <p:sp>
        <p:nvSpPr>
          <p:cNvPr id="3" name="Shape 1"/>
          <p:cNvSpPr/>
          <p:nvPr/>
        </p:nvSpPr>
        <p:spPr>
          <a:xfrm>
            <a:off x="528066" y="4594403"/>
            <a:ext cx="77724" cy="77724"/>
          </a:xfrm>
          <a:prstGeom prst="ellipse">
            <a:avLst/>
          </a:prstGeom>
          <a:solidFill>
            <a:srgbClr val="44506B"/>
          </a:solidFill>
          <a:ln/>
        </p:spPr>
      </p:sp>
      <p:sp>
        <p:nvSpPr>
          <p:cNvPr id="4" name="Text 2"/>
          <p:cNvSpPr/>
          <p:nvPr/>
        </p:nvSpPr>
        <p:spPr>
          <a:xfrm>
            <a:off x="-210312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5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2491740" y="4555541"/>
            <a:ext cx="155448" cy="155448"/>
          </a:xfrm>
          <a:prstGeom prst="ellipse">
            <a:avLst/>
          </a:prstGeom>
          <a:solidFill>
            <a:srgbClr val="FF5F3C"/>
          </a:solidFill>
          <a:ln/>
        </p:spPr>
      </p:sp>
      <p:sp>
        <p:nvSpPr>
          <p:cNvPr id="6" name="Text 4"/>
          <p:cNvSpPr/>
          <p:nvPr/>
        </p:nvSpPr>
        <p:spPr>
          <a:xfrm>
            <a:off x="1792224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60" dirty="0">
                <a:solidFill>
                  <a:srgbClr val="FF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0-90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33138" y="4594403"/>
            <a:ext cx="77724" cy="77724"/>
          </a:xfrm>
          <a:prstGeom prst="ellipse">
            <a:avLst/>
          </a:prstGeom>
          <a:solidFill>
            <a:srgbClr val="44506B"/>
          </a:solidFill>
          <a:ln/>
        </p:spPr>
      </p:sp>
      <p:sp>
        <p:nvSpPr>
          <p:cNvPr id="8" name="Text 6"/>
          <p:cNvSpPr/>
          <p:nvPr/>
        </p:nvSpPr>
        <p:spPr>
          <a:xfrm>
            <a:off x="3794760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5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535674" y="4594403"/>
            <a:ext cx="77724" cy="77724"/>
          </a:xfrm>
          <a:prstGeom prst="ellipse">
            <a:avLst/>
          </a:prstGeom>
          <a:solidFill>
            <a:srgbClr val="44506B"/>
          </a:solidFill>
          <a:ln/>
        </p:spPr>
      </p:sp>
      <p:sp>
        <p:nvSpPr>
          <p:cNvPr id="10" name="Text 8"/>
          <p:cNvSpPr/>
          <p:nvPr/>
        </p:nvSpPr>
        <p:spPr>
          <a:xfrm>
            <a:off x="5797296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5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538210" y="4594403"/>
            <a:ext cx="77724" cy="77724"/>
          </a:xfrm>
          <a:prstGeom prst="ellipse">
            <a:avLst/>
          </a:prstGeom>
          <a:solidFill>
            <a:srgbClr val="44506B"/>
          </a:solidFill>
          <a:ln/>
        </p:spPr>
      </p:sp>
      <p:sp>
        <p:nvSpPr>
          <p:cNvPr id="12" name="Text 10"/>
          <p:cNvSpPr/>
          <p:nvPr/>
        </p:nvSpPr>
        <p:spPr>
          <a:xfrm>
            <a:off x="7799832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5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state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229600" y="21945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6928" y="420624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FF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 THAT MADE EVERY LATER DECISION EASY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66928" y="749808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7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agreed the scoreboard before we played</a:t>
            </a:r>
            <a:endParaRPr lang="en-US" sz="3200" dirty="0"/>
          </a:p>
        </p:txBody>
      </p:sp>
      <p:sp>
        <p:nvSpPr>
          <p:cNvPr id="16" name="Shape 14"/>
          <p:cNvSpPr/>
          <p:nvPr/>
        </p:nvSpPr>
        <p:spPr>
          <a:xfrm>
            <a:off x="566928" y="1993392"/>
            <a:ext cx="2535936" cy="1645920"/>
          </a:xfrm>
          <a:prstGeom prst="rect">
            <a:avLst/>
          </a:prstGeom>
          <a:solidFill>
            <a:srgbClr val="1C2740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21031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E3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822960" y="2596896"/>
            <a:ext cx="2060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FF5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22960" y="2926080"/>
            <a:ext cx="20604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50"/>
              </a:lnSpc>
              <a:buNone/>
            </a:pPr>
            <a:r>
              <a:rPr lang="en-US" sz="1200" dirty="0">
                <a:solidFill>
                  <a:srgbClr val="A9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approach hold for thousands of categories?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304032" y="1993392"/>
            <a:ext cx="2535936" cy="1645920"/>
          </a:xfrm>
          <a:prstGeom prst="rect">
            <a:avLst/>
          </a:prstGeom>
          <a:solidFill>
            <a:srgbClr val="1C2740"/>
          </a:solidFill>
          <a:ln/>
        </p:spPr>
      </p:sp>
      <p:sp>
        <p:nvSpPr>
          <p:cNvPr id="21" name="Text 19"/>
          <p:cNvSpPr/>
          <p:nvPr/>
        </p:nvSpPr>
        <p:spPr>
          <a:xfrm>
            <a:off x="3560064" y="21031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E3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3560064" y="2596896"/>
            <a:ext cx="2060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FF5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Accuracy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3560064" y="2926080"/>
            <a:ext cx="20604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50"/>
              </a:lnSpc>
              <a:buNone/>
            </a:pPr>
            <a:r>
              <a:rPr lang="en-US" sz="1200" dirty="0">
                <a:solidFill>
                  <a:srgbClr val="A9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effective is the output on real data?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041136" y="1993392"/>
            <a:ext cx="2535936" cy="1645920"/>
          </a:xfrm>
          <a:prstGeom prst="rect">
            <a:avLst/>
          </a:prstGeom>
          <a:solidFill>
            <a:srgbClr val="1C2740"/>
          </a:solidFill>
          <a:ln/>
        </p:spPr>
      </p:sp>
      <p:sp>
        <p:nvSpPr>
          <p:cNvPr id="25" name="Text 23"/>
          <p:cNvSpPr/>
          <p:nvPr/>
        </p:nvSpPr>
        <p:spPr>
          <a:xfrm>
            <a:off x="6297168" y="21031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E3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297168" y="2596896"/>
            <a:ext cx="2060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FF5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per unit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297168" y="2926080"/>
            <a:ext cx="20604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50"/>
              </a:lnSpc>
              <a:buNone/>
            </a:pPr>
            <a:r>
              <a:rPr lang="en-US" sz="1200" dirty="0">
                <a:solidFill>
                  <a:srgbClr val="A9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that decides whether it survives.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66928" y="3785616"/>
            <a:ext cx="8010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8E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Ranked, not weighted. When approaches disagreed, the order decided — and nobody argued.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626864"/>
            <a:ext cx="8010144" cy="12802"/>
          </a:xfrm>
          <a:prstGeom prst="rect">
            <a:avLst/>
          </a:prstGeom>
          <a:solidFill>
            <a:srgbClr val="DAD5C9"/>
          </a:solidFill>
          <a:ln/>
        </p:spPr>
      </p:sp>
      <p:sp>
        <p:nvSpPr>
          <p:cNvPr id="3" name="Shape 1"/>
          <p:cNvSpPr/>
          <p:nvPr/>
        </p:nvSpPr>
        <p:spPr>
          <a:xfrm>
            <a:off x="528066" y="4594403"/>
            <a:ext cx="77724" cy="77724"/>
          </a:xfrm>
          <a:prstGeom prst="ellipse">
            <a:avLst/>
          </a:prstGeom>
          <a:solidFill>
            <a:srgbClr val="C6C1B4"/>
          </a:solidFill>
          <a:ln/>
        </p:spPr>
      </p:sp>
      <p:sp>
        <p:nvSpPr>
          <p:cNvPr id="4" name="Text 2"/>
          <p:cNvSpPr/>
          <p:nvPr/>
        </p:nvSpPr>
        <p:spPr>
          <a:xfrm>
            <a:off x="-210312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2491740" y="4555541"/>
            <a:ext cx="155448" cy="155448"/>
          </a:xfrm>
          <a:prstGeom prst="ellipse">
            <a:avLst/>
          </a:prstGeom>
          <a:solidFill>
            <a:srgbClr val="FF5F3C"/>
          </a:solidFill>
          <a:ln/>
        </p:spPr>
      </p:sp>
      <p:sp>
        <p:nvSpPr>
          <p:cNvPr id="6" name="Text 4"/>
          <p:cNvSpPr/>
          <p:nvPr/>
        </p:nvSpPr>
        <p:spPr>
          <a:xfrm>
            <a:off x="1792224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60" dirty="0">
                <a:solidFill>
                  <a:srgbClr val="FF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0-90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33138" y="4594403"/>
            <a:ext cx="77724" cy="77724"/>
          </a:xfrm>
          <a:prstGeom prst="ellipse">
            <a:avLst/>
          </a:prstGeom>
          <a:solidFill>
            <a:srgbClr val="C6C1B4"/>
          </a:solidFill>
          <a:ln/>
        </p:spPr>
      </p:sp>
      <p:sp>
        <p:nvSpPr>
          <p:cNvPr id="8" name="Text 6"/>
          <p:cNvSpPr/>
          <p:nvPr/>
        </p:nvSpPr>
        <p:spPr>
          <a:xfrm>
            <a:off x="3794760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535674" y="4594403"/>
            <a:ext cx="77724" cy="77724"/>
          </a:xfrm>
          <a:prstGeom prst="ellipse">
            <a:avLst/>
          </a:prstGeom>
          <a:solidFill>
            <a:srgbClr val="C6C1B4"/>
          </a:solidFill>
          <a:ln/>
        </p:spPr>
      </p:sp>
      <p:sp>
        <p:nvSpPr>
          <p:cNvPr id="10" name="Text 8"/>
          <p:cNvSpPr/>
          <p:nvPr/>
        </p:nvSpPr>
        <p:spPr>
          <a:xfrm>
            <a:off x="5797296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538210" y="4594403"/>
            <a:ext cx="77724" cy="77724"/>
          </a:xfrm>
          <a:prstGeom prst="ellipse">
            <a:avLst/>
          </a:prstGeom>
          <a:solidFill>
            <a:srgbClr val="C6C1B4"/>
          </a:solidFill>
          <a:ln/>
        </p:spPr>
      </p:sp>
      <p:sp>
        <p:nvSpPr>
          <p:cNvPr id="12" name="Text 10"/>
          <p:cNvSpPr/>
          <p:nvPr/>
        </p:nvSpPr>
        <p:spPr>
          <a:xfrm>
            <a:off x="7799832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state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229600" y="21945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FB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6928" y="420624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FF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TWO — THE PROOF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66928" y="749808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700"/>
              </a:lnSpc>
              <a:buNone/>
            </a:pPr>
            <a:r>
              <a:rPr lang="en-US" sz="3200" b="1" dirty="0">
                <a:solidFill>
                  <a:srgbClr val="12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Ninety days to earn a yes, or an honest no</a:t>
            </a:r>
            <a:endParaRPr lang="en-US" sz="3200" dirty="0"/>
          </a:p>
        </p:txBody>
      </p:sp>
      <p:sp>
        <p:nvSpPr>
          <p:cNvPr id="16" name="Shape 14"/>
          <p:cNvSpPr/>
          <p:nvPr/>
        </p:nvSpPr>
        <p:spPr>
          <a:xfrm>
            <a:off x="566928" y="1938528"/>
            <a:ext cx="2535936" cy="1792224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2176272"/>
            <a:ext cx="2023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8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30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22960" y="2450592"/>
            <a:ext cx="2060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2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Multiple approaches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22960" y="2779776"/>
            <a:ext cx="20604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50"/>
              </a:lnSpc>
              <a:buNone/>
            </a:pPr>
            <a:r>
              <a:rPr lang="en-US" sz="120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done. Credible options on the table.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304032" y="1938528"/>
            <a:ext cx="2535936" cy="1792224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560064" y="2176272"/>
            <a:ext cx="2023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8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60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560064" y="2450592"/>
            <a:ext cx="2060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2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Evidence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3560064" y="2779776"/>
            <a:ext cx="20604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50"/>
              </a:lnSpc>
              <a:buNone/>
            </a:pPr>
            <a:r>
              <a:rPr lang="en-US" sz="120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on real data samples.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041136" y="1938528"/>
            <a:ext cx="2535936" cy="1792224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297168" y="2176272"/>
            <a:ext cx="2023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8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90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297168" y="2450592"/>
            <a:ext cx="2060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2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decision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297168" y="2779776"/>
            <a:ext cx="20604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50"/>
              </a:lnSpc>
              <a:buNone/>
            </a:pPr>
            <a:r>
              <a:rPr lang="en-US" sz="120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on the agreed metrics.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66928" y="3931920"/>
            <a:ext cx="8010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research phase without a deadline is a hobby.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626864"/>
            <a:ext cx="8010144" cy="12802"/>
          </a:xfrm>
          <a:prstGeom prst="rect">
            <a:avLst/>
          </a:prstGeom>
          <a:solidFill>
            <a:srgbClr val="DAD5C9"/>
          </a:solidFill>
          <a:ln/>
        </p:spPr>
      </p:sp>
      <p:sp>
        <p:nvSpPr>
          <p:cNvPr id="3" name="Shape 1"/>
          <p:cNvSpPr/>
          <p:nvPr/>
        </p:nvSpPr>
        <p:spPr>
          <a:xfrm>
            <a:off x="528066" y="4594403"/>
            <a:ext cx="77724" cy="77724"/>
          </a:xfrm>
          <a:prstGeom prst="ellipse">
            <a:avLst/>
          </a:prstGeom>
          <a:solidFill>
            <a:srgbClr val="C6C1B4"/>
          </a:solidFill>
          <a:ln/>
        </p:spPr>
      </p:sp>
      <p:sp>
        <p:nvSpPr>
          <p:cNvPr id="4" name="Text 2"/>
          <p:cNvSpPr/>
          <p:nvPr/>
        </p:nvSpPr>
        <p:spPr>
          <a:xfrm>
            <a:off x="-210312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2491740" y="4555541"/>
            <a:ext cx="155448" cy="155448"/>
          </a:xfrm>
          <a:prstGeom prst="ellipse">
            <a:avLst/>
          </a:prstGeom>
          <a:solidFill>
            <a:srgbClr val="FF5F3C"/>
          </a:solidFill>
          <a:ln/>
        </p:spPr>
      </p:sp>
      <p:sp>
        <p:nvSpPr>
          <p:cNvPr id="6" name="Text 4"/>
          <p:cNvSpPr/>
          <p:nvPr/>
        </p:nvSpPr>
        <p:spPr>
          <a:xfrm>
            <a:off x="1792224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60" dirty="0">
                <a:solidFill>
                  <a:srgbClr val="FF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0-90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33138" y="4594403"/>
            <a:ext cx="77724" cy="77724"/>
          </a:xfrm>
          <a:prstGeom prst="ellipse">
            <a:avLst/>
          </a:prstGeom>
          <a:solidFill>
            <a:srgbClr val="C6C1B4"/>
          </a:solidFill>
          <a:ln/>
        </p:spPr>
      </p:sp>
      <p:sp>
        <p:nvSpPr>
          <p:cNvPr id="8" name="Text 6"/>
          <p:cNvSpPr/>
          <p:nvPr/>
        </p:nvSpPr>
        <p:spPr>
          <a:xfrm>
            <a:off x="3794760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535674" y="4594403"/>
            <a:ext cx="77724" cy="77724"/>
          </a:xfrm>
          <a:prstGeom prst="ellipse">
            <a:avLst/>
          </a:prstGeom>
          <a:solidFill>
            <a:srgbClr val="C6C1B4"/>
          </a:solidFill>
          <a:ln/>
        </p:spPr>
      </p:sp>
      <p:sp>
        <p:nvSpPr>
          <p:cNvPr id="10" name="Text 8"/>
          <p:cNvSpPr/>
          <p:nvPr/>
        </p:nvSpPr>
        <p:spPr>
          <a:xfrm>
            <a:off x="5797296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538210" y="4594403"/>
            <a:ext cx="77724" cy="77724"/>
          </a:xfrm>
          <a:prstGeom prst="ellipse">
            <a:avLst/>
          </a:prstGeom>
          <a:solidFill>
            <a:srgbClr val="C6C1B4"/>
          </a:solidFill>
          <a:ln/>
        </p:spPr>
      </p:sp>
      <p:sp>
        <p:nvSpPr>
          <p:cNvPr id="12" name="Text 10"/>
          <p:cNvSpPr/>
          <p:nvPr/>
        </p:nvSpPr>
        <p:spPr>
          <a:xfrm>
            <a:off x="7799832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state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229600" y="21945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FB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6928" y="420624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FF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DONE. APPROACH SELECTED.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66928" y="749808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700"/>
              </a:lnSpc>
              <a:buNone/>
            </a:pPr>
            <a:r>
              <a:rPr lang="en-US" sz="3200" b="1" dirty="0">
                <a:solidFill>
                  <a:srgbClr val="12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Now prove it will still be standing in two years</a:t>
            </a:r>
            <a:endParaRPr lang="en-US" sz="3200" dirty="0"/>
          </a:p>
        </p:txBody>
      </p:sp>
      <p:sp>
        <p:nvSpPr>
          <p:cNvPr id="16" name="Shape 14"/>
          <p:cNvSpPr/>
          <p:nvPr/>
        </p:nvSpPr>
        <p:spPr>
          <a:xfrm>
            <a:off x="566928" y="2057400"/>
            <a:ext cx="32004" cy="365760"/>
          </a:xfrm>
          <a:prstGeom prst="rect">
            <a:avLst/>
          </a:prstGeom>
          <a:solidFill>
            <a:srgbClr val="FF5F3C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" y="1975104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2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 the knowledge.  </a:t>
            </a:r>
            <a:r>
              <a:rPr lang="en-US" sz="135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demo dataset.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66928" y="2606040"/>
            <a:ext cx="32004" cy="365760"/>
          </a:xfrm>
          <a:prstGeom prst="rect">
            <a:avLst/>
          </a:prstGeom>
          <a:solidFill>
            <a:srgbClr val="FF5F3C"/>
          </a:solidFill>
          <a:ln/>
        </p:spPr>
      </p:sp>
      <p:sp>
        <p:nvSpPr>
          <p:cNvPr id="19" name="Text 17"/>
          <p:cNvSpPr/>
          <p:nvPr/>
        </p:nvSpPr>
        <p:spPr>
          <a:xfrm>
            <a:off x="841248" y="2523744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2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Validate at production volume.  </a:t>
            </a:r>
            <a:r>
              <a:rPr lang="en-US" sz="135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winner can change.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66928" y="3154680"/>
            <a:ext cx="32004" cy="365760"/>
          </a:xfrm>
          <a:prstGeom prst="rect">
            <a:avLst/>
          </a:prstGeom>
          <a:solidFill>
            <a:srgbClr val="FF5F3C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" y="3072384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2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for growth.  </a:t>
            </a:r>
            <a:r>
              <a:rPr lang="en-US" sz="135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it carry new domains, or only today’s?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66928" y="4078224"/>
            <a:ext cx="8010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is no longer “does it work?” It is “will it still work when everything grows?”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626864"/>
            <a:ext cx="8010144" cy="12802"/>
          </a:xfrm>
          <a:prstGeom prst="rect">
            <a:avLst/>
          </a:prstGeom>
          <a:solidFill>
            <a:srgbClr val="33405A"/>
          </a:solidFill>
          <a:ln/>
        </p:spPr>
      </p:sp>
      <p:sp>
        <p:nvSpPr>
          <p:cNvPr id="3" name="Shape 1"/>
          <p:cNvSpPr/>
          <p:nvPr/>
        </p:nvSpPr>
        <p:spPr>
          <a:xfrm>
            <a:off x="528066" y="4594403"/>
            <a:ext cx="77724" cy="77724"/>
          </a:xfrm>
          <a:prstGeom prst="ellipse">
            <a:avLst/>
          </a:prstGeom>
          <a:solidFill>
            <a:srgbClr val="44506B"/>
          </a:solidFill>
          <a:ln/>
        </p:spPr>
      </p:sp>
      <p:sp>
        <p:nvSpPr>
          <p:cNvPr id="4" name="Text 2"/>
          <p:cNvSpPr/>
          <p:nvPr/>
        </p:nvSpPr>
        <p:spPr>
          <a:xfrm>
            <a:off x="-210312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5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2491740" y="4555541"/>
            <a:ext cx="155448" cy="155448"/>
          </a:xfrm>
          <a:prstGeom prst="ellipse">
            <a:avLst/>
          </a:prstGeom>
          <a:solidFill>
            <a:srgbClr val="FF5F3C"/>
          </a:solidFill>
          <a:ln/>
        </p:spPr>
      </p:sp>
      <p:sp>
        <p:nvSpPr>
          <p:cNvPr id="6" name="Text 4"/>
          <p:cNvSpPr/>
          <p:nvPr/>
        </p:nvSpPr>
        <p:spPr>
          <a:xfrm>
            <a:off x="1792224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60" dirty="0">
                <a:solidFill>
                  <a:srgbClr val="FF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0-90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33138" y="4594403"/>
            <a:ext cx="77724" cy="77724"/>
          </a:xfrm>
          <a:prstGeom prst="ellipse">
            <a:avLst/>
          </a:prstGeom>
          <a:solidFill>
            <a:srgbClr val="44506B"/>
          </a:solidFill>
          <a:ln/>
        </p:spPr>
      </p:sp>
      <p:sp>
        <p:nvSpPr>
          <p:cNvPr id="8" name="Text 6"/>
          <p:cNvSpPr/>
          <p:nvPr/>
        </p:nvSpPr>
        <p:spPr>
          <a:xfrm>
            <a:off x="3794760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5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535674" y="4594403"/>
            <a:ext cx="77724" cy="77724"/>
          </a:xfrm>
          <a:prstGeom prst="ellipse">
            <a:avLst/>
          </a:prstGeom>
          <a:solidFill>
            <a:srgbClr val="44506B"/>
          </a:solidFill>
          <a:ln/>
        </p:spPr>
      </p:sp>
      <p:sp>
        <p:nvSpPr>
          <p:cNvPr id="10" name="Text 8"/>
          <p:cNvSpPr/>
          <p:nvPr/>
        </p:nvSpPr>
        <p:spPr>
          <a:xfrm>
            <a:off x="5797296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5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538210" y="4594403"/>
            <a:ext cx="77724" cy="77724"/>
          </a:xfrm>
          <a:prstGeom prst="ellipse">
            <a:avLst/>
          </a:prstGeom>
          <a:solidFill>
            <a:srgbClr val="44506B"/>
          </a:solidFill>
          <a:ln/>
        </p:spPr>
      </p:sp>
      <p:sp>
        <p:nvSpPr>
          <p:cNvPr id="12" name="Text 10"/>
          <p:cNvSpPr/>
          <p:nvPr/>
        </p:nvSpPr>
        <p:spPr>
          <a:xfrm>
            <a:off x="7799832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5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state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229600" y="21945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6928" y="420624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FF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IMPORTANT PART OF ANY AI PROJECT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66928" y="749808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7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Trustworthy labelled data</a:t>
            </a:r>
            <a:endParaRPr lang="en-US" sz="3200" dirty="0"/>
          </a:p>
        </p:txBody>
      </p:sp>
      <p:sp>
        <p:nvSpPr>
          <p:cNvPr id="16" name="Shape 14"/>
          <p:cNvSpPr/>
          <p:nvPr/>
        </p:nvSpPr>
        <p:spPr>
          <a:xfrm>
            <a:off x="566928" y="2112264"/>
            <a:ext cx="32004" cy="365760"/>
          </a:xfrm>
          <a:prstGeom prst="rect">
            <a:avLst/>
          </a:prstGeom>
          <a:solidFill>
            <a:srgbClr val="FF5F3C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" y="2029968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Garbage in, garbage out.  </a:t>
            </a:r>
            <a:r>
              <a:rPr lang="en-US" sz="135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model recovers from bad ground truth.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66928" y="2660904"/>
            <a:ext cx="32004" cy="365760"/>
          </a:xfrm>
          <a:prstGeom prst="rect">
            <a:avLst/>
          </a:prstGeom>
          <a:solidFill>
            <a:srgbClr val="FF5F3C"/>
          </a:solidFill>
          <a:ln/>
        </p:spPr>
      </p:sp>
      <p:sp>
        <p:nvSpPr>
          <p:cNvPr id="19" name="Text 17"/>
          <p:cNvSpPr/>
          <p:nvPr/>
        </p:nvSpPr>
        <p:spPr>
          <a:xfrm>
            <a:off x="841248" y="2578608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Experts disagree.  </a:t>
            </a:r>
            <a:r>
              <a:rPr lang="en-US" sz="135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input can have more than one defensible answer.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66928" y="3209544"/>
            <a:ext cx="32004" cy="365760"/>
          </a:xfrm>
          <a:prstGeom prst="rect">
            <a:avLst/>
          </a:prstGeom>
          <a:solidFill>
            <a:srgbClr val="FF5F3C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" y="3127248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 the ambiguity.  </a:t>
            </a:r>
            <a:r>
              <a:rPr lang="en-US" sz="135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keep it out of your accuracy number.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626864"/>
            <a:ext cx="8010144" cy="12802"/>
          </a:xfrm>
          <a:prstGeom prst="rect">
            <a:avLst/>
          </a:prstGeom>
          <a:solidFill>
            <a:srgbClr val="DAD5C9"/>
          </a:solidFill>
          <a:ln/>
        </p:spPr>
      </p:sp>
      <p:sp>
        <p:nvSpPr>
          <p:cNvPr id="3" name="Shape 1"/>
          <p:cNvSpPr/>
          <p:nvPr/>
        </p:nvSpPr>
        <p:spPr>
          <a:xfrm>
            <a:off x="528066" y="4594403"/>
            <a:ext cx="77724" cy="77724"/>
          </a:xfrm>
          <a:prstGeom prst="ellipse">
            <a:avLst/>
          </a:prstGeom>
          <a:solidFill>
            <a:srgbClr val="C6C1B4"/>
          </a:solidFill>
          <a:ln/>
        </p:spPr>
      </p:sp>
      <p:sp>
        <p:nvSpPr>
          <p:cNvPr id="4" name="Text 2"/>
          <p:cNvSpPr/>
          <p:nvPr/>
        </p:nvSpPr>
        <p:spPr>
          <a:xfrm>
            <a:off x="-210312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2491740" y="4555541"/>
            <a:ext cx="155448" cy="155448"/>
          </a:xfrm>
          <a:prstGeom prst="ellipse">
            <a:avLst/>
          </a:prstGeom>
          <a:solidFill>
            <a:srgbClr val="FF5F3C"/>
          </a:solidFill>
          <a:ln/>
        </p:spPr>
      </p:sp>
      <p:sp>
        <p:nvSpPr>
          <p:cNvPr id="6" name="Text 4"/>
          <p:cNvSpPr/>
          <p:nvPr/>
        </p:nvSpPr>
        <p:spPr>
          <a:xfrm>
            <a:off x="1792224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60" dirty="0">
                <a:solidFill>
                  <a:srgbClr val="FF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0-90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33138" y="4594403"/>
            <a:ext cx="77724" cy="77724"/>
          </a:xfrm>
          <a:prstGeom prst="ellipse">
            <a:avLst/>
          </a:prstGeom>
          <a:solidFill>
            <a:srgbClr val="C6C1B4"/>
          </a:solidFill>
          <a:ln/>
        </p:spPr>
      </p:sp>
      <p:sp>
        <p:nvSpPr>
          <p:cNvPr id="8" name="Text 6"/>
          <p:cNvSpPr/>
          <p:nvPr/>
        </p:nvSpPr>
        <p:spPr>
          <a:xfrm>
            <a:off x="3794760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535674" y="4594403"/>
            <a:ext cx="77724" cy="77724"/>
          </a:xfrm>
          <a:prstGeom prst="ellipse">
            <a:avLst/>
          </a:prstGeom>
          <a:solidFill>
            <a:srgbClr val="C6C1B4"/>
          </a:solidFill>
          <a:ln/>
        </p:spPr>
      </p:sp>
      <p:sp>
        <p:nvSpPr>
          <p:cNvPr id="10" name="Text 8"/>
          <p:cNvSpPr/>
          <p:nvPr/>
        </p:nvSpPr>
        <p:spPr>
          <a:xfrm>
            <a:off x="5797296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538210" y="4594403"/>
            <a:ext cx="77724" cy="77724"/>
          </a:xfrm>
          <a:prstGeom prst="ellipse">
            <a:avLst/>
          </a:prstGeom>
          <a:solidFill>
            <a:srgbClr val="C6C1B4"/>
          </a:solidFill>
          <a:ln/>
        </p:spPr>
      </p:sp>
      <p:sp>
        <p:nvSpPr>
          <p:cNvPr id="12" name="Text 10"/>
          <p:cNvSpPr/>
          <p:nvPr/>
        </p:nvSpPr>
        <p:spPr>
          <a:xfrm>
            <a:off x="7799832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state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229600" y="21945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FB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6928" y="420624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FF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ROLE THAT DECIDES THE OUTCOME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66928" y="749808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700"/>
              </a:lnSpc>
              <a:buNone/>
            </a:pPr>
            <a:r>
              <a:rPr lang="en-US" sz="2900" b="1" dirty="0">
                <a:solidFill>
                  <a:srgbClr val="12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Domain experts are not reviewers. They are the source.</a:t>
            </a:r>
            <a:endParaRPr lang="en-US" sz="2900" dirty="0"/>
          </a:p>
        </p:txBody>
      </p:sp>
      <p:sp>
        <p:nvSpPr>
          <p:cNvPr id="16" name="Shape 14"/>
          <p:cNvSpPr/>
          <p:nvPr/>
        </p:nvSpPr>
        <p:spPr>
          <a:xfrm>
            <a:off x="566928" y="1938528"/>
            <a:ext cx="2535936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2176272"/>
            <a:ext cx="2060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2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22960" y="2505456"/>
            <a:ext cx="206044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50"/>
              </a:lnSpc>
              <a:buNone/>
            </a:pPr>
            <a:r>
              <a:rPr lang="en-US" sz="120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define what “correct” actually means.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304032" y="1938528"/>
            <a:ext cx="2535936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560064" y="2176272"/>
            <a:ext cx="2060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2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Domain expertise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3560064" y="2505456"/>
            <a:ext cx="206044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50"/>
              </a:lnSpc>
              <a:buNone/>
            </a:pPr>
            <a:r>
              <a:rPr lang="en-US" sz="120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Solving the real problem, not the visible one.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041136" y="1938528"/>
            <a:ext cx="2535936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297168" y="2176272"/>
            <a:ext cx="2060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2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feedback / UAT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297168" y="2505456"/>
            <a:ext cx="206044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50"/>
              </a:lnSpc>
              <a:buNone/>
            </a:pPr>
            <a:r>
              <a:rPr lang="en-US" sz="120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validation that counts.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66928" y="3877056"/>
            <a:ext cx="8010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real data, validated at scale, the basement is strong enough to build on.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626864"/>
            <a:ext cx="8010144" cy="12802"/>
          </a:xfrm>
          <a:prstGeom prst="rect">
            <a:avLst/>
          </a:prstGeom>
          <a:solidFill>
            <a:srgbClr val="DAD5C9"/>
          </a:solidFill>
          <a:ln/>
        </p:spPr>
      </p:sp>
      <p:sp>
        <p:nvSpPr>
          <p:cNvPr id="3" name="Shape 1"/>
          <p:cNvSpPr/>
          <p:nvPr/>
        </p:nvSpPr>
        <p:spPr>
          <a:xfrm>
            <a:off x="528066" y="4594403"/>
            <a:ext cx="77724" cy="77724"/>
          </a:xfrm>
          <a:prstGeom prst="ellipse">
            <a:avLst/>
          </a:prstGeom>
          <a:solidFill>
            <a:srgbClr val="C6C1B4"/>
          </a:solidFill>
          <a:ln/>
        </p:spPr>
      </p:sp>
      <p:sp>
        <p:nvSpPr>
          <p:cNvPr id="4" name="Text 2"/>
          <p:cNvSpPr/>
          <p:nvPr/>
        </p:nvSpPr>
        <p:spPr>
          <a:xfrm>
            <a:off x="-210312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2530602" y="4594403"/>
            <a:ext cx="77724" cy="77724"/>
          </a:xfrm>
          <a:prstGeom prst="ellipse">
            <a:avLst/>
          </a:prstGeom>
          <a:solidFill>
            <a:srgbClr val="C6C1B4"/>
          </a:solidFill>
          <a:ln/>
        </p:spPr>
      </p:sp>
      <p:sp>
        <p:nvSpPr>
          <p:cNvPr id="6" name="Text 4"/>
          <p:cNvSpPr/>
          <p:nvPr/>
        </p:nvSpPr>
        <p:spPr>
          <a:xfrm>
            <a:off x="1792224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0-90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494276" y="4555541"/>
            <a:ext cx="155448" cy="155448"/>
          </a:xfrm>
          <a:prstGeom prst="ellipse">
            <a:avLst/>
          </a:prstGeom>
          <a:solidFill>
            <a:srgbClr val="FF5F3C"/>
          </a:solidFill>
          <a:ln/>
        </p:spPr>
      </p:sp>
      <p:sp>
        <p:nvSpPr>
          <p:cNvPr id="8" name="Text 6"/>
          <p:cNvSpPr/>
          <p:nvPr/>
        </p:nvSpPr>
        <p:spPr>
          <a:xfrm>
            <a:off x="3794760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60" dirty="0">
                <a:solidFill>
                  <a:srgbClr val="FF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535674" y="4594403"/>
            <a:ext cx="77724" cy="77724"/>
          </a:xfrm>
          <a:prstGeom prst="ellipse">
            <a:avLst/>
          </a:prstGeom>
          <a:solidFill>
            <a:srgbClr val="C6C1B4"/>
          </a:solidFill>
          <a:ln/>
        </p:spPr>
      </p:sp>
      <p:sp>
        <p:nvSpPr>
          <p:cNvPr id="10" name="Text 8"/>
          <p:cNvSpPr/>
          <p:nvPr/>
        </p:nvSpPr>
        <p:spPr>
          <a:xfrm>
            <a:off x="5797296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538210" y="4594403"/>
            <a:ext cx="77724" cy="77724"/>
          </a:xfrm>
          <a:prstGeom prst="ellipse">
            <a:avLst/>
          </a:prstGeom>
          <a:solidFill>
            <a:srgbClr val="C6C1B4"/>
          </a:solidFill>
          <a:ln/>
        </p:spPr>
      </p:sp>
      <p:sp>
        <p:nvSpPr>
          <p:cNvPr id="12" name="Text 10"/>
          <p:cNvSpPr/>
          <p:nvPr/>
        </p:nvSpPr>
        <p:spPr>
          <a:xfrm>
            <a:off x="7799832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state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229600" y="21945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FB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6928" y="420624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FF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66928" y="749808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700"/>
              </a:lnSpc>
              <a:buNone/>
            </a:pPr>
            <a:r>
              <a:rPr lang="en-US" sz="3200" b="1" dirty="0">
                <a:solidFill>
                  <a:srgbClr val="12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demo and a product are not the same artefact</a:t>
            </a:r>
            <a:endParaRPr lang="en-US" sz="3200" dirty="0"/>
          </a:p>
        </p:txBody>
      </p:sp>
      <p:sp>
        <p:nvSpPr>
          <p:cNvPr id="16" name="Shape 14"/>
          <p:cNvSpPr/>
          <p:nvPr/>
        </p:nvSpPr>
        <p:spPr>
          <a:xfrm>
            <a:off x="566928" y="1956816"/>
            <a:ext cx="3904488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66928" y="1956816"/>
            <a:ext cx="64008" cy="2011680"/>
          </a:xfrm>
          <a:prstGeom prst="rect">
            <a:avLst/>
          </a:prstGeom>
          <a:solidFill>
            <a:srgbClr val="C6C1B4"/>
          </a:solidFill>
          <a:ln/>
        </p:spPr>
      </p:sp>
      <p:sp>
        <p:nvSpPr>
          <p:cNvPr id="18" name="Text 16"/>
          <p:cNvSpPr/>
          <p:nvPr/>
        </p:nvSpPr>
        <p:spPr>
          <a:xfrm>
            <a:off x="877824" y="21945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POC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77824" y="2523744"/>
            <a:ext cx="33101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900" dirty="0">
                <a:solidFill>
                  <a:srgbClr val="5C67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has to work </a:t>
            </a:r>
            <a:r>
              <a:rPr lang="en-US" sz="1900" b="1" dirty="0">
                <a:solidFill>
                  <a:srgbClr val="12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once.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4672584" y="1956816"/>
            <a:ext cx="3904488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72584" y="1956816"/>
            <a:ext cx="64008" cy="2011680"/>
          </a:xfrm>
          <a:prstGeom prst="rect">
            <a:avLst/>
          </a:prstGeom>
          <a:solidFill>
            <a:srgbClr val="FF5F3C"/>
          </a:solidFill>
          <a:ln/>
        </p:spPr>
      </p:sp>
      <p:sp>
        <p:nvSpPr>
          <p:cNvPr id="22" name="Text 20"/>
          <p:cNvSpPr/>
          <p:nvPr/>
        </p:nvSpPr>
        <p:spPr>
          <a:xfrm>
            <a:off x="4983480" y="21945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83480" y="2523744"/>
            <a:ext cx="33101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5C67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has to work every time, at any hour, for anyone who wants it — including people who didn’t build it and don’t care how it works.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626864"/>
            <a:ext cx="8010144" cy="12802"/>
          </a:xfrm>
          <a:prstGeom prst="rect">
            <a:avLst/>
          </a:prstGeom>
          <a:solidFill>
            <a:srgbClr val="DAD5C9"/>
          </a:solidFill>
          <a:ln/>
        </p:spPr>
      </p:sp>
      <p:sp>
        <p:nvSpPr>
          <p:cNvPr id="3" name="Shape 1"/>
          <p:cNvSpPr/>
          <p:nvPr/>
        </p:nvSpPr>
        <p:spPr>
          <a:xfrm>
            <a:off x="528066" y="4594403"/>
            <a:ext cx="77724" cy="77724"/>
          </a:xfrm>
          <a:prstGeom prst="ellipse">
            <a:avLst/>
          </a:prstGeom>
          <a:solidFill>
            <a:srgbClr val="C6C1B4"/>
          </a:solidFill>
          <a:ln/>
        </p:spPr>
      </p:sp>
      <p:sp>
        <p:nvSpPr>
          <p:cNvPr id="4" name="Text 2"/>
          <p:cNvSpPr/>
          <p:nvPr/>
        </p:nvSpPr>
        <p:spPr>
          <a:xfrm>
            <a:off x="-210312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2530602" y="4594403"/>
            <a:ext cx="77724" cy="77724"/>
          </a:xfrm>
          <a:prstGeom prst="ellipse">
            <a:avLst/>
          </a:prstGeom>
          <a:solidFill>
            <a:srgbClr val="C6C1B4"/>
          </a:solidFill>
          <a:ln/>
        </p:spPr>
      </p:sp>
      <p:sp>
        <p:nvSpPr>
          <p:cNvPr id="6" name="Text 4"/>
          <p:cNvSpPr/>
          <p:nvPr/>
        </p:nvSpPr>
        <p:spPr>
          <a:xfrm>
            <a:off x="1792224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0-90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494276" y="4555541"/>
            <a:ext cx="155448" cy="155448"/>
          </a:xfrm>
          <a:prstGeom prst="ellipse">
            <a:avLst/>
          </a:prstGeom>
          <a:solidFill>
            <a:srgbClr val="FF5F3C"/>
          </a:solidFill>
          <a:ln/>
        </p:spPr>
      </p:sp>
      <p:sp>
        <p:nvSpPr>
          <p:cNvPr id="8" name="Text 6"/>
          <p:cNvSpPr/>
          <p:nvPr/>
        </p:nvSpPr>
        <p:spPr>
          <a:xfrm>
            <a:off x="3794760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60" dirty="0">
                <a:solidFill>
                  <a:srgbClr val="FF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535674" y="4594403"/>
            <a:ext cx="77724" cy="77724"/>
          </a:xfrm>
          <a:prstGeom prst="ellipse">
            <a:avLst/>
          </a:prstGeom>
          <a:solidFill>
            <a:srgbClr val="C6C1B4"/>
          </a:solidFill>
          <a:ln/>
        </p:spPr>
      </p:sp>
      <p:sp>
        <p:nvSpPr>
          <p:cNvPr id="10" name="Text 8"/>
          <p:cNvSpPr/>
          <p:nvPr/>
        </p:nvSpPr>
        <p:spPr>
          <a:xfrm>
            <a:off x="5797296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538210" y="4594403"/>
            <a:ext cx="77724" cy="77724"/>
          </a:xfrm>
          <a:prstGeom prst="ellipse">
            <a:avLst/>
          </a:prstGeom>
          <a:solidFill>
            <a:srgbClr val="C6C1B4"/>
          </a:solidFill>
          <a:ln/>
        </p:spPr>
      </p:sp>
      <p:sp>
        <p:nvSpPr>
          <p:cNvPr id="12" name="Text 10"/>
          <p:cNvSpPr/>
          <p:nvPr/>
        </p:nvSpPr>
        <p:spPr>
          <a:xfrm>
            <a:off x="7799832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state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229600" y="21945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FB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6928" y="420624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FF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DON’T FORGET THE BASEMENT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66928" y="749808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300"/>
              </a:lnSpc>
              <a:buNone/>
            </a:pPr>
            <a:r>
              <a:rPr lang="en-US" sz="2700" b="1" dirty="0">
                <a:solidFill>
                  <a:srgbClr val="12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“Production-ready” — everything traditional, plus what AI adds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566928" y="1719072"/>
            <a:ext cx="8010144" cy="475488"/>
          </a:xfrm>
          <a:prstGeom prst="rect">
            <a:avLst/>
          </a:prstGeom>
          <a:solidFill>
            <a:srgbClr val="1C2740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" y="1810512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software standards and NFRs still fully apply. The basics did not stop mattering.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66928" y="2395728"/>
            <a:ext cx="2523744" cy="786384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66928" y="2395728"/>
            <a:ext cx="54864" cy="786384"/>
          </a:xfrm>
          <a:prstGeom prst="rect">
            <a:avLst/>
          </a:prstGeom>
          <a:solidFill>
            <a:srgbClr val="FF5F3C"/>
          </a:solidFill>
          <a:ln/>
        </p:spPr>
      </p:sp>
      <p:sp>
        <p:nvSpPr>
          <p:cNvPr id="20" name="Text 18"/>
          <p:cNvSpPr/>
          <p:nvPr/>
        </p:nvSpPr>
        <p:spPr>
          <a:xfrm>
            <a:off x="768096" y="2505456"/>
            <a:ext cx="2231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Versioned prompts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68096" y="2761488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prompt change is a behaviour change.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10128" y="2395728"/>
            <a:ext cx="2523744" cy="786384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310128" y="2395728"/>
            <a:ext cx="54864" cy="786384"/>
          </a:xfrm>
          <a:prstGeom prst="rect">
            <a:avLst/>
          </a:prstGeom>
          <a:solidFill>
            <a:srgbClr val="FF5F3C"/>
          </a:solidFill>
          <a:ln/>
        </p:spPr>
      </p:sp>
      <p:sp>
        <p:nvSpPr>
          <p:cNvPr id="24" name="Text 22"/>
          <p:cNvSpPr/>
          <p:nvPr/>
        </p:nvSpPr>
        <p:spPr>
          <a:xfrm>
            <a:off x="3511296" y="2505456"/>
            <a:ext cx="2231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Observable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3511296" y="2761488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Quality, latency and cost. Not just uptime.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53328" y="2395728"/>
            <a:ext cx="2523744" cy="786384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53328" y="2395728"/>
            <a:ext cx="54864" cy="786384"/>
          </a:xfrm>
          <a:prstGeom prst="rect">
            <a:avLst/>
          </a:prstGeom>
          <a:solidFill>
            <a:srgbClr val="FF5F3C"/>
          </a:solidFill>
          <a:ln/>
        </p:spPr>
      </p:sp>
      <p:sp>
        <p:nvSpPr>
          <p:cNvPr id="28" name="Text 26"/>
          <p:cNvSpPr/>
          <p:nvPr/>
        </p:nvSpPr>
        <p:spPr>
          <a:xfrm>
            <a:off x="6254496" y="2505456"/>
            <a:ext cx="2231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Feedback loop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254496" y="2761488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in, not bolted on.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66928" y="3310128"/>
            <a:ext cx="2523744" cy="786384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66928" y="3310128"/>
            <a:ext cx="54864" cy="786384"/>
          </a:xfrm>
          <a:prstGeom prst="rect">
            <a:avLst/>
          </a:prstGeom>
          <a:solidFill>
            <a:srgbClr val="FF5F3C"/>
          </a:solidFill>
          <a:ln/>
        </p:spPr>
      </p:sp>
      <p:sp>
        <p:nvSpPr>
          <p:cNvPr id="32" name="Text 30"/>
          <p:cNvSpPr/>
          <p:nvPr/>
        </p:nvSpPr>
        <p:spPr>
          <a:xfrm>
            <a:off x="768096" y="3419856"/>
            <a:ext cx="2231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limits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768096" y="3675888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TPM/RPM ceilings → perf testing, honest expectations.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310128" y="3310128"/>
            <a:ext cx="2523744" cy="786384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310128" y="3310128"/>
            <a:ext cx="54864" cy="786384"/>
          </a:xfrm>
          <a:prstGeom prst="rect">
            <a:avLst/>
          </a:prstGeom>
          <a:solidFill>
            <a:srgbClr val="FF5F3C"/>
          </a:solidFill>
          <a:ln/>
        </p:spPr>
      </p:sp>
      <p:sp>
        <p:nvSpPr>
          <p:cNvPr id="36" name="Text 34"/>
          <p:cNvSpPr/>
          <p:nvPr/>
        </p:nvSpPr>
        <p:spPr>
          <a:xfrm>
            <a:off x="3511296" y="3419856"/>
            <a:ext cx="2231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Regression &amp; drift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3511296" y="3675888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running process, not a task.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053328" y="3310128"/>
            <a:ext cx="2523744" cy="786384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053328" y="3310128"/>
            <a:ext cx="54864" cy="786384"/>
          </a:xfrm>
          <a:prstGeom prst="rect">
            <a:avLst/>
          </a:prstGeom>
          <a:solidFill>
            <a:srgbClr val="FF5F3C"/>
          </a:solidFill>
          <a:ln/>
        </p:spPr>
      </p:sp>
      <p:sp>
        <p:nvSpPr>
          <p:cNvPr id="40" name="Text 38"/>
          <p:cNvSpPr/>
          <p:nvPr/>
        </p:nvSpPr>
        <p:spPr>
          <a:xfrm>
            <a:off x="6254496" y="3419856"/>
            <a:ext cx="2231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&amp; guardrails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6254496" y="3675888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misuse of the model itself.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46AC9C-3478-3688-0027-DC8398BA8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9862D63-40A8-0D20-8F2E-54003478FE39}"/>
              </a:ext>
            </a:extLst>
          </p:cNvPr>
          <p:cNvSpPr/>
          <p:nvPr/>
        </p:nvSpPr>
        <p:spPr>
          <a:xfrm>
            <a:off x="566928" y="4626864"/>
            <a:ext cx="8010144" cy="12802"/>
          </a:xfrm>
          <a:prstGeom prst="rect">
            <a:avLst/>
          </a:prstGeom>
          <a:solidFill>
            <a:srgbClr val="DAD5C9"/>
          </a:solidFill>
          <a:ln/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0E30A54-0EC8-7645-C4FB-3455FE798105}"/>
              </a:ext>
            </a:extLst>
          </p:cNvPr>
          <p:cNvSpPr/>
          <p:nvPr/>
        </p:nvSpPr>
        <p:spPr>
          <a:xfrm>
            <a:off x="528066" y="4594403"/>
            <a:ext cx="77724" cy="77724"/>
          </a:xfrm>
          <a:prstGeom prst="ellipse">
            <a:avLst/>
          </a:prstGeom>
          <a:solidFill>
            <a:srgbClr val="C6C1B4"/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6BF8C32-D312-81E6-105C-F0B64ECF7716}"/>
              </a:ext>
            </a:extLst>
          </p:cNvPr>
          <p:cNvSpPr/>
          <p:nvPr/>
        </p:nvSpPr>
        <p:spPr>
          <a:xfrm>
            <a:off x="-210312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</a:t>
            </a:r>
            <a:endParaRPr lang="en-US" sz="85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67DDD42-C8D0-7E26-B4DB-88BF767A9921}"/>
              </a:ext>
            </a:extLst>
          </p:cNvPr>
          <p:cNvSpPr/>
          <p:nvPr/>
        </p:nvSpPr>
        <p:spPr>
          <a:xfrm>
            <a:off x="2530602" y="4594403"/>
            <a:ext cx="77724" cy="77724"/>
          </a:xfrm>
          <a:prstGeom prst="ellipse">
            <a:avLst/>
          </a:prstGeom>
          <a:solidFill>
            <a:srgbClr val="C6C1B4"/>
          </a:solidFill>
          <a:ln/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C07C80C-F7F2-85BA-40F3-8AAEFA11FE99}"/>
              </a:ext>
            </a:extLst>
          </p:cNvPr>
          <p:cNvSpPr/>
          <p:nvPr/>
        </p:nvSpPr>
        <p:spPr>
          <a:xfrm>
            <a:off x="1792224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0-90</a:t>
            </a:r>
            <a:endParaRPr lang="en-US" sz="85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ECB61AB0-6105-79A6-64C7-AD7DC7D10512}"/>
              </a:ext>
            </a:extLst>
          </p:cNvPr>
          <p:cNvSpPr/>
          <p:nvPr/>
        </p:nvSpPr>
        <p:spPr>
          <a:xfrm>
            <a:off x="4533138" y="4594403"/>
            <a:ext cx="77724" cy="77724"/>
          </a:xfrm>
          <a:prstGeom prst="ellipse">
            <a:avLst/>
          </a:prstGeom>
          <a:solidFill>
            <a:srgbClr val="C6C1B4"/>
          </a:solidFill>
          <a:ln/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8096ECD-94DF-45BB-F88F-03E9857D5AB5}"/>
              </a:ext>
            </a:extLst>
          </p:cNvPr>
          <p:cNvSpPr/>
          <p:nvPr/>
        </p:nvSpPr>
        <p:spPr>
          <a:xfrm>
            <a:off x="3794760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85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B9F0BAB6-0437-31BC-4036-7FE2655121E9}"/>
              </a:ext>
            </a:extLst>
          </p:cNvPr>
          <p:cNvSpPr/>
          <p:nvPr/>
        </p:nvSpPr>
        <p:spPr>
          <a:xfrm>
            <a:off x="6496812" y="4555541"/>
            <a:ext cx="155448" cy="155448"/>
          </a:xfrm>
          <a:prstGeom prst="ellipse">
            <a:avLst/>
          </a:prstGeom>
          <a:solidFill>
            <a:srgbClr val="FF5F3C"/>
          </a:solidFill>
          <a:ln/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AFE2313-33C1-E250-859C-E1B6AD58BBBE}"/>
              </a:ext>
            </a:extLst>
          </p:cNvPr>
          <p:cNvSpPr/>
          <p:nvPr/>
        </p:nvSpPr>
        <p:spPr>
          <a:xfrm>
            <a:off x="5797296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60" dirty="0">
                <a:solidFill>
                  <a:srgbClr val="FF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5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7770A972-8C01-A6E5-F9DC-8DB7E0E9C1AB}"/>
              </a:ext>
            </a:extLst>
          </p:cNvPr>
          <p:cNvSpPr/>
          <p:nvPr/>
        </p:nvSpPr>
        <p:spPr>
          <a:xfrm>
            <a:off x="8538210" y="4594403"/>
            <a:ext cx="77724" cy="77724"/>
          </a:xfrm>
          <a:prstGeom prst="ellipse">
            <a:avLst/>
          </a:prstGeom>
          <a:solidFill>
            <a:srgbClr val="C6C1B4"/>
          </a:solidFill>
          <a:ln/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55EB694-CEDB-16C1-D088-EA458714C9F5}"/>
              </a:ext>
            </a:extLst>
          </p:cNvPr>
          <p:cNvSpPr/>
          <p:nvPr/>
        </p:nvSpPr>
        <p:spPr>
          <a:xfrm>
            <a:off x="7799832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state</a:t>
            </a:r>
            <a:endParaRPr lang="en-US" sz="85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1E02D25-F65D-6237-B5F6-ABEC6CA89CE3}"/>
              </a:ext>
            </a:extLst>
          </p:cNvPr>
          <p:cNvSpPr/>
          <p:nvPr/>
        </p:nvSpPr>
        <p:spPr>
          <a:xfrm>
            <a:off x="8229600" y="21945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FB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D0775E95-30EE-D3A2-DD30-00D6C19F8311}"/>
              </a:ext>
            </a:extLst>
          </p:cNvPr>
          <p:cNvSpPr/>
          <p:nvPr/>
        </p:nvSpPr>
        <p:spPr>
          <a:xfrm>
            <a:off x="566928" y="420624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kern="0" spc="220" dirty="0">
                <a:solidFill>
                  <a:srgbClr val="FF5F3C"/>
                </a:solidFill>
                <a:ea typeface="+mn-lt"/>
                <a:cs typeface="+mn-lt"/>
              </a:rPr>
              <a:t>THE CUSTOMER USAGE</a:t>
            </a:r>
            <a:endParaRPr lang="en-US" sz="1050">
              <a:ea typeface="Calibri"/>
              <a:cs typeface="Calibri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C13B6576-05C9-04CD-9613-5A43BC55766C}"/>
              </a:ext>
            </a:extLst>
          </p:cNvPr>
          <p:cNvSpPr/>
          <p:nvPr/>
        </p:nvSpPr>
        <p:spPr>
          <a:xfrm>
            <a:off x="566928" y="1316736"/>
            <a:ext cx="8010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3200"/>
              </a:lnSpc>
            </a:pPr>
            <a:r>
              <a:rPr lang="en-US" sz="2100" dirty="0" err="1">
                <a:solidFill>
                  <a:srgbClr val="121A2B"/>
                </a:solidFill>
                <a:latin typeface="Nirmala UI"/>
                <a:ea typeface="Nirmala UI"/>
                <a:cs typeface="Nirmala UI"/>
              </a:rPr>
              <a:t>நன்றாற்ற</a:t>
            </a:r>
            <a:r>
              <a:rPr lang="en-US" sz="2100" dirty="0">
                <a:solidFill>
                  <a:srgbClr val="121A2B"/>
                </a:solidFill>
                <a:latin typeface="Nirmala UI"/>
                <a:ea typeface="Nirmala UI"/>
                <a:cs typeface="Nirmala UI"/>
              </a:rPr>
              <a:t> </a:t>
            </a:r>
            <a:r>
              <a:rPr lang="en-US" sz="2100" dirty="0" err="1">
                <a:solidFill>
                  <a:srgbClr val="121A2B"/>
                </a:solidFill>
                <a:latin typeface="Nirmala UI"/>
                <a:ea typeface="Nirmala UI"/>
                <a:cs typeface="Nirmala UI"/>
              </a:rPr>
              <a:t>லுள்ளுந்</a:t>
            </a:r>
            <a:r>
              <a:rPr lang="en-US" sz="2100" dirty="0">
                <a:solidFill>
                  <a:srgbClr val="121A2B"/>
                </a:solidFill>
                <a:latin typeface="Nirmala UI"/>
                <a:ea typeface="Nirmala UI"/>
                <a:cs typeface="Nirmala UI"/>
              </a:rPr>
              <a:t> </a:t>
            </a:r>
            <a:r>
              <a:rPr lang="en-US" sz="2100" dirty="0" err="1">
                <a:solidFill>
                  <a:srgbClr val="121A2B"/>
                </a:solidFill>
                <a:latin typeface="Nirmala UI"/>
                <a:ea typeface="Nirmala UI"/>
                <a:cs typeface="Nirmala UI"/>
              </a:rPr>
              <a:t>தவறுண்டு</a:t>
            </a:r>
            <a:r>
              <a:rPr lang="en-US" sz="2100" dirty="0">
                <a:solidFill>
                  <a:srgbClr val="121A2B"/>
                </a:solidFill>
                <a:latin typeface="Nirmala UI"/>
                <a:ea typeface="Nirmala UI"/>
                <a:cs typeface="Nirmala UI"/>
              </a:rPr>
              <a:t> </a:t>
            </a:r>
            <a:r>
              <a:rPr lang="en-US" sz="2100" dirty="0" err="1">
                <a:solidFill>
                  <a:srgbClr val="121A2B"/>
                </a:solidFill>
                <a:latin typeface="Nirmala UI"/>
                <a:ea typeface="Nirmala UI"/>
                <a:cs typeface="Nirmala UI"/>
              </a:rPr>
              <a:t>அவரவர்</a:t>
            </a:r>
            <a:br>
              <a:rPr lang="en-US" sz="2100" dirty="0">
                <a:latin typeface="Nirmala UI"/>
                <a:ea typeface="Nirmala UI"/>
                <a:cs typeface="Nirmala UI"/>
              </a:rPr>
            </a:br>
            <a:r>
              <a:rPr lang="en-US" sz="2100" dirty="0">
                <a:solidFill>
                  <a:srgbClr val="121A2B"/>
                </a:solidFill>
                <a:latin typeface="Nirmala UI"/>
                <a:ea typeface="Nirmala UI"/>
                <a:cs typeface="Nirmala UI"/>
              </a:rPr>
              <a:t> </a:t>
            </a:r>
            <a:r>
              <a:rPr lang="en-US" sz="2100" dirty="0" err="1">
                <a:solidFill>
                  <a:srgbClr val="121A2B"/>
                </a:solidFill>
                <a:latin typeface="Nirmala UI"/>
                <a:ea typeface="Nirmala UI"/>
                <a:cs typeface="Nirmala UI"/>
              </a:rPr>
              <a:t>பண்பறிந்</a:t>
            </a:r>
            <a:r>
              <a:rPr lang="en-US" sz="2100" dirty="0">
                <a:solidFill>
                  <a:srgbClr val="121A2B"/>
                </a:solidFill>
                <a:latin typeface="Nirmala UI"/>
                <a:ea typeface="Nirmala UI"/>
                <a:cs typeface="Nirmala UI"/>
              </a:rPr>
              <a:t> </a:t>
            </a:r>
            <a:r>
              <a:rPr lang="en-US" sz="2100" dirty="0" err="1">
                <a:solidFill>
                  <a:srgbClr val="121A2B"/>
                </a:solidFill>
                <a:latin typeface="Nirmala UI"/>
                <a:ea typeface="Nirmala UI"/>
                <a:cs typeface="Nirmala UI"/>
              </a:rPr>
              <a:t>தாற்றாக்</a:t>
            </a:r>
            <a:r>
              <a:rPr lang="en-US" sz="2100" dirty="0">
                <a:solidFill>
                  <a:srgbClr val="121A2B"/>
                </a:solidFill>
                <a:latin typeface="Nirmala UI"/>
                <a:ea typeface="Nirmala UI"/>
                <a:cs typeface="Nirmala UI"/>
              </a:rPr>
              <a:t> </a:t>
            </a:r>
            <a:r>
              <a:rPr lang="en-US" sz="2100" dirty="0" err="1">
                <a:solidFill>
                  <a:srgbClr val="121A2B"/>
                </a:solidFill>
                <a:latin typeface="Nirmala UI"/>
                <a:ea typeface="Nirmala UI"/>
                <a:cs typeface="Nirmala UI"/>
              </a:rPr>
              <a:t>கடை</a:t>
            </a:r>
            <a:r>
              <a:rPr lang="en-US" sz="2100" dirty="0">
                <a:solidFill>
                  <a:srgbClr val="121A2B"/>
                </a:solidFill>
                <a:latin typeface="Nirmala UI"/>
                <a:ea typeface="Nirmala UI"/>
                <a:cs typeface="Nirmala UI"/>
              </a:rPr>
              <a:t>.</a:t>
            </a:r>
            <a:endParaRPr lang="en-US">
              <a:solidFill>
                <a:srgbClr val="000000"/>
              </a:solidFill>
              <a:latin typeface="Nirmala UI"/>
              <a:ea typeface="Nirmala UI"/>
              <a:cs typeface="Nirmala UI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3A049827-A8FE-7F88-43B9-FFC56E43580B}"/>
              </a:ext>
            </a:extLst>
          </p:cNvPr>
          <p:cNvSpPr/>
          <p:nvPr/>
        </p:nvSpPr>
        <p:spPr>
          <a:xfrm>
            <a:off x="566928" y="2286000"/>
            <a:ext cx="8010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dirty="0">
                <a:solidFill>
                  <a:srgbClr val="8A93A3"/>
                </a:solidFill>
                <a:latin typeface="Nirmala UI"/>
                <a:ea typeface="Nirmala UI"/>
                <a:cs typeface="Nirmala UI"/>
              </a:rPr>
              <a:t>— </a:t>
            </a:r>
            <a:r>
              <a:rPr lang="en-US" sz="1100" dirty="0" err="1">
                <a:solidFill>
                  <a:srgbClr val="8A93A3"/>
                </a:solidFill>
                <a:latin typeface="Nirmala UI"/>
                <a:ea typeface="Nirmala UI"/>
                <a:cs typeface="Nirmala UI"/>
              </a:rPr>
              <a:t>குறள்</a:t>
            </a:r>
            <a:r>
              <a:rPr lang="en-US" sz="1100" dirty="0">
                <a:solidFill>
                  <a:srgbClr val="8A93A3"/>
                </a:solidFill>
                <a:latin typeface="Nirmala UI"/>
                <a:ea typeface="Nirmala UI"/>
                <a:cs typeface="Nirmala UI"/>
              </a:rPr>
              <a:t> 469</a:t>
            </a:r>
            <a:endParaRPr lang="en-US" sz="1100">
              <a:solidFill>
                <a:srgbClr val="000000"/>
              </a:solidFill>
              <a:latin typeface="Nirmala UI"/>
              <a:ea typeface="Nirmala UI"/>
              <a:cs typeface="Nirmala UI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AF7971F8-354C-A59F-0747-485E7752B260}"/>
              </a:ext>
            </a:extLst>
          </p:cNvPr>
          <p:cNvSpPr/>
          <p:nvPr/>
        </p:nvSpPr>
        <p:spPr>
          <a:xfrm>
            <a:off x="203247" y="2798064"/>
            <a:ext cx="87634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00" b="1" i="1" dirty="0">
                <a:solidFill>
                  <a:srgbClr val="FF5F3C"/>
                </a:solidFill>
                <a:latin typeface="Georgia"/>
                <a:ea typeface="+mn-lt"/>
                <a:cs typeface="+mn-lt"/>
              </a:rPr>
              <a:t>“</a:t>
            </a:r>
            <a:r>
              <a:rPr lang="en-US" sz="2100" dirty="0">
                <a:solidFill>
                  <a:srgbClr val="FF5F3C"/>
                </a:solidFill>
                <a:ea typeface="+mn-lt"/>
                <a:cs typeface="+mn-lt"/>
              </a:rPr>
              <a:t>Even the best intentions can go wrong if they don’t fit the recipient’s needs.</a:t>
            </a:r>
            <a:r>
              <a:rPr lang="en-US" sz="2100" b="1" i="1" dirty="0">
                <a:solidFill>
                  <a:srgbClr val="FF5F3C"/>
                </a:solidFill>
                <a:latin typeface="Georgia"/>
                <a:ea typeface="+mn-lt"/>
                <a:cs typeface="+mn-lt"/>
              </a:rPr>
              <a:t>”</a:t>
            </a:r>
            <a:endParaRPr lang="en-US" sz="2100">
              <a:latin typeface="Georgia"/>
              <a:ea typeface="Calibri"/>
              <a:cs typeface="Calibri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EE94904A-5F3D-D11E-4FA6-68008D17611D}"/>
              </a:ext>
            </a:extLst>
          </p:cNvPr>
          <p:cNvSpPr/>
          <p:nvPr/>
        </p:nvSpPr>
        <p:spPr>
          <a:xfrm>
            <a:off x="566928" y="3346704"/>
            <a:ext cx="8010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50" dirty="0">
                <a:solidFill>
                  <a:srgbClr val="5C6779"/>
                </a:solidFill>
                <a:ea typeface="+mn-lt"/>
                <a:cs typeface="+mn-lt"/>
              </a:rPr>
              <a:t>Just categorizing alone is not usable.</a:t>
            </a:r>
          </a:p>
        </p:txBody>
      </p:sp>
    </p:spTree>
    <p:extLst>
      <p:ext uri="{BB962C8B-B14F-4D97-AF65-F5344CB8AC3E}">
        <p14:creationId xmlns:p14="http://schemas.microsoft.com/office/powerpoint/2010/main" val="37104351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626864"/>
            <a:ext cx="8010144" cy="12802"/>
          </a:xfrm>
          <a:prstGeom prst="rect">
            <a:avLst/>
          </a:prstGeom>
          <a:solidFill>
            <a:srgbClr val="DAD5C9"/>
          </a:solidFill>
          <a:ln/>
        </p:spPr>
      </p:sp>
      <p:sp>
        <p:nvSpPr>
          <p:cNvPr id="3" name="Shape 1"/>
          <p:cNvSpPr/>
          <p:nvPr/>
        </p:nvSpPr>
        <p:spPr>
          <a:xfrm>
            <a:off x="528066" y="4594403"/>
            <a:ext cx="77724" cy="77724"/>
          </a:xfrm>
          <a:prstGeom prst="ellipse">
            <a:avLst/>
          </a:prstGeom>
          <a:solidFill>
            <a:srgbClr val="C6C1B4"/>
          </a:solidFill>
          <a:ln/>
        </p:spPr>
      </p:sp>
      <p:sp>
        <p:nvSpPr>
          <p:cNvPr id="4" name="Text 2"/>
          <p:cNvSpPr/>
          <p:nvPr/>
        </p:nvSpPr>
        <p:spPr>
          <a:xfrm>
            <a:off x="-210312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2530602" y="4594403"/>
            <a:ext cx="77724" cy="77724"/>
          </a:xfrm>
          <a:prstGeom prst="ellipse">
            <a:avLst/>
          </a:prstGeom>
          <a:solidFill>
            <a:srgbClr val="C6C1B4"/>
          </a:solidFill>
          <a:ln/>
        </p:spPr>
      </p:sp>
      <p:sp>
        <p:nvSpPr>
          <p:cNvPr id="6" name="Text 4"/>
          <p:cNvSpPr/>
          <p:nvPr/>
        </p:nvSpPr>
        <p:spPr>
          <a:xfrm>
            <a:off x="1792224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0-90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494276" y="4555541"/>
            <a:ext cx="155448" cy="155448"/>
          </a:xfrm>
          <a:prstGeom prst="ellipse">
            <a:avLst/>
          </a:prstGeom>
          <a:solidFill>
            <a:srgbClr val="FF5F3C"/>
          </a:solidFill>
          <a:ln/>
        </p:spPr>
      </p:sp>
      <p:sp>
        <p:nvSpPr>
          <p:cNvPr id="8" name="Text 6"/>
          <p:cNvSpPr/>
          <p:nvPr/>
        </p:nvSpPr>
        <p:spPr>
          <a:xfrm>
            <a:off x="3794760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60" dirty="0">
                <a:solidFill>
                  <a:srgbClr val="FF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535674" y="4594403"/>
            <a:ext cx="77724" cy="77724"/>
          </a:xfrm>
          <a:prstGeom prst="ellipse">
            <a:avLst/>
          </a:prstGeom>
          <a:solidFill>
            <a:srgbClr val="C6C1B4"/>
          </a:solidFill>
          <a:ln/>
        </p:spPr>
      </p:sp>
      <p:sp>
        <p:nvSpPr>
          <p:cNvPr id="10" name="Text 8"/>
          <p:cNvSpPr/>
          <p:nvPr/>
        </p:nvSpPr>
        <p:spPr>
          <a:xfrm>
            <a:off x="5797296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538210" y="4594403"/>
            <a:ext cx="77724" cy="77724"/>
          </a:xfrm>
          <a:prstGeom prst="ellipse">
            <a:avLst/>
          </a:prstGeom>
          <a:solidFill>
            <a:srgbClr val="C6C1B4"/>
          </a:solidFill>
          <a:ln/>
        </p:spPr>
      </p:sp>
      <p:sp>
        <p:nvSpPr>
          <p:cNvPr id="12" name="Text 10"/>
          <p:cNvSpPr/>
          <p:nvPr/>
        </p:nvSpPr>
        <p:spPr>
          <a:xfrm>
            <a:off x="7799832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state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229600" y="21945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FB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6928" y="420624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FF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CUSTOMER HAS TO TRUST THE OUTPUT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66928" y="749808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700"/>
              </a:lnSpc>
              <a:buNone/>
            </a:pPr>
            <a:r>
              <a:rPr lang="en-US" sz="3200" b="1" dirty="0">
                <a:solidFill>
                  <a:srgbClr val="12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Confidence without explanation is just a number</a:t>
            </a:r>
            <a:endParaRPr lang="en-US" sz="3200" dirty="0"/>
          </a:p>
        </p:txBody>
      </p:sp>
      <p:sp>
        <p:nvSpPr>
          <p:cNvPr id="16" name="Shape 14"/>
          <p:cNvSpPr/>
          <p:nvPr/>
        </p:nvSpPr>
        <p:spPr>
          <a:xfrm>
            <a:off x="566928" y="2112264"/>
            <a:ext cx="32004" cy="365760"/>
          </a:xfrm>
          <a:prstGeom prst="rect">
            <a:avLst/>
          </a:prstGeom>
          <a:solidFill>
            <a:srgbClr val="FF5F3C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" y="2029968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2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 confidence — and the reasoning behind it.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66928" y="2660904"/>
            <a:ext cx="32004" cy="365760"/>
          </a:xfrm>
          <a:prstGeom prst="rect">
            <a:avLst/>
          </a:prstGeom>
          <a:solidFill>
            <a:srgbClr val="FF5F3C"/>
          </a:solidFill>
          <a:ln/>
        </p:spPr>
      </p:sp>
      <p:sp>
        <p:nvSpPr>
          <p:cNvPr id="19" name="Text 17"/>
          <p:cNvSpPr/>
          <p:nvPr/>
        </p:nvSpPr>
        <p:spPr>
          <a:xfrm>
            <a:off x="841248" y="2578608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2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Explain without exposing.  </a:t>
            </a:r>
            <a:r>
              <a:rPr lang="en-US" sz="135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Enough “why” to judge. Not enough to copy the logic.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66928" y="3209544"/>
            <a:ext cx="32004" cy="365760"/>
          </a:xfrm>
          <a:prstGeom prst="rect">
            <a:avLst/>
          </a:prstGeom>
          <a:solidFill>
            <a:srgbClr val="FF5F3C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" y="3127248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2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 when to route to a human.  </a:t>
            </a:r>
            <a:r>
              <a:rPr lang="en-US" sz="135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show the user that it happened.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66928" y="4078224"/>
            <a:ext cx="8010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is what turns an accurate system into an adopted one.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626864"/>
            <a:ext cx="8010144" cy="12802"/>
          </a:xfrm>
          <a:prstGeom prst="rect">
            <a:avLst/>
          </a:prstGeom>
          <a:solidFill>
            <a:srgbClr val="33405A"/>
          </a:solidFill>
          <a:ln/>
        </p:spPr>
      </p:sp>
      <p:sp>
        <p:nvSpPr>
          <p:cNvPr id="3" name="Shape 1"/>
          <p:cNvSpPr/>
          <p:nvPr/>
        </p:nvSpPr>
        <p:spPr>
          <a:xfrm>
            <a:off x="528066" y="4594403"/>
            <a:ext cx="77724" cy="77724"/>
          </a:xfrm>
          <a:prstGeom prst="ellipse">
            <a:avLst/>
          </a:prstGeom>
          <a:solidFill>
            <a:srgbClr val="44506B"/>
          </a:solidFill>
          <a:ln/>
        </p:spPr>
      </p:sp>
      <p:sp>
        <p:nvSpPr>
          <p:cNvPr id="4" name="Text 2"/>
          <p:cNvSpPr/>
          <p:nvPr/>
        </p:nvSpPr>
        <p:spPr>
          <a:xfrm>
            <a:off x="-210312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5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2530602" y="4594403"/>
            <a:ext cx="77724" cy="77724"/>
          </a:xfrm>
          <a:prstGeom prst="ellipse">
            <a:avLst/>
          </a:prstGeom>
          <a:solidFill>
            <a:srgbClr val="44506B"/>
          </a:solidFill>
          <a:ln/>
        </p:spPr>
      </p:sp>
      <p:sp>
        <p:nvSpPr>
          <p:cNvPr id="6" name="Text 4"/>
          <p:cNvSpPr/>
          <p:nvPr/>
        </p:nvSpPr>
        <p:spPr>
          <a:xfrm>
            <a:off x="1792224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5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0-90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494276" y="4555541"/>
            <a:ext cx="155448" cy="155448"/>
          </a:xfrm>
          <a:prstGeom prst="ellipse">
            <a:avLst/>
          </a:prstGeom>
          <a:solidFill>
            <a:srgbClr val="FF5F3C"/>
          </a:solidFill>
          <a:ln/>
        </p:spPr>
      </p:sp>
      <p:sp>
        <p:nvSpPr>
          <p:cNvPr id="8" name="Text 6"/>
          <p:cNvSpPr/>
          <p:nvPr/>
        </p:nvSpPr>
        <p:spPr>
          <a:xfrm>
            <a:off x="3794760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60" dirty="0">
                <a:solidFill>
                  <a:srgbClr val="FF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535674" y="4594403"/>
            <a:ext cx="77724" cy="77724"/>
          </a:xfrm>
          <a:prstGeom prst="ellipse">
            <a:avLst/>
          </a:prstGeom>
          <a:solidFill>
            <a:srgbClr val="44506B"/>
          </a:solidFill>
          <a:ln/>
        </p:spPr>
      </p:sp>
      <p:sp>
        <p:nvSpPr>
          <p:cNvPr id="10" name="Text 8"/>
          <p:cNvSpPr/>
          <p:nvPr/>
        </p:nvSpPr>
        <p:spPr>
          <a:xfrm>
            <a:off x="5797296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5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538210" y="4594403"/>
            <a:ext cx="77724" cy="77724"/>
          </a:xfrm>
          <a:prstGeom prst="ellipse">
            <a:avLst/>
          </a:prstGeom>
          <a:solidFill>
            <a:srgbClr val="44506B"/>
          </a:solidFill>
          <a:ln/>
        </p:spPr>
      </p:sp>
      <p:sp>
        <p:nvSpPr>
          <p:cNvPr id="12" name="Text 10"/>
          <p:cNvSpPr/>
          <p:nvPr/>
        </p:nvSpPr>
        <p:spPr>
          <a:xfrm>
            <a:off x="7799832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5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state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229600" y="21945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6928" y="420624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FF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CROSSING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66928" y="1261872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FF5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Ship before you’re comfortable.</a:t>
            </a:r>
            <a:endParaRPr lang="en-US" sz="3600" dirty="0"/>
          </a:p>
        </p:txBody>
      </p:sp>
      <p:sp>
        <p:nvSpPr>
          <p:cNvPr id="16" name="Shape 14"/>
          <p:cNvSpPr/>
          <p:nvPr/>
        </p:nvSpPr>
        <p:spPr>
          <a:xfrm>
            <a:off x="566928" y="2587752"/>
            <a:ext cx="32004" cy="365760"/>
          </a:xfrm>
          <a:prstGeom prst="rect">
            <a:avLst/>
          </a:prstGeom>
          <a:solidFill>
            <a:srgbClr val="FF5F3C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" y="2505456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can’t catch everything.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66928" y="3136392"/>
            <a:ext cx="32004" cy="365760"/>
          </a:xfrm>
          <a:prstGeom prst="rect">
            <a:avLst/>
          </a:prstGeom>
          <a:solidFill>
            <a:srgbClr val="FF5F3C"/>
          </a:solidFill>
          <a:ln/>
        </p:spPr>
      </p:sp>
      <p:sp>
        <p:nvSpPr>
          <p:cNvPr id="19" name="Text 17"/>
          <p:cNvSpPr/>
          <p:nvPr/>
        </p:nvSpPr>
        <p:spPr>
          <a:xfrm>
            <a:off x="841248" y="3054096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Basic guardrails, good-enough quality.  </a:t>
            </a:r>
            <a:r>
              <a:rPr lang="en-US" sz="135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get it to real users.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66928" y="3685032"/>
            <a:ext cx="32004" cy="365760"/>
          </a:xfrm>
          <a:prstGeom prst="rect">
            <a:avLst/>
          </a:prstGeom>
          <a:solidFill>
            <a:srgbClr val="FF5F3C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" y="3602736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cannot perfect this in a lab.  </a:t>
            </a:r>
            <a:r>
              <a:rPr lang="en-US" sz="135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remaining unknowns only exist in production — in the hands of someone who doesn’t know how it works and doesn’t care.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626864"/>
            <a:ext cx="8010144" cy="12802"/>
          </a:xfrm>
          <a:prstGeom prst="rect">
            <a:avLst/>
          </a:prstGeom>
          <a:solidFill>
            <a:srgbClr val="DAD5C9"/>
          </a:solidFill>
          <a:ln/>
        </p:spPr>
      </p:sp>
      <p:sp>
        <p:nvSpPr>
          <p:cNvPr id="3" name="Shape 1"/>
          <p:cNvSpPr/>
          <p:nvPr/>
        </p:nvSpPr>
        <p:spPr>
          <a:xfrm>
            <a:off x="528066" y="4594403"/>
            <a:ext cx="77724" cy="77724"/>
          </a:xfrm>
          <a:prstGeom prst="ellipse">
            <a:avLst/>
          </a:prstGeom>
          <a:solidFill>
            <a:srgbClr val="C6C1B4"/>
          </a:solidFill>
          <a:ln/>
        </p:spPr>
      </p:sp>
      <p:sp>
        <p:nvSpPr>
          <p:cNvPr id="4" name="Text 2"/>
          <p:cNvSpPr/>
          <p:nvPr/>
        </p:nvSpPr>
        <p:spPr>
          <a:xfrm>
            <a:off x="-210312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2530602" y="4594403"/>
            <a:ext cx="77724" cy="77724"/>
          </a:xfrm>
          <a:prstGeom prst="ellipse">
            <a:avLst/>
          </a:prstGeom>
          <a:solidFill>
            <a:srgbClr val="C6C1B4"/>
          </a:solidFill>
          <a:ln/>
        </p:spPr>
      </p:sp>
      <p:sp>
        <p:nvSpPr>
          <p:cNvPr id="6" name="Text 4"/>
          <p:cNvSpPr/>
          <p:nvPr/>
        </p:nvSpPr>
        <p:spPr>
          <a:xfrm>
            <a:off x="1792224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0-90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33138" y="4594403"/>
            <a:ext cx="77724" cy="77724"/>
          </a:xfrm>
          <a:prstGeom prst="ellipse">
            <a:avLst/>
          </a:prstGeom>
          <a:solidFill>
            <a:srgbClr val="C6C1B4"/>
          </a:solidFill>
          <a:ln/>
        </p:spPr>
      </p:sp>
      <p:sp>
        <p:nvSpPr>
          <p:cNvPr id="8" name="Text 6"/>
          <p:cNvSpPr/>
          <p:nvPr/>
        </p:nvSpPr>
        <p:spPr>
          <a:xfrm>
            <a:off x="3794760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496812" y="4555541"/>
            <a:ext cx="155448" cy="155448"/>
          </a:xfrm>
          <a:prstGeom prst="ellipse">
            <a:avLst/>
          </a:prstGeom>
          <a:solidFill>
            <a:srgbClr val="FF5F3C"/>
          </a:solidFill>
          <a:ln/>
        </p:spPr>
      </p:sp>
      <p:sp>
        <p:nvSpPr>
          <p:cNvPr id="10" name="Text 8"/>
          <p:cNvSpPr/>
          <p:nvPr/>
        </p:nvSpPr>
        <p:spPr>
          <a:xfrm>
            <a:off x="5797296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60" dirty="0">
                <a:solidFill>
                  <a:srgbClr val="FF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538210" y="4594403"/>
            <a:ext cx="77724" cy="77724"/>
          </a:xfrm>
          <a:prstGeom prst="ellipse">
            <a:avLst/>
          </a:prstGeom>
          <a:solidFill>
            <a:srgbClr val="C6C1B4"/>
          </a:solidFill>
          <a:ln/>
        </p:spPr>
      </p:sp>
      <p:sp>
        <p:nvSpPr>
          <p:cNvPr id="12" name="Text 10"/>
          <p:cNvSpPr/>
          <p:nvPr/>
        </p:nvSpPr>
        <p:spPr>
          <a:xfrm>
            <a:off x="7799832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state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229600" y="21945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FB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6928" y="420624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FF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FOUR — THE LOOP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66928" y="749808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700"/>
              </a:lnSpc>
              <a:buNone/>
            </a:pPr>
            <a:r>
              <a:rPr lang="en-US" sz="2900" b="1" dirty="0">
                <a:solidFill>
                  <a:srgbClr val="12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one live is the start of the project</a:t>
            </a:r>
            <a:endParaRPr lang="en-US" sz="2900" dirty="0"/>
          </a:p>
        </p:txBody>
      </p:sp>
      <p:sp>
        <p:nvSpPr>
          <p:cNvPr id="16" name="Text 14"/>
          <p:cNvSpPr/>
          <p:nvPr/>
        </p:nvSpPr>
        <p:spPr>
          <a:xfrm>
            <a:off x="566928" y="210312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en-US" sz="160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before this was preparation. Everything after it is the actual work.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66928" y="3054096"/>
            <a:ext cx="822960" cy="32004"/>
          </a:xfrm>
          <a:prstGeom prst="rect">
            <a:avLst/>
          </a:prstGeom>
          <a:solidFill>
            <a:srgbClr val="FF5F3C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" y="323697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i="1" dirty="0">
                <a:solidFill>
                  <a:srgbClr val="12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line you’ve been following becomes a circle.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577840" y="1389888"/>
            <a:ext cx="2194560" cy="2194560"/>
          </a:xfrm>
          <a:prstGeom prst="ellipse">
            <a:avLst/>
          </a:prstGeom>
          <a:solidFill>
            <a:srgbClr val="F6F4EF"/>
          </a:solidFill>
          <a:ln w="38100">
            <a:solidFill>
              <a:srgbClr val="FF5F3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74536" y="1289304"/>
            <a:ext cx="201168" cy="201168"/>
          </a:xfrm>
          <a:prstGeom prst="ellipse">
            <a:avLst/>
          </a:prstGeom>
          <a:solidFill>
            <a:srgbClr val="FF5F3C"/>
          </a:solidFill>
          <a:ln/>
        </p:spPr>
      </p:sp>
      <p:sp>
        <p:nvSpPr>
          <p:cNvPr id="21" name="Text 19"/>
          <p:cNvSpPr/>
          <p:nvPr/>
        </p:nvSpPr>
        <p:spPr>
          <a:xfrm>
            <a:off x="5806440" y="20848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12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806440" y="23591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12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806440" y="26334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AGAIN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626864"/>
            <a:ext cx="8010144" cy="12802"/>
          </a:xfrm>
          <a:prstGeom prst="rect">
            <a:avLst/>
          </a:prstGeom>
          <a:solidFill>
            <a:srgbClr val="DAD5C9"/>
          </a:solidFill>
          <a:ln/>
        </p:spPr>
      </p:sp>
      <p:sp>
        <p:nvSpPr>
          <p:cNvPr id="3" name="Shape 1"/>
          <p:cNvSpPr/>
          <p:nvPr/>
        </p:nvSpPr>
        <p:spPr>
          <a:xfrm>
            <a:off x="528066" y="4594403"/>
            <a:ext cx="77724" cy="77724"/>
          </a:xfrm>
          <a:prstGeom prst="ellipse">
            <a:avLst/>
          </a:prstGeom>
          <a:solidFill>
            <a:srgbClr val="C6C1B4"/>
          </a:solidFill>
          <a:ln/>
        </p:spPr>
      </p:sp>
      <p:sp>
        <p:nvSpPr>
          <p:cNvPr id="4" name="Text 2"/>
          <p:cNvSpPr/>
          <p:nvPr/>
        </p:nvSpPr>
        <p:spPr>
          <a:xfrm>
            <a:off x="-210312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2530602" y="4594403"/>
            <a:ext cx="77724" cy="77724"/>
          </a:xfrm>
          <a:prstGeom prst="ellipse">
            <a:avLst/>
          </a:prstGeom>
          <a:solidFill>
            <a:srgbClr val="C6C1B4"/>
          </a:solidFill>
          <a:ln/>
        </p:spPr>
      </p:sp>
      <p:sp>
        <p:nvSpPr>
          <p:cNvPr id="6" name="Text 4"/>
          <p:cNvSpPr/>
          <p:nvPr/>
        </p:nvSpPr>
        <p:spPr>
          <a:xfrm>
            <a:off x="1792224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0-90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33138" y="4594403"/>
            <a:ext cx="77724" cy="77724"/>
          </a:xfrm>
          <a:prstGeom prst="ellipse">
            <a:avLst/>
          </a:prstGeom>
          <a:solidFill>
            <a:srgbClr val="C6C1B4"/>
          </a:solidFill>
          <a:ln/>
        </p:spPr>
      </p:sp>
      <p:sp>
        <p:nvSpPr>
          <p:cNvPr id="8" name="Text 6"/>
          <p:cNvSpPr/>
          <p:nvPr/>
        </p:nvSpPr>
        <p:spPr>
          <a:xfrm>
            <a:off x="3794760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496812" y="4555541"/>
            <a:ext cx="155448" cy="155448"/>
          </a:xfrm>
          <a:prstGeom prst="ellipse">
            <a:avLst/>
          </a:prstGeom>
          <a:solidFill>
            <a:srgbClr val="FF5F3C"/>
          </a:solidFill>
          <a:ln/>
        </p:spPr>
      </p:sp>
      <p:sp>
        <p:nvSpPr>
          <p:cNvPr id="10" name="Text 8"/>
          <p:cNvSpPr/>
          <p:nvPr/>
        </p:nvSpPr>
        <p:spPr>
          <a:xfrm>
            <a:off x="5797296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60" dirty="0">
                <a:solidFill>
                  <a:srgbClr val="FF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538210" y="4594403"/>
            <a:ext cx="77724" cy="77724"/>
          </a:xfrm>
          <a:prstGeom prst="ellipse">
            <a:avLst/>
          </a:prstGeom>
          <a:solidFill>
            <a:srgbClr val="C6C1B4"/>
          </a:solidFill>
          <a:ln/>
        </p:spPr>
      </p:sp>
      <p:sp>
        <p:nvSpPr>
          <p:cNvPr id="12" name="Text 10"/>
          <p:cNvSpPr/>
          <p:nvPr/>
        </p:nvSpPr>
        <p:spPr>
          <a:xfrm>
            <a:off x="7799832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state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229600" y="21945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FB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6928" y="420624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FF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ASSET MOST TEAMS THROW AWAY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66928" y="749808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700"/>
              </a:lnSpc>
              <a:buNone/>
            </a:pPr>
            <a:r>
              <a:rPr lang="en-US" sz="3200" b="1" dirty="0">
                <a:solidFill>
                  <a:srgbClr val="12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correction is free training signal</a:t>
            </a:r>
            <a:endParaRPr lang="en-US" sz="3200" dirty="0"/>
          </a:p>
        </p:txBody>
      </p:sp>
      <p:sp>
        <p:nvSpPr>
          <p:cNvPr id="16" name="Shape 14"/>
          <p:cNvSpPr/>
          <p:nvPr/>
        </p:nvSpPr>
        <p:spPr>
          <a:xfrm>
            <a:off x="566928" y="1828800"/>
            <a:ext cx="1796796" cy="768096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8368" y="1956816"/>
            <a:ext cx="16139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corrects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363724" y="2048256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2638044" y="1828800"/>
            <a:ext cx="1796796" cy="768096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729484" y="1956816"/>
            <a:ext cx="16139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434840" y="2048256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709160" y="1828800"/>
            <a:ext cx="1796796" cy="768096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00600" y="1956816"/>
            <a:ext cx="16139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505956" y="2048256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780276" y="1828800"/>
            <a:ext cx="1796796" cy="768096"/>
          </a:xfrm>
          <a:prstGeom prst="rect">
            <a:avLst/>
          </a:prstGeom>
          <a:solidFill>
            <a:srgbClr val="FF5F3C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871716" y="1956816"/>
            <a:ext cx="16139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Routed back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66928" y="2898648"/>
            <a:ext cx="32004" cy="365760"/>
          </a:xfrm>
          <a:prstGeom prst="rect">
            <a:avLst/>
          </a:prstGeom>
          <a:solidFill>
            <a:srgbClr val="FF5F3C"/>
          </a:solidFill>
          <a:ln/>
        </p:spPr>
      </p:sp>
      <p:sp>
        <p:nvSpPr>
          <p:cNvPr id="28" name="Text 26"/>
          <p:cNvSpPr/>
          <p:nvPr/>
        </p:nvSpPr>
        <p:spPr>
          <a:xfrm>
            <a:off x="841248" y="2816352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2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Engineering vetted it,  </a:t>
            </a:r>
            <a:r>
              <a:rPr lang="en-US" sz="135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consulted experts, retuned prompts, improved the knowledge.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66928" y="3447288"/>
            <a:ext cx="32004" cy="365760"/>
          </a:xfrm>
          <a:prstGeom prst="rect">
            <a:avLst/>
          </a:prstGeom>
          <a:solidFill>
            <a:srgbClr val="FF5F3C"/>
          </a:solidFill>
          <a:ln/>
        </p:spPr>
      </p:sp>
      <p:sp>
        <p:nvSpPr>
          <p:cNvPr id="30" name="Text 28"/>
          <p:cNvSpPr/>
          <p:nvPr/>
        </p:nvSpPr>
        <p:spPr>
          <a:xfrm>
            <a:off x="841248" y="3364992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2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teams log the prediction  </a:t>
            </a:r>
            <a:r>
              <a:rPr lang="en-US" sz="135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discard the correction.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66928" y="3895344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i="1" dirty="0">
                <a:solidFill>
                  <a:srgbClr val="FF5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correction was the valuable half.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626864"/>
            <a:ext cx="8010144" cy="12802"/>
          </a:xfrm>
          <a:prstGeom prst="rect">
            <a:avLst/>
          </a:prstGeom>
          <a:solidFill>
            <a:srgbClr val="DAD5C9"/>
          </a:solidFill>
          <a:ln/>
        </p:spPr>
      </p:sp>
      <p:sp>
        <p:nvSpPr>
          <p:cNvPr id="3" name="Shape 1"/>
          <p:cNvSpPr/>
          <p:nvPr/>
        </p:nvSpPr>
        <p:spPr>
          <a:xfrm>
            <a:off x="528066" y="4594403"/>
            <a:ext cx="77724" cy="77724"/>
          </a:xfrm>
          <a:prstGeom prst="ellipse">
            <a:avLst/>
          </a:prstGeom>
          <a:solidFill>
            <a:srgbClr val="C6C1B4"/>
          </a:solidFill>
          <a:ln/>
        </p:spPr>
      </p:sp>
      <p:sp>
        <p:nvSpPr>
          <p:cNvPr id="4" name="Text 2"/>
          <p:cNvSpPr/>
          <p:nvPr/>
        </p:nvSpPr>
        <p:spPr>
          <a:xfrm>
            <a:off x="-210312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2530602" y="4594403"/>
            <a:ext cx="77724" cy="77724"/>
          </a:xfrm>
          <a:prstGeom prst="ellipse">
            <a:avLst/>
          </a:prstGeom>
          <a:solidFill>
            <a:srgbClr val="C6C1B4"/>
          </a:solidFill>
          <a:ln/>
        </p:spPr>
      </p:sp>
      <p:sp>
        <p:nvSpPr>
          <p:cNvPr id="6" name="Text 4"/>
          <p:cNvSpPr/>
          <p:nvPr/>
        </p:nvSpPr>
        <p:spPr>
          <a:xfrm>
            <a:off x="1792224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0-90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33138" y="4594403"/>
            <a:ext cx="77724" cy="77724"/>
          </a:xfrm>
          <a:prstGeom prst="ellipse">
            <a:avLst/>
          </a:prstGeom>
          <a:solidFill>
            <a:srgbClr val="C6C1B4"/>
          </a:solidFill>
          <a:ln/>
        </p:spPr>
      </p:sp>
      <p:sp>
        <p:nvSpPr>
          <p:cNvPr id="8" name="Text 6"/>
          <p:cNvSpPr/>
          <p:nvPr/>
        </p:nvSpPr>
        <p:spPr>
          <a:xfrm>
            <a:off x="3794760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496812" y="4555541"/>
            <a:ext cx="155448" cy="155448"/>
          </a:xfrm>
          <a:prstGeom prst="ellipse">
            <a:avLst/>
          </a:prstGeom>
          <a:solidFill>
            <a:srgbClr val="FF5F3C"/>
          </a:solidFill>
          <a:ln/>
        </p:spPr>
      </p:sp>
      <p:sp>
        <p:nvSpPr>
          <p:cNvPr id="10" name="Text 8"/>
          <p:cNvSpPr/>
          <p:nvPr/>
        </p:nvSpPr>
        <p:spPr>
          <a:xfrm>
            <a:off x="5797296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60" dirty="0">
                <a:solidFill>
                  <a:srgbClr val="FF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538210" y="4594403"/>
            <a:ext cx="77724" cy="77724"/>
          </a:xfrm>
          <a:prstGeom prst="ellipse">
            <a:avLst/>
          </a:prstGeom>
          <a:solidFill>
            <a:srgbClr val="C6C1B4"/>
          </a:solidFill>
          <a:ln/>
        </p:spPr>
      </p:sp>
      <p:sp>
        <p:nvSpPr>
          <p:cNvPr id="12" name="Text 10"/>
          <p:cNvSpPr/>
          <p:nvPr/>
        </p:nvSpPr>
        <p:spPr>
          <a:xfrm>
            <a:off x="7799832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state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229600" y="21945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FB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6928" y="420624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FF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SUCCESS BROKE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66928" y="749808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700"/>
              </a:lnSpc>
              <a:buNone/>
            </a:pPr>
            <a:r>
              <a:rPr lang="en-US" sz="3200" b="1" dirty="0">
                <a:solidFill>
                  <a:srgbClr val="12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loop that worked stopped scaling</a:t>
            </a:r>
            <a:endParaRPr lang="en-US" sz="3200" dirty="0"/>
          </a:p>
        </p:txBody>
      </p:sp>
      <p:sp>
        <p:nvSpPr>
          <p:cNvPr id="16" name="Shape 14"/>
          <p:cNvSpPr/>
          <p:nvPr/>
        </p:nvSpPr>
        <p:spPr>
          <a:xfrm>
            <a:off x="566928" y="2112264"/>
            <a:ext cx="32004" cy="365760"/>
          </a:xfrm>
          <a:prstGeom prst="rect">
            <a:avLst/>
          </a:prstGeom>
          <a:solidFill>
            <a:srgbClr val="FF5F3C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" y="2029968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2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Feedback became overwhelming.  </a:t>
            </a:r>
            <a:r>
              <a:rPr lang="en-US" sz="135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customer and new domain added more.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66928" y="2660904"/>
            <a:ext cx="32004" cy="365760"/>
          </a:xfrm>
          <a:prstGeom prst="rect">
            <a:avLst/>
          </a:prstGeom>
          <a:solidFill>
            <a:srgbClr val="FF5F3C"/>
          </a:solidFill>
          <a:ln/>
        </p:spPr>
      </p:sp>
      <p:sp>
        <p:nvSpPr>
          <p:cNvPr id="19" name="Text 17"/>
          <p:cNvSpPr/>
          <p:nvPr/>
        </p:nvSpPr>
        <p:spPr>
          <a:xfrm>
            <a:off x="841248" y="2578608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2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Engineering sat in the middle of every change.  </a:t>
            </a:r>
            <a:r>
              <a:rPr lang="en-US" sz="135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queue formed.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66928" y="3209544"/>
            <a:ext cx="32004" cy="365760"/>
          </a:xfrm>
          <a:prstGeom prst="rect">
            <a:avLst/>
          </a:prstGeom>
          <a:solidFill>
            <a:srgbClr val="FF5F3C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" y="3127248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2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Experts couldn’t tune directly.  </a:t>
            </a:r>
            <a:r>
              <a:rPr lang="en-US" sz="135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know the domain — not prompt structure or AI system internals.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626864"/>
            <a:ext cx="8010144" cy="12802"/>
          </a:xfrm>
          <a:prstGeom prst="rect">
            <a:avLst/>
          </a:prstGeom>
          <a:solidFill>
            <a:srgbClr val="DAD5C9"/>
          </a:solidFill>
          <a:ln/>
        </p:spPr>
      </p:sp>
      <p:sp>
        <p:nvSpPr>
          <p:cNvPr id="3" name="Shape 1"/>
          <p:cNvSpPr/>
          <p:nvPr/>
        </p:nvSpPr>
        <p:spPr>
          <a:xfrm>
            <a:off x="528066" y="4594403"/>
            <a:ext cx="77724" cy="77724"/>
          </a:xfrm>
          <a:prstGeom prst="ellipse">
            <a:avLst/>
          </a:prstGeom>
          <a:solidFill>
            <a:srgbClr val="C6C1B4"/>
          </a:solidFill>
          <a:ln/>
        </p:spPr>
      </p:sp>
      <p:sp>
        <p:nvSpPr>
          <p:cNvPr id="4" name="Text 2"/>
          <p:cNvSpPr/>
          <p:nvPr/>
        </p:nvSpPr>
        <p:spPr>
          <a:xfrm>
            <a:off x="-210312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2530602" y="4594403"/>
            <a:ext cx="77724" cy="77724"/>
          </a:xfrm>
          <a:prstGeom prst="ellipse">
            <a:avLst/>
          </a:prstGeom>
          <a:solidFill>
            <a:srgbClr val="C6C1B4"/>
          </a:solidFill>
          <a:ln/>
        </p:spPr>
      </p:sp>
      <p:sp>
        <p:nvSpPr>
          <p:cNvPr id="6" name="Text 4"/>
          <p:cNvSpPr/>
          <p:nvPr/>
        </p:nvSpPr>
        <p:spPr>
          <a:xfrm>
            <a:off x="1792224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0-90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33138" y="4594403"/>
            <a:ext cx="77724" cy="77724"/>
          </a:xfrm>
          <a:prstGeom prst="ellipse">
            <a:avLst/>
          </a:prstGeom>
          <a:solidFill>
            <a:srgbClr val="C6C1B4"/>
          </a:solidFill>
          <a:ln/>
        </p:spPr>
      </p:sp>
      <p:sp>
        <p:nvSpPr>
          <p:cNvPr id="8" name="Text 6"/>
          <p:cNvSpPr/>
          <p:nvPr/>
        </p:nvSpPr>
        <p:spPr>
          <a:xfrm>
            <a:off x="3794760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496812" y="4555541"/>
            <a:ext cx="155448" cy="155448"/>
          </a:xfrm>
          <a:prstGeom prst="ellipse">
            <a:avLst/>
          </a:prstGeom>
          <a:solidFill>
            <a:srgbClr val="FF5F3C"/>
          </a:solidFill>
          <a:ln/>
        </p:spPr>
      </p:sp>
      <p:sp>
        <p:nvSpPr>
          <p:cNvPr id="10" name="Text 8"/>
          <p:cNvSpPr/>
          <p:nvPr/>
        </p:nvSpPr>
        <p:spPr>
          <a:xfrm>
            <a:off x="5797296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60" dirty="0">
                <a:solidFill>
                  <a:srgbClr val="FF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538210" y="4594403"/>
            <a:ext cx="77724" cy="77724"/>
          </a:xfrm>
          <a:prstGeom prst="ellipse">
            <a:avLst/>
          </a:prstGeom>
          <a:solidFill>
            <a:srgbClr val="C6C1B4"/>
          </a:solidFill>
          <a:ln/>
        </p:spPr>
      </p:sp>
      <p:sp>
        <p:nvSpPr>
          <p:cNvPr id="12" name="Text 10"/>
          <p:cNvSpPr/>
          <p:nvPr/>
        </p:nvSpPr>
        <p:spPr>
          <a:xfrm>
            <a:off x="7799832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state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229600" y="21945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FB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6928" y="420624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FF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ENGINEERING BOTTLENECK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66928" y="1316736"/>
            <a:ext cx="8010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100" dirty="0">
                <a:solidFill>
                  <a:srgbClr val="121A2B"/>
                </a:solidFill>
                <a:latin typeface="Nirmala UI"/>
                <a:ea typeface="Nirmala UI"/>
                <a:cs typeface="Nirmala UI"/>
              </a:rPr>
              <a:t>இதனை இதனால் இவன்முடிக்கும் என்றாய்ந்து</a:t>
            </a:r>
            <a:endParaRPr lang="en-US" sz="2100">
              <a:latin typeface="Nirmala UI"/>
              <a:ea typeface="Nirmala UI"/>
              <a:cs typeface="Nirmala UI"/>
            </a:endParaRPr>
          </a:p>
          <a:p>
            <a:pPr marL="0" indent="0" algn="ctr">
              <a:lnSpc>
                <a:spcPts val="3200"/>
              </a:lnSpc>
              <a:buNone/>
            </a:pPr>
            <a:r>
              <a:rPr lang="en-US" sz="2100" dirty="0">
                <a:solidFill>
                  <a:srgbClr val="121A2B"/>
                </a:solidFill>
                <a:latin typeface="Nirmala UI"/>
                <a:ea typeface="Nirmala UI"/>
                <a:cs typeface="Nirmala UI"/>
              </a:rPr>
              <a:t>அதனை அவன்கண் விடல்.</a:t>
            </a:r>
            <a:endParaRPr lang="en-US" sz="2100">
              <a:latin typeface="Nirmala UI"/>
              <a:ea typeface="Nirmala UI"/>
              <a:cs typeface="Nirmala UI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66928" y="2286000"/>
            <a:ext cx="8010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3A3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— குறள் 517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66928" y="2798064"/>
            <a:ext cx="8010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i="1" dirty="0">
                <a:solidFill>
                  <a:srgbClr val="FF5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“Know who can do the work, then let that person own it.”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566928" y="3346704"/>
            <a:ext cx="8010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builds the tuning system. Domain experts tune the knowledge.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2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626864"/>
            <a:ext cx="8010144" cy="12802"/>
          </a:xfrm>
          <a:prstGeom prst="rect">
            <a:avLst/>
          </a:prstGeom>
          <a:solidFill>
            <a:srgbClr val="33405A"/>
          </a:solidFill>
          <a:ln/>
        </p:spPr>
      </p:sp>
      <p:sp>
        <p:nvSpPr>
          <p:cNvPr id="3" name="Shape 1"/>
          <p:cNvSpPr/>
          <p:nvPr/>
        </p:nvSpPr>
        <p:spPr>
          <a:xfrm>
            <a:off x="528066" y="4594403"/>
            <a:ext cx="77724" cy="77724"/>
          </a:xfrm>
          <a:prstGeom prst="ellipse">
            <a:avLst/>
          </a:prstGeom>
          <a:solidFill>
            <a:srgbClr val="44506B"/>
          </a:solidFill>
          <a:ln/>
        </p:spPr>
      </p:sp>
      <p:sp>
        <p:nvSpPr>
          <p:cNvPr id="4" name="Text 2"/>
          <p:cNvSpPr/>
          <p:nvPr/>
        </p:nvSpPr>
        <p:spPr>
          <a:xfrm>
            <a:off x="-210312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5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2530602" y="4594403"/>
            <a:ext cx="77724" cy="77724"/>
          </a:xfrm>
          <a:prstGeom prst="ellipse">
            <a:avLst/>
          </a:prstGeom>
          <a:solidFill>
            <a:srgbClr val="44506B"/>
          </a:solidFill>
          <a:ln/>
        </p:spPr>
      </p:sp>
      <p:sp>
        <p:nvSpPr>
          <p:cNvPr id="6" name="Text 4"/>
          <p:cNvSpPr/>
          <p:nvPr/>
        </p:nvSpPr>
        <p:spPr>
          <a:xfrm>
            <a:off x="1792224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5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0-90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33138" y="4594403"/>
            <a:ext cx="77724" cy="77724"/>
          </a:xfrm>
          <a:prstGeom prst="ellipse">
            <a:avLst/>
          </a:prstGeom>
          <a:solidFill>
            <a:srgbClr val="44506B"/>
          </a:solidFill>
          <a:ln/>
        </p:spPr>
      </p:sp>
      <p:sp>
        <p:nvSpPr>
          <p:cNvPr id="8" name="Text 6"/>
          <p:cNvSpPr/>
          <p:nvPr/>
        </p:nvSpPr>
        <p:spPr>
          <a:xfrm>
            <a:off x="3794760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5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496812" y="4555541"/>
            <a:ext cx="155448" cy="155448"/>
          </a:xfrm>
          <a:prstGeom prst="ellipse">
            <a:avLst/>
          </a:prstGeom>
          <a:solidFill>
            <a:srgbClr val="FF5F3C"/>
          </a:solidFill>
          <a:ln/>
        </p:spPr>
      </p:sp>
      <p:sp>
        <p:nvSpPr>
          <p:cNvPr id="10" name="Text 8"/>
          <p:cNvSpPr/>
          <p:nvPr/>
        </p:nvSpPr>
        <p:spPr>
          <a:xfrm>
            <a:off x="5797296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60" dirty="0">
                <a:solidFill>
                  <a:srgbClr val="FF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538210" y="4594403"/>
            <a:ext cx="77724" cy="77724"/>
          </a:xfrm>
          <a:prstGeom prst="ellipse">
            <a:avLst/>
          </a:prstGeom>
          <a:solidFill>
            <a:srgbClr val="44506B"/>
          </a:solidFill>
          <a:ln/>
        </p:spPr>
      </p:sp>
      <p:sp>
        <p:nvSpPr>
          <p:cNvPr id="12" name="Text 10"/>
          <p:cNvSpPr/>
          <p:nvPr/>
        </p:nvSpPr>
        <p:spPr>
          <a:xfrm>
            <a:off x="7799832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5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state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229600" y="21945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6928" y="420624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FF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STRUCTURAL FIX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66928" y="749808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7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the system that lets experts tune the knowledge</a:t>
            </a:r>
            <a:endParaRPr lang="en-US" sz="2900" dirty="0"/>
          </a:p>
        </p:txBody>
      </p:sp>
      <p:sp>
        <p:nvSpPr>
          <p:cNvPr id="16" name="Shape 14"/>
          <p:cNvSpPr/>
          <p:nvPr/>
        </p:nvSpPr>
        <p:spPr>
          <a:xfrm>
            <a:off x="566928" y="2011680"/>
            <a:ext cx="2505456" cy="1481328"/>
          </a:xfrm>
          <a:prstGeom prst="rect">
            <a:avLst/>
          </a:prstGeom>
          <a:solidFill>
            <a:srgbClr val="1C2740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" y="221284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6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04672" y="2523744"/>
            <a:ext cx="20665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Builds the agentic tuning system.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273552" y="2011680"/>
            <a:ext cx="2505456" cy="1481328"/>
          </a:xfrm>
          <a:prstGeom prst="rect">
            <a:avLst/>
          </a:prstGeom>
          <a:solidFill>
            <a:srgbClr val="1C2740"/>
          </a:solidFill>
          <a:ln/>
        </p:spPr>
      </p:sp>
      <p:sp>
        <p:nvSpPr>
          <p:cNvPr id="20" name="Text 18"/>
          <p:cNvSpPr/>
          <p:nvPr/>
        </p:nvSpPr>
        <p:spPr>
          <a:xfrm>
            <a:off x="3511296" y="221284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6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EXPERTS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511296" y="2523744"/>
            <a:ext cx="20665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Improve the knowledge through it.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980176" y="2011680"/>
            <a:ext cx="2505456" cy="1481328"/>
          </a:xfrm>
          <a:prstGeom prst="rect">
            <a:avLst/>
          </a:prstGeom>
          <a:solidFill>
            <a:srgbClr val="FF5F3C"/>
          </a:solidFill>
          <a:ln/>
        </p:spPr>
      </p:sp>
      <p:sp>
        <p:nvSpPr>
          <p:cNvPr id="23" name="Text 21"/>
          <p:cNvSpPr/>
          <p:nvPr/>
        </p:nvSpPr>
        <p:spPr>
          <a:xfrm>
            <a:off x="6217920" y="221284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60" dirty="0">
                <a:solidFill>
                  <a:srgbClr val="FFD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217920" y="2523744"/>
            <a:ext cx="20665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Days become minutes.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66928" y="3730752"/>
            <a:ext cx="8010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8E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sides do what they do best.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626864"/>
            <a:ext cx="8010144" cy="12802"/>
          </a:xfrm>
          <a:prstGeom prst="rect">
            <a:avLst/>
          </a:prstGeom>
          <a:solidFill>
            <a:srgbClr val="DAD5C9"/>
          </a:solidFill>
          <a:ln/>
        </p:spPr>
      </p:sp>
      <p:sp>
        <p:nvSpPr>
          <p:cNvPr id="3" name="Shape 1"/>
          <p:cNvSpPr/>
          <p:nvPr/>
        </p:nvSpPr>
        <p:spPr>
          <a:xfrm>
            <a:off x="528066" y="4594403"/>
            <a:ext cx="77724" cy="77724"/>
          </a:xfrm>
          <a:prstGeom prst="ellipse">
            <a:avLst/>
          </a:prstGeom>
          <a:solidFill>
            <a:srgbClr val="C6C1B4"/>
          </a:solidFill>
          <a:ln/>
        </p:spPr>
      </p:sp>
      <p:sp>
        <p:nvSpPr>
          <p:cNvPr id="4" name="Text 2"/>
          <p:cNvSpPr/>
          <p:nvPr/>
        </p:nvSpPr>
        <p:spPr>
          <a:xfrm>
            <a:off x="-210312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2530602" y="4594403"/>
            <a:ext cx="77724" cy="77724"/>
          </a:xfrm>
          <a:prstGeom prst="ellipse">
            <a:avLst/>
          </a:prstGeom>
          <a:solidFill>
            <a:srgbClr val="C6C1B4"/>
          </a:solidFill>
          <a:ln/>
        </p:spPr>
      </p:sp>
      <p:sp>
        <p:nvSpPr>
          <p:cNvPr id="6" name="Text 4"/>
          <p:cNvSpPr/>
          <p:nvPr/>
        </p:nvSpPr>
        <p:spPr>
          <a:xfrm>
            <a:off x="1792224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0-90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33138" y="4594403"/>
            <a:ext cx="77724" cy="77724"/>
          </a:xfrm>
          <a:prstGeom prst="ellipse">
            <a:avLst/>
          </a:prstGeom>
          <a:solidFill>
            <a:srgbClr val="C6C1B4"/>
          </a:solidFill>
          <a:ln/>
        </p:spPr>
      </p:sp>
      <p:sp>
        <p:nvSpPr>
          <p:cNvPr id="8" name="Text 6"/>
          <p:cNvSpPr/>
          <p:nvPr/>
        </p:nvSpPr>
        <p:spPr>
          <a:xfrm>
            <a:off x="3794760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496812" y="4555541"/>
            <a:ext cx="155448" cy="155448"/>
          </a:xfrm>
          <a:prstGeom prst="ellipse">
            <a:avLst/>
          </a:prstGeom>
          <a:solidFill>
            <a:srgbClr val="FF5F3C"/>
          </a:solidFill>
          <a:ln/>
        </p:spPr>
      </p:sp>
      <p:sp>
        <p:nvSpPr>
          <p:cNvPr id="10" name="Text 8"/>
          <p:cNvSpPr/>
          <p:nvPr/>
        </p:nvSpPr>
        <p:spPr>
          <a:xfrm>
            <a:off x="5797296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60" dirty="0">
                <a:solidFill>
                  <a:srgbClr val="FF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538210" y="4594403"/>
            <a:ext cx="77724" cy="77724"/>
          </a:xfrm>
          <a:prstGeom prst="ellipse">
            <a:avLst/>
          </a:prstGeom>
          <a:solidFill>
            <a:srgbClr val="C6C1B4"/>
          </a:solidFill>
          <a:ln/>
        </p:spPr>
      </p:sp>
      <p:sp>
        <p:nvSpPr>
          <p:cNvPr id="12" name="Text 10"/>
          <p:cNvSpPr/>
          <p:nvPr/>
        </p:nvSpPr>
        <p:spPr>
          <a:xfrm>
            <a:off x="7799832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state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229600" y="21945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FB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6928" y="420624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FF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IT REPEATABLE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66928" y="749808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700"/>
              </a:lnSpc>
              <a:buNone/>
            </a:pPr>
            <a:r>
              <a:rPr lang="en-US" sz="3200" b="1" dirty="0">
                <a:solidFill>
                  <a:srgbClr val="12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workflows that keep the loop honest</a:t>
            </a:r>
            <a:endParaRPr lang="en-US" sz="3200" dirty="0"/>
          </a:p>
        </p:txBody>
      </p:sp>
      <p:sp>
        <p:nvSpPr>
          <p:cNvPr id="16" name="Shape 14"/>
          <p:cNvSpPr/>
          <p:nvPr/>
        </p:nvSpPr>
        <p:spPr>
          <a:xfrm>
            <a:off x="566928" y="1956816"/>
            <a:ext cx="2535936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2194560"/>
            <a:ext cx="2060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2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Regression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22960" y="2523744"/>
            <a:ext cx="206044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50"/>
              </a:lnSpc>
              <a:buNone/>
            </a:pPr>
            <a:r>
              <a:rPr lang="en-US" sz="120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this change break yesterday’s good answers?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304032" y="1956816"/>
            <a:ext cx="2535936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560064" y="2194560"/>
            <a:ext cx="2060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2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Drift detection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3560064" y="2523744"/>
            <a:ext cx="206044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50"/>
              </a:lnSpc>
              <a:buNone/>
            </a:pPr>
            <a:r>
              <a:rPr lang="en-US" sz="120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 world move underneath us?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041136" y="1956816"/>
            <a:ext cx="2535936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297168" y="2194560"/>
            <a:ext cx="2060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2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Continuous feedback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297168" y="2523744"/>
            <a:ext cx="206044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50"/>
              </a:lnSpc>
              <a:buNone/>
            </a:pPr>
            <a:r>
              <a:rPr lang="en-US" sz="120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on. Not campaign-based.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626864"/>
            <a:ext cx="8010144" cy="12802"/>
          </a:xfrm>
          <a:prstGeom prst="rect">
            <a:avLst/>
          </a:prstGeom>
          <a:solidFill>
            <a:srgbClr val="DAD5C9"/>
          </a:solidFill>
          <a:ln/>
        </p:spPr>
      </p:sp>
      <p:sp>
        <p:nvSpPr>
          <p:cNvPr id="3" name="Shape 1"/>
          <p:cNvSpPr/>
          <p:nvPr/>
        </p:nvSpPr>
        <p:spPr>
          <a:xfrm>
            <a:off x="528066" y="4594403"/>
            <a:ext cx="77724" cy="77724"/>
          </a:xfrm>
          <a:prstGeom prst="ellipse">
            <a:avLst/>
          </a:prstGeom>
          <a:solidFill>
            <a:srgbClr val="C6C1B4"/>
          </a:solidFill>
          <a:ln/>
        </p:spPr>
      </p:sp>
      <p:sp>
        <p:nvSpPr>
          <p:cNvPr id="4" name="Text 2"/>
          <p:cNvSpPr/>
          <p:nvPr/>
        </p:nvSpPr>
        <p:spPr>
          <a:xfrm>
            <a:off x="-210312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2530602" y="4594403"/>
            <a:ext cx="77724" cy="77724"/>
          </a:xfrm>
          <a:prstGeom prst="ellipse">
            <a:avLst/>
          </a:prstGeom>
          <a:solidFill>
            <a:srgbClr val="C6C1B4"/>
          </a:solidFill>
          <a:ln/>
        </p:spPr>
      </p:sp>
      <p:sp>
        <p:nvSpPr>
          <p:cNvPr id="6" name="Text 4"/>
          <p:cNvSpPr/>
          <p:nvPr/>
        </p:nvSpPr>
        <p:spPr>
          <a:xfrm>
            <a:off x="1792224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0-90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33138" y="4594403"/>
            <a:ext cx="77724" cy="77724"/>
          </a:xfrm>
          <a:prstGeom prst="ellipse">
            <a:avLst/>
          </a:prstGeom>
          <a:solidFill>
            <a:srgbClr val="C6C1B4"/>
          </a:solidFill>
          <a:ln/>
        </p:spPr>
      </p:sp>
      <p:sp>
        <p:nvSpPr>
          <p:cNvPr id="8" name="Text 6"/>
          <p:cNvSpPr/>
          <p:nvPr/>
        </p:nvSpPr>
        <p:spPr>
          <a:xfrm>
            <a:off x="3794760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496812" y="4555541"/>
            <a:ext cx="155448" cy="155448"/>
          </a:xfrm>
          <a:prstGeom prst="ellipse">
            <a:avLst/>
          </a:prstGeom>
          <a:solidFill>
            <a:srgbClr val="FF5F3C"/>
          </a:solidFill>
          <a:ln/>
        </p:spPr>
      </p:sp>
      <p:sp>
        <p:nvSpPr>
          <p:cNvPr id="10" name="Text 8"/>
          <p:cNvSpPr/>
          <p:nvPr/>
        </p:nvSpPr>
        <p:spPr>
          <a:xfrm>
            <a:off x="5797296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60" dirty="0">
                <a:solidFill>
                  <a:srgbClr val="FF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538210" y="4594403"/>
            <a:ext cx="77724" cy="77724"/>
          </a:xfrm>
          <a:prstGeom prst="ellipse">
            <a:avLst/>
          </a:prstGeom>
          <a:solidFill>
            <a:srgbClr val="C6C1B4"/>
          </a:solidFill>
          <a:ln/>
        </p:spPr>
      </p:sp>
      <p:sp>
        <p:nvSpPr>
          <p:cNvPr id="12" name="Text 10"/>
          <p:cNvSpPr/>
          <p:nvPr/>
        </p:nvSpPr>
        <p:spPr>
          <a:xfrm>
            <a:off x="7799832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state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229600" y="21945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FB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6928" y="420624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FF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66928" y="749808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700"/>
              </a:lnSpc>
              <a:buNone/>
            </a:pPr>
            <a:r>
              <a:rPr lang="en-US" sz="3200" b="1" dirty="0">
                <a:solidFill>
                  <a:srgbClr val="12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Operational readiness</a:t>
            </a:r>
            <a:endParaRPr lang="en-US" sz="3200" dirty="0"/>
          </a:p>
        </p:txBody>
      </p:sp>
      <p:sp>
        <p:nvSpPr>
          <p:cNvPr id="16" name="Shape 14"/>
          <p:cNvSpPr/>
          <p:nvPr/>
        </p:nvSpPr>
        <p:spPr>
          <a:xfrm>
            <a:off x="566928" y="2112264"/>
            <a:ext cx="32004" cy="365760"/>
          </a:xfrm>
          <a:prstGeom prst="rect">
            <a:avLst/>
          </a:prstGeom>
          <a:solidFill>
            <a:srgbClr val="FF5F3C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" y="2029968"/>
            <a:ext cx="5120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2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Runbooks.  </a:t>
            </a:r>
            <a:r>
              <a:rPr lang="en-US" sz="135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before they’re needed.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66928" y="2660904"/>
            <a:ext cx="32004" cy="365760"/>
          </a:xfrm>
          <a:prstGeom prst="rect">
            <a:avLst/>
          </a:prstGeom>
          <a:solidFill>
            <a:srgbClr val="FF5F3C"/>
          </a:solidFill>
          <a:ln/>
        </p:spPr>
      </p:sp>
      <p:sp>
        <p:nvSpPr>
          <p:cNvPr id="19" name="Text 17"/>
          <p:cNvSpPr/>
          <p:nvPr/>
        </p:nvSpPr>
        <p:spPr>
          <a:xfrm>
            <a:off x="841248" y="2578608"/>
            <a:ext cx="5120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2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Alerts and monitors.  </a:t>
            </a:r>
            <a:r>
              <a:rPr lang="en-US" sz="135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quality and cost — not just CPU.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66928" y="3209544"/>
            <a:ext cx="32004" cy="365760"/>
          </a:xfrm>
          <a:prstGeom prst="rect">
            <a:avLst/>
          </a:prstGeom>
          <a:solidFill>
            <a:srgbClr val="FF5F3C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" y="3127248"/>
            <a:ext cx="5120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2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On-call support.  </a:t>
            </a:r>
            <a:r>
              <a:rPr lang="en-US" sz="135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named owner, not a shared inbox.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035040" y="1956816"/>
            <a:ext cx="2542032" cy="1956816"/>
          </a:xfrm>
          <a:prstGeom prst="rect">
            <a:avLst/>
          </a:prstGeom>
          <a:solidFill>
            <a:srgbClr val="121A2B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0" y="228600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alert nobody owns is just a log line with anxiety.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626864"/>
            <a:ext cx="8010144" cy="12802"/>
          </a:xfrm>
          <a:prstGeom prst="rect">
            <a:avLst/>
          </a:prstGeom>
          <a:solidFill>
            <a:srgbClr val="DAD5C9"/>
          </a:solidFill>
          <a:ln/>
        </p:spPr>
      </p:sp>
      <p:sp>
        <p:nvSpPr>
          <p:cNvPr id="3" name="Shape 1"/>
          <p:cNvSpPr/>
          <p:nvPr/>
        </p:nvSpPr>
        <p:spPr>
          <a:xfrm>
            <a:off x="528066" y="4594403"/>
            <a:ext cx="77724" cy="77724"/>
          </a:xfrm>
          <a:prstGeom prst="ellipse">
            <a:avLst/>
          </a:prstGeom>
          <a:solidFill>
            <a:srgbClr val="C6C1B4"/>
          </a:solidFill>
          <a:ln/>
        </p:spPr>
      </p:sp>
      <p:sp>
        <p:nvSpPr>
          <p:cNvPr id="4" name="Text 2"/>
          <p:cNvSpPr/>
          <p:nvPr/>
        </p:nvSpPr>
        <p:spPr>
          <a:xfrm>
            <a:off x="-210312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2530602" y="4594403"/>
            <a:ext cx="77724" cy="77724"/>
          </a:xfrm>
          <a:prstGeom prst="ellipse">
            <a:avLst/>
          </a:prstGeom>
          <a:solidFill>
            <a:srgbClr val="C6C1B4"/>
          </a:solidFill>
          <a:ln/>
        </p:spPr>
      </p:sp>
      <p:sp>
        <p:nvSpPr>
          <p:cNvPr id="6" name="Text 4"/>
          <p:cNvSpPr/>
          <p:nvPr/>
        </p:nvSpPr>
        <p:spPr>
          <a:xfrm>
            <a:off x="1792224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0-90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33138" y="4594403"/>
            <a:ext cx="77724" cy="77724"/>
          </a:xfrm>
          <a:prstGeom prst="ellipse">
            <a:avLst/>
          </a:prstGeom>
          <a:solidFill>
            <a:srgbClr val="C6C1B4"/>
          </a:solidFill>
          <a:ln/>
        </p:spPr>
      </p:sp>
      <p:sp>
        <p:nvSpPr>
          <p:cNvPr id="8" name="Text 6"/>
          <p:cNvSpPr/>
          <p:nvPr/>
        </p:nvSpPr>
        <p:spPr>
          <a:xfrm>
            <a:off x="3794760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535674" y="4594403"/>
            <a:ext cx="77724" cy="77724"/>
          </a:xfrm>
          <a:prstGeom prst="ellipse">
            <a:avLst/>
          </a:prstGeom>
          <a:solidFill>
            <a:srgbClr val="C6C1B4"/>
          </a:solidFill>
          <a:ln/>
        </p:spPr>
      </p:sp>
      <p:sp>
        <p:nvSpPr>
          <p:cNvPr id="10" name="Text 8"/>
          <p:cNvSpPr/>
          <p:nvPr/>
        </p:nvSpPr>
        <p:spPr>
          <a:xfrm>
            <a:off x="5797296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499348" y="4555541"/>
            <a:ext cx="155448" cy="155448"/>
          </a:xfrm>
          <a:prstGeom prst="ellipse">
            <a:avLst/>
          </a:prstGeom>
          <a:solidFill>
            <a:srgbClr val="FF5F3C"/>
          </a:solidFill>
          <a:ln/>
        </p:spPr>
      </p:sp>
      <p:sp>
        <p:nvSpPr>
          <p:cNvPr id="12" name="Text 10"/>
          <p:cNvSpPr/>
          <p:nvPr/>
        </p:nvSpPr>
        <p:spPr>
          <a:xfrm>
            <a:off x="7799832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60" dirty="0">
                <a:solidFill>
                  <a:srgbClr val="FF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state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229600" y="21945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FB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6928" y="420624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FF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ASSUMED — AND WHAT WE FOUND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66928" y="749808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700"/>
              </a:lnSpc>
              <a:buNone/>
            </a:pPr>
            <a:r>
              <a:rPr lang="en-US" sz="3200" b="1" dirty="0">
                <a:solidFill>
                  <a:srgbClr val="12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Coding was never the biggest bottleneck</a:t>
            </a:r>
            <a:endParaRPr lang="en-US" sz="3200" dirty="0"/>
          </a:p>
        </p:txBody>
      </p:sp>
      <p:sp>
        <p:nvSpPr>
          <p:cNvPr id="16" name="Shape 14"/>
          <p:cNvSpPr/>
          <p:nvPr/>
        </p:nvSpPr>
        <p:spPr>
          <a:xfrm>
            <a:off x="566928" y="1865376"/>
            <a:ext cx="3904488" cy="1591056"/>
          </a:xfrm>
          <a:prstGeom prst="rect">
            <a:avLst/>
          </a:prstGeom>
          <a:solidFill>
            <a:srgbClr val="E4DED2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202996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8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ASSUMED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22960" y="2286000"/>
            <a:ext cx="33649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makes us faster because it writes code.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22960" y="287121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thought generation speed was the win.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672584" y="1865376"/>
            <a:ext cx="3904488" cy="1591056"/>
          </a:xfrm>
          <a:prstGeom prst="rect">
            <a:avLst/>
          </a:prstGeom>
          <a:solidFill>
            <a:srgbClr val="FF5F3C"/>
          </a:solidFill>
          <a:ln/>
        </p:spPr>
      </p:sp>
      <p:sp>
        <p:nvSpPr>
          <p:cNvPr id="21" name="Text 19"/>
          <p:cNvSpPr/>
          <p:nvPr/>
        </p:nvSpPr>
        <p:spPr>
          <a:xfrm>
            <a:off x="4928616" y="202996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80" dirty="0">
                <a:solidFill>
                  <a:srgbClr val="FFD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FOUND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928616" y="2286000"/>
            <a:ext cx="33649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Requirement clarity is the constraint.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928616" y="287121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E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Unclear requirements — not coding capacity — became the largest delivery constraint.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66928" y="3621024"/>
            <a:ext cx="8010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weren’t frozen fast enough to keep up with build speed — and requirements were still being written for the old cost of building.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626864"/>
            <a:ext cx="8010144" cy="12802"/>
          </a:xfrm>
          <a:prstGeom prst="rect">
            <a:avLst/>
          </a:prstGeom>
          <a:solidFill>
            <a:srgbClr val="DAD5C9"/>
          </a:solidFill>
          <a:ln/>
        </p:spPr>
      </p:sp>
      <p:sp>
        <p:nvSpPr>
          <p:cNvPr id="3" name="Shape 1"/>
          <p:cNvSpPr/>
          <p:nvPr/>
        </p:nvSpPr>
        <p:spPr>
          <a:xfrm>
            <a:off x="528066" y="4594403"/>
            <a:ext cx="77724" cy="77724"/>
          </a:xfrm>
          <a:prstGeom prst="ellipse">
            <a:avLst/>
          </a:prstGeom>
          <a:solidFill>
            <a:srgbClr val="C6C1B4"/>
          </a:solidFill>
          <a:ln/>
        </p:spPr>
      </p:sp>
      <p:sp>
        <p:nvSpPr>
          <p:cNvPr id="4" name="Text 2"/>
          <p:cNvSpPr/>
          <p:nvPr/>
        </p:nvSpPr>
        <p:spPr>
          <a:xfrm>
            <a:off x="-210312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2530602" y="4594403"/>
            <a:ext cx="77724" cy="77724"/>
          </a:xfrm>
          <a:prstGeom prst="ellipse">
            <a:avLst/>
          </a:prstGeom>
          <a:solidFill>
            <a:srgbClr val="C6C1B4"/>
          </a:solidFill>
          <a:ln/>
        </p:spPr>
      </p:sp>
      <p:sp>
        <p:nvSpPr>
          <p:cNvPr id="6" name="Text 4"/>
          <p:cNvSpPr/>
          <p:nvPr/>
        </p:nvSpPr>
        <p:spPr>
          <a:xfrm>
            <a:off x="1792224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0-90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33138" y="4594403"/>
            <a:ext cx="77724" cy="77724"/>
          </a:xfrm>
          <a:prstGeom prst="ellipse">
            <a:avLst/>
          </a:prstGeom>
          <a:solidFill>
            <a:srgbClr val="C6C1B4"/>
          </a:solidFill>
          <a:ln/>
        </p:spPr>
      </p:sp>
      <p:sp>
        <p:nvSpPr>
          <p:cNvPr id="8" name="Text 6"/>
          <p:cNvSpPr/>
          <p:nvPr/>
        </p:nvSpPr>
        <p:spPr>
          <a:xfrm>
            <a:off x="3794760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535674" y="4594403"/>
            <a:ext cx="77724" cy="77724"/>
          </a:xfrm>
          <a:prstGeom prst="ellipse">
            <a:avLst/>
          </a:prstGeom>
          <a:solidFill>
            <a:srgbClr val="C6C1B4"/>
          </a:solidFill>
          <a:ln/>
        </p:spPr>
      </p:sp>
      <p:sp>
        <p:nvSpPr>
          <p:cNvPr id="10" name="Text 8"/>
          <p:cNvSpPr/>
          <p:nvPr/>
        </p:nvSpPr>
        <p:spPr>
          <a:xfrm>
            <a:off x="5797296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499348" y="4555541"/>
            <a:ext cx="155448" cy="155448"/>
          </a:xfrm>
          <a:prstGeom prst="ellipse">
            <a:avLst/>
          </a:prstGeom>
          <a:solidFill>
            <a:srgbClr val="FF5F3C"/>
          </a:solidFill>
          <a:ln/>
        </p:spPr>
      </p:sp>
      <p:sp>
        <p:nvSpPr>
          <p:cNvPr id="12" name="Text 10"/>
          <p:cNvSpPr/>
          <p:nvPr/>
        </p:nvSpPr>
        <p:spPr>
          <a:xfrm>
            <a:off x="7799832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60" dirty="0">
                <a:solidFill>
                  <a:srgbClr val="FF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state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229600" y="21945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FB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6928" y="420624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FF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CHANGED THE ECONOMICS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66928" y="749808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12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cost of waiting is now higher than the cost of building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566928" y="1993392"/>
            <a:ext cx="3904488" cy="1371600"/>
          </a:xfrm>
          <a:prstGeom prst="rect">
            <a:avLst/>
          </a:prstGeom>
          <a:solidFill>
            <a:srgbClr val="E4DED2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215798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8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WORLD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22960" y="2450592"/>
            <a:ext cx="3383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en-US" sz="1700" b="1" dirty="0">
                <a:solidFill>
                  <a:srgbClr val="12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was expensive.</a:t>
            </a:r>
            <a:endParaRPr lang="en-US" sz="1700" dirty="0"/>
          </a:p>
          <a:p>
            <a:pPr marL="0" indent="0">
              <a:lnSpc>
                <a:spcPts val="2300"/>
              </a:lnSpc>
              <a:buNone/>
            </a:pPr>
            <a:r>
              <a:rPr lang="en-US" sz="1700" b="1" dirty="0">
                <a:solidFill>
                  <a:srgbClr val="12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Waiting felt free.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4672584" y="1993392"/>
            <a:ext cx="3904488" cy="1371600"/>
          </a:xfrm>
          <a:prstGeom prst="rect">
            <a:avLst/>
          </a:prstGeom>
          <a:solidFill>
            <a:srgbClr val="FF5F3C"/>
          </a:solidFill>
          <a:ln/>
        </p:spPr>
      </p:sp>
      <p:sp>
        <p:nvSpPr>
          <p:cNvPr id="20" name="Text 18"/>
          <p:cNvSpPr/>
          <p:nvPr/>
        </p:nvSpPr>
        <p:spPr>
          <a:xfrm>
            <a:off x="4928616" y="215798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80" dirty="0">
                <a:solidFill>
                  <a:srgbClr val="FFD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WORLD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928616" y="2450592"/>
            <a:ext cx="3383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is cheap.</a:t>
            </a:r>
            <a:endParaRPr lang="en-US" sz="1700" dirty="0"/>
          </a:p>
          <a:p>
            <a:pPr marL="0" indent="0">
              <a:lnSpc>
                <a:spcPts val="23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Delay is the expensive part.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66928" y="3566160"/>
            <a:ext cx="8010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pulled into the requirements phase. Weekly decisions became daily.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2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626864"/>
            <a:ext cx="8010144" cy="12802"/>
          </a:xfrm>
          <a:prstGeom prst="rect">
            <a:avLst/>
          </a:prstGeom>
          <a:solidFill>
            <a:srgbClr val="33405A"/>
          </a:solidFill>
          <a:ln/>
        </p:spPr>
      </p:sp>
      <p:sp>
        <p:nvSpPr>
          <p:cNvPr id="3" name="Shape 1"/>
          <p:cNvSpPr/>
          <p:nvPr/>
        </p:nvSpPr>
        <p:spPr>
          <a:xfrm>
            <a:off x="528066" y="4594403"/>
            <a:ext cx="77724" cy="77724"/>
          </a:xfrm>
          <a:prstGeom prst="ellipse">
            <a:avLst/>
          </a:prstGeom>
          <a:solidFill>
            <a:srgbClr val="44506B"/>
          </a:solidFill>
          <a:ln/>
        </p:spPr>
      </p:sp>
      <p:sp>
        <p:nvSpPr>
          <p:cNvPr id="4" name="Text 2"/>
          <p:cNvSpPr/>
          <p:nvPr/>
        </p:nvSpPr>
        <p:spPr>
          <a:xfrm>
            <a:off x="-210312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5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2530602" y="4594403"/>
            <a:ext cx="77724" cy="77724"/>
          </a:xfrm>
          <a:prstGeom prst="ellipse">
            <a:avLst/>
          </a:prstGeom>
          <a:solidFill>
            <a:srgbClr val="44506B"/>
          </a:solidFill>
          <a:ln/>
        </p:spPr>
      </p:sp>
      <p:sp>
        <p:nvSpPr>
          <p:cNvPr id="6" name="Text 4"/>
          <p:cNvSpPr/>
          <p:nvPr/>
        </p:nvSpPr>
        <p:spPr>
          <a:xfrm>
            <a:off x="1792224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5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0-90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33138" y="4594403"/>
            <a:ext cx="77724" cy="77724"/>
          </a:xfrm>
          <a:prstGeom prst="ellipse">
            <a:avLst/>
          </a:prstGeom>
          <a:solidFill>
            <a:srgbClr val="44506B"/>
          </a:solidFill>
          <a:ln/>
        </p:spPr>
      </p:sp>
      <p:sp>
        <p:nvSpPr>
          <p:cNvPr id="8" name="Text 6"/>
          <p:cNvSpPr/>
          <p:nvPr/>
        </p:nvSpPr>
        <p:spPr>
          <a:xfrm>
            <a:off x="3794760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5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535674" y="4594403"/>
            <a:ext cx="77724" cy="77724"/>
          </a:xfrm>
          <a:prstGeom prst="ellipse">
            <a:avLst/>
          </a:prstGeom>
          <a:solidFill>
            <a:srgbClr val="44506B"/>
          </a:solidFill>
          <a:ln/>
        </p:spPr>
      </p:sp>
      <p:sp>
        <p:nvSpPr>
          <p:cNvPr id="10" name="Text 8"/>
          <p:cNvSpPr/>
          <p:nvPr/>
        </p:nvSpPr>
        <p:spPr>
          <a:xfrm>
            <a:off x="5797296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5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499348" y="4555541"/>
            <a:ext cx="155448" cy="155448"/>
          </a:xfrm>
          <a:prstGeom prst="ellipse">
            <a:avLst/>
          </a:prstGeom>
          <a:solidFill>
            <a:srgbClr val="FF5F3C"/>
          </a:solidFill>
          <a:ln/>
        </p:spPr>
      </p:sp>
      <p:sp>
        <p:nvSpPr>
          <p:cNvPr id="12" name="Text 10"/>
          <p:cNvSpPr/>
          <p:nvPr/>
        </p:nvSpPr>
        <p:spPr>
          <a:xfrm>
            <a:off x="7799832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60" dirty="0">
                <a:solidFill>
                  <a:srgbClr val="FF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state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229600" y="21945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6928" y="420624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FF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 THAT ISN’T TECHNICAL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66928" y="749808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7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operating model is part of the architecture</a:t>
            </a:r>
            <a:endParaRPr lang="en-US" sz="2900" dirty="0"/>
          </a:p>
        </p:txBody>
      </p:sp>
      <p:sp>
        <p:nvSpPr>
          <p:cNvPr id="16" name="Text 14"/>
          <p:cNvSpPr/>
          <p:nvPr/>
        </p:nvSpPr>
        <p:spPr>
          <a:xfrm>
            <a:off x="566928" y="177393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cadence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55264" y="1755648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21024" y="177393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66928" y="223113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55264" y="2212848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621024" y="223113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Co-ownership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66928" y="268833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thrown over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55264" y="2670048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621024" y="268833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in the room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66928" y="3255264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i="1" dirty="0">
                <a:solidFill>
                  <a:srgbClr val="FF5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cannot ship a fast product through a slow organisation.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779008" y="1700784"/>
            <a:ext cx="2798064" cy="2286000"/>
          </a:xfrm>
          <a:prstGeom prst="rect">
            <a:avLst/>
          </a:prstGeom>
          <a:solidFill>
            <a:srgbClr val="1C2740"/>
          </a:solidFill>
          <a:ln/>
        </p:spPr>
      </p:sp>
      <p:sp>
        <p:nvSpPr>
          <p:cNvPr id="27" name="Text 25"/>
          <p:cNvSpPr/>
          <p:nvPr/>
        </p:nvSpPr>
        <p:spPr>
          <a:xfrm>
            <a:off x="6016752" y="184708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HAT </a:t>
            </a:r>
            <a:r>
              <a:rPr lang="en-US" sz="2400" b="1" dirty="0">
                <a:solidFill>
                  <a:srgbClr val="FF5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</a:t>
            </a: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</a:t>
            </a:r>
            <a:r>
              <a:rPr lang="en-US" sz="2400" b="1" baseline="30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6016752" y="2377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Accountable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016752" y="26700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AI-First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016752" y="29626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Action-Oriented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016752" y="3310128"/>
            <a:ext cx="2340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“Code gets written faster” → “Change gets shipped faster.”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626864"/>
            <a:ext cx="8010144" cy="12802"/>
          </a:xfrm>
          <a:prstGeom prst="rect">
            <a:avLst/>
          </a:prstGeom>
          <a:solidFill>
            <a:srgbClr val="DAD5C9"/>
          </a:solidFill>
          <a:ln/>
        </p:spPr>
      </p:sp>
      <p:sp>
        <p:nvSpPr>
          <p:cNvPr id="3" name="Shape 1"/>
          <p:cNvSpPr/>
          <p:nvPr/>
        </p:nvSpPr>
        <p:spPr>
          <a:xfrm>
            <a:off x="528066" y="4594403"/>
            <a:ext cx="77724" cy="77724"/>
          </a:xfrm>
          <a:prstGeom prst="ellipse">
            <a:avLst/>
          </a:prstGeom>
          <a:solidFill>
            <a:srgbClr val="C6C1B4"/>
          </a:solidFill>
          <a:ln/>
        </p:spPr>
      </p:sp>
      <p:sp>
        <p:nvSpPr>
          <p:cNvPr id="4" name="Text 2"/>
          <p:cNvSpPr/>
          <p:nvPr/>
        </p:nvSpPr>
        <p:spPr>
          <a:xfrm>
            <a:off x="-210312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2530602" y="4594403"/>
            <a:ext cx="77724" cy="77724"/>
          </a:xfrm>
          <a:prstGeom prst="ellipse">
            <a:avLst/>
          </a:prstGeom>
          <a:solidFill>
            <a:srgbClr val="C6C1B4"/>
          </a:solidFill>
          <a:ln/>
        </p:spPr>
      </p:sp>
      <p:sp>
        <p:nvSpPr>
          <p:cNvPr id="6" name="Text 4"/>
          <p:cNvSpPr/>
          <p:nvPr/>
        </p:nvSpPr>
        <p:spPr>
          <a:xfrm>
            <a:off x="1792224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0-90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33138" y="4594403"/>
            <a:ext cx="77724" cy="77724"/>
          </a:xfrm>
          <a:prstGeom prst="ellipse">
            <a:avLst/>
          </a:prstGeom>
          <a:solidFill>
            <a:srgbClr val="C6C1B4"/>
          </a:solidFill>
          <a:ln/>
        </p:spPr>
      </p:sp>
      <p:sp>
        <p:nvSpPr>
          <p:cNvPr id="8" name="Text 6"/>
          <p:cNvSpPr/>
          <p:nvPr/>
        </p:nvSpPr>
        <p:spPr>
          <a:xfrm>
            <a:off x="3794760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535674" y="4594403"/>
            <a:ext cx="77724" cy="77724"/>
          </a:xfrm>
          <a:prstGeom prst="ellipse">
            <a:avLst/>
          </a:prstGeom>
          <a:solidFill>
            <a:srgbClr val="C6C1B4"/>
          </a:solidFill>
          <a:ln/>
        </p:spPr>
      </p:sp>
      <p:sp>
        <p:nvSpPr>
          <p:cNvPr id="10" name="Text 8"/>
          <p:cNvSpPr/>
          <p:nvPr/>
        </p:nvSpPr>
        <p:spPr>
          <a:xfrm>
            <a:off x="5797296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499348" y="4555541"/>
            <a:ext cx="155448" cy="155448"/>
          </a:xfrm>
          <a:prstGeom prst="ellipse">
            <a:avLst/>
          </a:prstGeom>
          <a:solidFill>
            <a:srgbClr val="FF5F3C"/>
          </a:solidFill>
          <a:ln/>
        </p:spPr>
      </p:sp>
      <p:sp>
        <p:nvSpPr>
          <p:cNvPr id="12" name="Text 10"/>
          <p:cNvSpPr/>
          <p:nvPr/>
        </p:nvSpPr>
        <p:spPr>
          <a:xfrm>
            <a:off x="7799832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60" dirty="0">
                <a:solidFill>
                  <a:srgbClr val="FF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state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229600" y="21945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FB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6928" y="420624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FF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FIVE — THE MACHINE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66928" y="749808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700"/>
              </a:lnSpc>
              <a:buNone/>
            </a:pPr>
            <a:r>
              <a:rPr lang="en-US" sz="2900" b="1" dirty="0">
                <a:solidFill>
                  <a:srgbClr val="12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Improvement becomes a schedule, not a heroic act</a:t>
            </a:r>
            <a:endParaRPr lang="en-US" sz="2900" dirty="0"/>
          </a:p>
        </p:txBody>
      </p:sp>
      <p:sp>
        <p:nvSpPr>
          <p:cNvPr id="16" name="Shape 14"/>
          <p:cNvSpPr/>
          <p:nvPr/>
        </p:nvSpPr>
        <p:spPr>
          <a:xfrm>
            <a:off x="566928" y="2011680"/>
            <a:ext cx="1796796" cy="768096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8368" y="2139696"/>
            <a:ext cx="16139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in Figma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363724" y="2231136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2638044" y="2011680"/>
            <a:ext cx="1796796" cy="768096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729484" y="2139696"/>
            <a:ext cx="16139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in a day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434840" y="2231136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709160" y="2011680"/>
            <a:ext cx="1796796" cy="768096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00600" y="2139696"/>
            <a:ext cx="16139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user feedback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505956" y="2231136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780276" y="2011680"/>
            <a:ext cx="1796796" cy="768096"/>
          </a:xfrm>
          <a:prstGeom prst="rect">
            <a:avLst/>
          </a:prstGeom>
          <a:solidFill>
            <a:srgbClr val="FF5F3C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871716" y="2139696"/>
            <a:ext cx="16139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release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66928" y="3054096"/>
            <a:ext cx="8010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700" dirty="0">
                <a:solidFill>
                  <a:srgbClr val="12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Prototypes are cheap now. Which means opinions should be cheap too — replace the debate with a working thing.</a:t>
            </a:r>
            <a:endParaRPr lang="en-US" sz="17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626864"/>
            <a:ext cx="8010144" cy="12802"/>
          </a:xfrm>
          <a:prstGeom prst="rect">
            <a:avLst/>
          </a:prstGeom>
          <a:solidFill>
            <a:srgbClr val="DAD5C9"/>
          </a:solidFill>
          <a:ln/>
        </p:spPr>
      </p:sp>
      <p:sp>
        <p:nvSpPr>
          <p:cNvPr id="3" name="Shape 1"/>
          <p:cNvSpPr/>
          <p:nvPr/>
        </p:nvSpPr>
        <p:spPr>
          <a:xfrm>
            <a:off x="528066" y="4594403"/>
            <a:ext cx="77724" cy="77724"/>
          </a:xfrm>
          <a:prstGeom prst="ellipse">
            <a:avLst/>
          </a:prstGeom>
          <a:solidFill>
            <a:srgbClr val="C6C1B4"/>
          </a:solidFill>
          <a:ln/>
        </p:spPr>
      </p:sp>
      <p:sp>
        <p:nvSpPr>
          <p:cNvPr id="4" name="Text 2"/>
          <p:cNvSpPr/>
          <p:nvPr/>
        </p:nvSpPr>
        <p:spPr>
          <a:xfrm>
            <a:off x="-210312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2530602" y="4594403"/>
            <a:ext cx="77724" cy="77724"/>
          </a:xfrm>
          <a:prstGeom prst="ellipse">
            <a:avLst/>
          </a:prstGeom>
          <a:solidFill>
            <a:srgbClr val="C6C1B4"/>
          </a:solidFill>
          <a:ln/>
        </p:spPr>
      </p:sp>
      <p:sp>
        <p:nvSpPr>
          <p:cNvPr id="6" name="Text 4"/>
          <p:cNvSpPr/>
          <p:nvPr/>
        </p:nvSpPr>
        <p:spPr>
          <a:xfrm>
            <a:off x="1792224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0-90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33138" y="4594403"/>
            <a:ext cx="77724" cy="77724"/>
          </a:xfrm>
          <a:prstGeom prst="ellipse">
            <a:avLst/>
          </a:prstGeom>
          <a:solidFill>
            <a:srgbClr val="C6C1B4"/>
          </a:solidFill>
          <a:ln/>
        </p:spPr>
      </p:sp>
      <p:sp>
        <p:nvSpPr>
          <p:cNvPr id="8" name="Text 6"/>
          <p:cNvSpPr/>
          <p:nvPr/>
        </p:nvSpPr>
        <p:spPr>
          <a:xfrm>
            <a:off x="3794760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535674" y="4594403"/>
            <a:ext cx="77724" cy="77724"/>
          </a:xfrm>
          <a:prstGeom prst="ellipse">
            <a:avLst/>
          </a:prstGeom>
          <a:solidFill>
            <a:srgbClr val="C6C1B4"/>
          </a:solidFill>
          <a:ln/>
        </p:spPr>
      </p:sp>
      <p:sp>
        <p:nvSpPr>
          <p:cNvPr id="10" name="Text 8"/>
          <p:cNvSpPr/>
          <p:nvPr/>
        </p:nvSpPr>
        <p:spPr>
          <a:xfrm>
            <a:off x="5797296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499348" y="4555541"/>
            <a:ext cx="155448" cy="155448"/>
          </a:xfrm>
          <a:prstGeom prst="ellipse">
            <a:avLst/>
          </a:prstGeom>
          <a:solidFill>
            <a:srgbClr val="FF5F3C"/>
          </a:solidFill>
          <a:ln/>
        </p:spPr>
      </p:sp>
      <p:sp>
        <p:nvSpPr>
          <p:cNvPr id="12" name="Text 10"/>
          <p:cNvSpPr/>
          <p:nvPr/>
        </p:nvSpPr>
        <p:spPr>
          <a:xfrm>
            <a:off x="7799832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60" dirty="0">
                <a:solidFill>
                  <a:srgbClr val="FF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state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229600" y="21945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FB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6928" y="420624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FF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FAST WITHOUT BREAKING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66928" y="749808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700"/>
              </a:lnSpc>
              <a:buNone/>
            </a:pPr>
            <a:r>
              <a:rPr lang="en-US" sz="3200" b="1" dirty="0">
                <a:solidFill>
                  <a:srgbClr val="12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Boring things are the real game changers</a:t>
            </a:r>
            <a:endParaRPr lang="en-US" sz="3200" dirty="0"/>
          </a:p>
        </p:txBody>
      </p:sp>
      <p:sp>
        <p:nvSpPr>
          <p:cNvPr id="16" name="Shape 14"/>
          <p:cNvSpPr/>
          <p:nvPr/>
        </p:nvSpPr>
        <p:spPr>
          <a:xfrm>
            <a:off x="566928" y="1810512"/>
            <a:ext cx="3904488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66928" y="1810512"/>
            <a:ext cx="64008" cy="914400"/>
          </a:xfrm>
          <a:prstGeom prst="rect">
            <a:avLst/>
          </a:prstGeom>
          <a:solidFill>
            <a:srgbClr val="FF5F3C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" y="195681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Automation testing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1248" y="226771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way monthly is survivable.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672584" y="1810512"/>
            <a:ext cx="3904488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72584" y="1810512"/>
            <a:ext cx="64008" cy="914400"/>
          </a:xfrm>
          <a:prstGeom prst="rect">
            <a:avLst/>
          </a:prstGeom>
          <a:solidFill>
            <a:srgbClr val="FF5F3C"/>
          </a:solidFill>
          <a:ln/>
        </p:spPr>
      </p:sp>
      <p:sp>
        <p:nvSpPr>
          <p:cNvPr id="22" name="Text 20"/>
          <p:cNvSpPr/>
          <p:nvPr/>
        </p:nvSpPr>
        <p:spPr>
          <a:xfrm>
            <a:off x="4946904" y="195681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Deployment readiness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946904" y="226771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release. Not just the big ones.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2889504"/>
            <a:ext cx="3904488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66928" y="2889504"/>
            <a:ext cx="64008" cy="914400"/>
          </a:xfrm>
          <a:prstGeom prst="rect">
            <a:avLst/>
          </a:prstGeom>
          <a:solidFill>
            <a:srgbClr val="FF5F3C"/>
          </a:solidFill>
          <a:ln/>
        </p:spPr>
      </p:sp>
      <p:sp>
        <p:nvSpPr>
          <p:cNvPr id="26" name="Text 24"/>
          <p:cNvSpPr/>
          <p:nvPr/>
        </p:nvSpPr>
        <p:spPr>
          <a:xfrm>
            <a:off x="841248" y="30358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Faster debugging and fixing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41248" y="3346704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Datadog agent, Claude ops.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672584" y="2889504"/>
            <a:ext cx="3904488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72584" y="2889504"/>
            <a:ext cx="64008" cy="914400"/>
          </a:xfrm>
          <a:prstGeom prst="rect">
            <a:avLst/>
          </a:prstGeom>
          <a:solidFill>
            <a:srgbClr val="FF5F3C"/>
          </a:solidFill>
          <a:ln/>
        </p:spPr>
      </p:sp>
      <p:sp>
        <p:nvSpPr>
          <p:cNvPr id="30" name="Text 28"/>
          <p:cNvSpPr/>
          <p:nvPr/>
        </p:nvSpPr>
        <p:spPr>
          <a:xfrm>
            <a:off x="4946904" y="30358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Prepare for the bad day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946904" y="3346704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the system breaks?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66928" y="3968496"/>
            <a:ext cx="8010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applauds this work. It is the reason the applause is possible.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687CDD-3B20-289B-237C-18C4CE63A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01AE161-C59B-CCA9-5564-FA0AEF2D4D68}"/>
              </a:ext>
            </a:extLst>
          </p:cNvPr>
          <p:cNvSpPr/>
          <p:nvPr/>
        </p:nvSpPr>
        <p:spPr>
          <a:xfrm>
            <a:off x="566928" y="4626864"/>
            <a:ext cx="8010144" cy="12802"/>
          </a:xfrm>
          <a:prstGeom prst="rect">
            <a:avLst/>
          </a:prstGeom>
          <a:solidFill>
            <a:srgbClr val="DAD5C9"/>
          </a:solidFill>
          <a:ln/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E5D0858-9396-7272-AF08-5BE0C097A22A}"/>
              </a:ext>
            </a:extLst>
          </p:cNvPr>
          <p:cNvSpPr/>
          <p:nvPr/>
        </p:nvSpPr>
        <p:spPr>
          <a:xfrm>
            <a:off x="528066" y="4594403"/>
            <a:ext cx="77724" cy="77724"/>
          </a:xfrm>
          <a:prstGeom prst="ellipse">
            <a:avLst/>
          </a:prstGeom>
          <a:solidFill>
            <a:srgbClr val="C6C1B4"/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43B8100-A0A9-E8A0-279D-5494D6257291}"/>
              </a:ext>
            </a:extLst>
          </p:cNvPr>
          <p:cNvSpPr/>
          <p:nvPr/>
        </p:nvSpPr>
        <p:spPr>
          <a:xfrm>
            <a:off x="-210312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</a:t>
            </a:r>
            <a:endParaRPr lang="en-US" sz="85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12A158A-7D7E-FF03-59E3-C6C9A876F449}"/>
              </a:ext>
            </a:extLst>
          </p:cNvPr>
          <p:cNvSpPr/>
          <p:nvPr/>
        </p:nvSpPr>
        <p:spPr>
          <a:xfrm>
            <a:off x="2530602" y="4594403"/>
            <a:ext cx="77724" cy="77724"/>
          </a:xfrm>
          <a:prstGeom prst="ellipse">
            <a:avLst/>
          </a:prstGeom>
          <a:solidFill>
            <a:srgbClr val="C6C1B4"/>
          </a:solidFill>
          <a:ln/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A05E1F3-0050-94BF-6F86-FEB658316B96}"/>
              </a:ext>
            </a:extLst>
          </p:cNvPr>
          <p:cNvSpPr/>
          <p:nvPr/>
        </p:nvSpPr>
        <p:spPr>
          <a:xfrm>
            <a:off x="1792224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0-90</a:t>
            </a:r>
            <a:endParaRPr lang="en-US" sz="85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E865E37-0ECF-EDB1-1A6C-FB5423DB9FE3}"/>
              </a:ext>
            </a:extLst>
          </p:cNvPr>
          <p:cNvSpPr/>
          <p:nvPr/>
        </p:nvSpPr>
        <p:spPr>
          <a:xfrm>
            <a:off x="4533138" y="4594403"/>
            <a:ext cx="77724" cy="77724"/>
          </a:xfrm>
          <a:prstGeom prst="ellipse">
            <a:avLst/>
          </a:prstGeom>
          <a:solidFill>
            <a:srgbClr val="C6C1B4"/>
          </a:solidFill>
          <a:ln/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68833A1-4CBD-B444-03B3-503DC34969D1}"/>
              </a:ext>
            </a:extLst>
          </p:cNvPr>
          <p:cNvSpPr/>
          <p:nvPr/>
        </p:nvSpPr>
        <p:spPr>
          <a:xfrm>
            <a:off x="3794760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85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6DE302A3-59AA-35BE-5CB7-1ADB8BD0FD2C}"/>
              </a:ext>
            </a:extLst>
          </p:cNvPr>
          <p:cNvSpPr/>
          <p:nvPr/>
        </p:nvSpPr>
        <p:spPr>
          <a:xfrm>
            <a:off x="6496812" y="4555541"/>
            <a:ext cx="155448" cy="155448"/>
          </a:xfrm>
          <a:prstGeom prst="ellipse">
            <a:avLst/>
          </a:prstGeom>
          <a:solidFill>
            <a:srgbClr val="FF5F3C"/>
          </a:solidFill>
          <a:ln/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16EAEC1-48C4-5741-EF8D-E7D4B373C483}"/>
              </a:ext>
            </a:extLst>
          </p:cNvPr>
          <p:cNvSpPr/>
          <p:nvPr/>
        </p:nvSpPr>
        <p:spPr>
          <a:xfrm>
            <a:off x="5797296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60" dirty="0">
                <a:solidFill>
                  <a:srgbClr val="FF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5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DDD1E894-BB02-2C04-6A78-623FA9BCDE64}"/>
              </a:ext>
            </a:extLst>
          </p:cNvPr>
          <p:cNvSpPr/>
          <p:nvPr/>
        </p:nvSpPr>
        <p:spPr>
          <a:xfrm>
            <a:off x="8538210" y="4594403"/>
            <a:ext cx="77724" cy="77724"/>
          </a:xfrm>
          <a:prstGeom prst="ellipse">
            <a:avLst/>
          </a:prstGeom>
          <a:solidFill>
            <a:srgbClr val="C6C1B4"/>
          </a:solidFill>
          <a:ln/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E3E0369-52B9-4A3C-1656-DB1B99398B6F}"/>
              </a:ext>
            </a:extLst>
          </p:cNvPr>
          <p:cNvSpPr/>
          <p:nvPr/>
        </p:nvSpPr>
        <p:spPr>
          <a:xfrm>
            <a:off x="7799832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state</a:t>
            </a:r>
            <a:endParaRPr lang="en-US" sz="85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3A939BAF-5BF3-61C7-424E-D190BFB9E729}"/>
              </a:ext>
            </a:extLst>
          </p:cNvPr>
          <p:cNvSpPr/>
          <p:nvPr/>
        </p:nvSpPr>
        <p:spPr>
          <a:xfrm>
            <a:off x="8229600" y="21945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FB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3D6D5A1F-7F3A-766B-F0C7-BEFE6B6120D6}"/>
              </a:ext>
            </a:extLst>
          </p:cNvPr>
          <p:cNvSpPr/>
          <p:nvPr/>
        </p:nvSpPr>
        <p:spPr>
          <a:xfrm>
            <a:off x="566928" y="420624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kern="0" spc="220" dirty="0">
                <a:solidFill>
                  <a:srgbClr val="FF5F3C"/>
                </a:solidFill>
                <a:ea typeface="+mn-lt"/>
                <a:cs typeface="+mn-lt"/>
              </a:rPr>
              <a:t>NEVER STOP LEARNING</a:t>
            </a:r>
            <a:endParaRPr lang="en-US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CF8AF6F-13D1-6BF0-C71C-240C36B544DF}"/>
              </a:ext>
            </a:extLst>
          </p:cNvPr>
          <p:cNvSpPr/>
          <p:nvPr/>
        </p:nvSpPr>
        <p:spPr>
          <a:xfrm>
            <a:off x="566928" y="1316736"/>
            <a:ext cx="8010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3200"/>
              </a:lnSpc>
            </a:pPr>
            <a:r>
              <a:rPr lang="en-US" sz="2100" dirty="0" err="1">
                <a:solidFill>
                  <a:srgbClr val="121A2B"/>
                </a:solidFill>
                <a:ea typeface="+mn-lt"/>
                <a:cs typeface="+mn-lt"/>
              </a:rPr>
              <a:t>ஓதுவது</a:t>
            </a:r>
            <a:r>
              <a:rPr lang="en-US" sz="2100" dirty="0">
                <a:solidFill>
                  <a:srgbClr val="121A2B"/>
                </a:solidFill>
                <a:ea typeface="+mn-lt"/>
                <a:cs typeface="+mn-lt"/>
              </a:rPr>
              <a:t> </a:t>
            </a:r>
            <a:r>
              <a:rPr lang="en-US" sz="2100" dirty="0" err="1">
                <a:solidFill>
                  <a:srgbClr val="121A2B"/>
                </a:solidFill>
                <a:ea typeface="+mn-lt"/>
                <a:cs typeface="+mn-lt"/>
              </a:rPr>
              <a:t>ஒழியேல்</a:t>
            </a:r>
            <a:endParaRPr lang="en-US" dirty="0" err="1">
              <a:ea typeface="+mn-lt"/>
              <a:cs typeface="+mn-lt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1926AE7C-7ED6-6636-8C2F-A9EDB99556E0}"/>
              </a:ext>
            </a:extLst>
          </p:cNvPr>
          <p:cNvSpPr/>
          <p:nvPr/>
        </p:nvSpPr>
        <p:spPr>
          <a:xfrm>
            <a:off x="566928" y="2286000"/>
            <a:ext cx="8010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dirty="0">
                <a:solidFill>
                  <a:srgbClr val="8A93A3"/>
                </a:solidFill>
                <a:latin typeface="Nirmala UI"/>
                <a:ea typeface="Nirmala UI"/>
                <a:cs typeface="Nirmala UI"/>
              </a:rPr>
              <a:t>— </a:t>
            </a:r>
            <a:r>
              <a:rPr lang="en-US" sz="1100" dirty="0" err="1">
                <a:solidFill>
                  <a:srgbClr val="8A93A3"/>
                </a:solidFill>
                <a:ea typeface="+mn-lt"/>
                <a:cs typeface="+mn-lt"/>
              </a:rPr>
              <a:t>ஆத்திசூடி</a:t>
            </a:r>
            <a:endParaRPr lang="en-US" sz="1100" dirty="0" err="1">
              <a:solidFill>
                <a:srgbClr val="8A93A3"/>
              </a:solidFill>
              <a:latin typeface="Nirmala UI"/>
              <a:ea typeface="Nirmala UI"/>
              <a:cs typeface="Nirmala UI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6A1DFB7A-24BF-E3F4-AFEA-432899E10471}"/>
              </a:ext>
            </a:extLst>
          </p:cNvPr>
          <p:cNvSpPr/>
          <p:nvPr/>
        </p:nvSpPr>
        <p:spPr>
          <a:xfrm>
            <a:off x="203247" y="2798064"/>
            <a:ext cx="87634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00" dirty="0">
                <a:solidFill>
                  <a:srgbClr val="FF5F3C"/>
                </a:solidFill>
                <a:ea typeface="+mn-lt"/>
                <a:cs typeface="+mn-lt"/>
              </a:rPr>
              <a:t>The goal isn't perfection. It's the system, the team that never stops learning.</a:t>
            </a:r>
            <a:endParaRPr lang="en-US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C18F13E9-738A-43F0-91E4-2CE9625F8E4C}"/>
              </a:ext>
            </a:extLst>
          </p:cNvPr>
          <p:cNvSpPr/>
          <p:nvPr/>
        </p:nvSpPr>
        <p:spPr>
          <a:xfrm>
            <a:off x="566928" y="3346704"/>
            <a:ext cx="8010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350" dirty="0">
              <a:solidFill>
                <a:srgbClr val="5C6779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849991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626864"/>
            <a:ext cx="8010144" cy="12802"/>
          </a:xfrm>
          <a:prstGeom prst="rect">
            <a:avLst/>
          </a:prstGeom>
          <a:solidFill>
            <a:srgbClr val="DAD5C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528066" y="4594403"/>
            <a:ext cx="77724" cy="77724"/>
          </a:xfrm>
          <a:prstGeom prst="ellipse">
            <a:avLst/>
          </a:prstGeom>
          <a:solidFill>
            <a:srgbClr val="C6C1B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-210312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2530602" y="4594403"/>
            <a:ext cx="77724" cy="77724"/>
          </a:xfrm>
          <a:prstGeom prst="ellipse">
            <a:avLst/>
          </a:prstGeom>
          <a:solidFill>
            <a:srgbClr val="C6C1B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1792224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0-90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33138" y="4594403"/>
            <a:ext cx="77724" cy="77724"/>
          </a:xfrm>
          <a:prstGeom prst="ellipse">
            <a:avLst/>
          </a:prstGeom>
          <a:solidFill>
            <a:srgbClr val="C6C1B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3794760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535674" y="4594403"/>
            <a:ext cx="77724" cy="77724"/>
          </a:xfrm>
          <a:prstGeom prst="ellipse">
            <a:avLst/>
          </a:prstGeom>
          <a:solidFill>
            <a:srgbClr val="C6C1B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5797296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499348" y="4555541"/>
            <a:ext cx="155448" cy="155448"/>
          </a:xfrm>
          <a:prstGeom prst="ellipse">
            <a:avLst/>
          </a:prstGeom>
          <a:solidFill>
            <a:srgbClr val="FF5F3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7799832" y="4791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60" dirty="0">
                <a:solidFill>
                  <a:srgbClr val="FF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state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229600" y="21945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FB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6928" y="420624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kern="0" spc="220" dirty="0">
                <a:solidFill>
                  <a:srgbClr val="FF5F3C"/>
                </a:solidFill>
                <a:ea typeface="+mn-lt"/>
                <a:cs typeface="+mn-lt"/>
              </a:rPr>
              <a:t>THE WHOLE TALK, ON ONE SLIDE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66928" y="7132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700"/>
              </a:lnSpc>
            </a:pPr>
            <a:r>
              <a:rPr lang="en-US" sz="2700" b="1" dirty="0">
                <a:solidFill>
                  <a:srgbClr val="121A2B"/>
                </a:solidFill>
                <a:latin typeface="Georgia"/>
                <a:ea typeface="+mn-lt"/>
                <a:cs typeface="+mn-lt"/>
              </a:rPr>
              <a:t>Everything above, compressed</a:t>
            </a:r>
            <a:endParaRPr lang="en-US" b="1">
              <a:latin typeface="Georgia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66928" y="1353312"/>
            <a:ext cx="8010144" cy="2871216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841248" y="1572768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5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70432" y="1572768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2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the customer problem, not the AI stack.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41248" y="2002536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5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70432" y="2002536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2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Time-box research. Agree the scoreboard first.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41248" y="2432304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5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70432" y="2432304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2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at scale — the winner changes.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41248" y="2862072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5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70432" y="2862072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2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Trustworthy data beats model choice. Every time.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41248" y="329184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5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70432" y="3291840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2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experts are the source, not the reviewers.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41248" y="3721608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5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70432" y="3721608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2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means the old NFRs plus the AI ones.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73168" y="1572768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5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102352" y="1572768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2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needs reasoning, not just a confidence score.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73168" y="2002536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5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102352" y="2002536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2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before you’re comfortable.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73168" y="2432304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5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102352" y="2432304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2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correction is worth more than the prediction.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773168" y="2862072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5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102352" y="2862072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2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Experts tune the knowledge; engineering builds the system.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773168" y="329184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5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102352" y="3291840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2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 is the bottleneck once AI writes the code.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773168" y="3721608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5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102352" y="3721608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2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Boring operations are what let you move fast.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2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FF5F3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4345089" cy="1378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4700"/>
              </a:lnSpc>
            </a:pPr>
            <a:r>
              <a:rPr lang="en-US" sz="3500" dirty="0">
                <a:solidFill>
                  <a:srgbClr val="8E99AE"/>
                </a:solidFill>
                <a:latin typeface="Georgia"/>
                <a:ea typeface="Georgia" pitchFamily="34" charset="-122"/>
                <a:cs typeface="Georgia" pitchFamily="34" charset="-120"/>
              </a:rPr>
              <a:t>You do not build your way to a great AI product.</a:t>
            </a:r>
            <a:endParaRPr lang="en-US" sz="3500" dirty="0">
              <a:latin typeface="Georgia"/>
            </a:endParaRPr>
          </a:p>
        </p:txBody>
      </p:sp>
      <p:sp>
        <p:nvSpPr>
          <p:cNvPr id="4" name="Text 2"/>
          <p:cNvSpPr/>
          <p:nvPr/>
        </p:nvSpPr>
        <p:spPr>
          <a:xfrm>
            <a:off x="914400" y="3323246"/>
            <a:ext cx="4211955" cy="734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100" b="1" dirty="0">
                <a:solidFill>
                  <a:srgbClr val="FF5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ship your way there.</a:t>
            </a:r>
            <a:endParaRPr lang="en-US" sz="4100" dirty="0"/>
          </a:p>
        </p:txBody>
      </p:sp>
      <p:sp>
        <p:nvSpPr>
          <p:cNvPr id="5" name="Text 3"/>
          <p:cNvSpPr/>
          <p:nvPr/>
        </p:nvSpPr>
        <p:spPr>
          <a:xfrm>
            <a:off x="836468" y="447848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14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1400" dirty="0"/>
          </a:p>
        </p:txBody>
      </p:sp>
      <p:pic>
        <p:nvPicPr>
          <p:cNvPr id="7" name="Picture 6" descr="A qr code on a screen&#10;&#10;AI-generated content may be incorrect.">
            <a:extLst>
              <a:ext uri="{FF2B5EF4-FFF2-40B4-BE49-F238E27FC236}">
                <a16:creationId xmlns:a16="http://schemas.microsoft.com/office/drawing/2014/main" id="{017A084C-1B19-1209-76CF-4F42CFCACA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0984" y="1526165"/>
            <a:ext cx="2761396" cy="304583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Demo to Dependable</dc:title>
  <dc:subject>PptxGenJS Presentation</dc:subject>
  <dc:creator>Bhuvaneshwari Rajasekar</dc:creator>
  <cp:lastModifiedBy>Bhuvaneshwari Rajasekar</cp:lastModifiedBy>
  <cp:revision>102</cp:revision>
  <dcterms:created xsi:type="dcterms:W3CDTF">2026-09-12T03:32:04Z</dcterms:created>
  <dcterms:modified xsi:type="dcterms:W3CDTF">2026-09-12T05:56:11Z</dcterms:modified>
</cp:coreProperties>
</file>