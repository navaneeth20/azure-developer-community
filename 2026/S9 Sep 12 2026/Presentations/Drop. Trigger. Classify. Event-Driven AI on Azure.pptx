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076136361" r:id="rId2"/>
    <p:sldId id="2076136372" r:id="rId3"/>
    <p:sldId id="2076136360" r:id="rId4"/>
    <p:sldId id="2076136358" r:id="rId5"/>
    <p:sldId id="2076136363" r:id="rId6"/>
    <p:sldId id="2076136364" r:id="rId7"/>
    <p:sldId id="2076136373" r:id="rId8"/>
    <p:sldId id="2076136365" r:id="rId9"/>
    <p:sldId id="2076136366" r:id="rId10"/>
    <p:sldId id="2076136371" r:id="rId11"/>
    <p:sldId id="2076136374" r:id="rId12"/>
    <p:sldId id="2076136367" r:id="rId13"/>
    <p:sldId id="2076136368" r:id="rId14"/>
    <p:sldId id="2076136369" r:id="rId15"/>
    <p:sldId id="2076136370" r:id="rId16"/>
    <p:sldId id="2076136313" r:id="rId17"/>
  </p:sldIdLst>
  <p:sldSz cx="9144000" cy="5143500" type="screen16x9"/>
  <p:notesSz cx="6858000" cy="9144000"/>
  <p:embeddedFontLst>
    <p:embeddedFont>
      <p:font typeface="Poppins" panose="00000500000000000000" pitchFamily="2" charset="0"/>
      <p:regular r:id="rId19"/>
      <p:bold r:id="rId20"/>
      <p:italic r:id="rId21"/>
      <p:boldItalic r:id="rId22"/>
    </p:embeddedFont>
    <p:embeddedFont>
      <p:font typeface="Poppins Light" panose="00000400000000000000" pitchFamily="2" charset="0"/>
      <p:regular r:id="rId23"/>
      <p:italic r:id="rId24"/>
    </p:embeddedFont>
    <p:embeddedFont>
      <p:font typeface="Segoe UI" panose="020B0502040204020203" pitchFamily="34" charset="0"/>
      <p:regular r:id="rId25"/>
      <p:bold r:id="rId26"/>
      <p:italic r:id="rId27"/>
      <p:boldItalic r:id="rId28"/>
    </p:embeddedFont>
    <p:embeddedFont>
      <p:font typeface="Segoe UI Semibold (Headings)" panose="020B060402020202020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AEFE8B-7950-431B-BD7D-2DDD920EBE25}" v="4" dt="2026-09-12T01:22:20.2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404" autoAdjust="0"/>
  </p:normalViewPr>
  <p:slideViewPr>
    <p:cSldViewPr snapToGrid="0">
      <p:cViewPr>
        <p:scale>
          <a:sx n="92" d="100"/>
          <a:sy n="92" d="100"/>
        </p:scale>
        <p:origin x="468" y="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lakshmi srigiri" userId="95bbad2329939689" providerId="LiveId" clId="{DE2A92C0-E80C-4AA3-95DB-E46F02156EF1}"/>
    <pc:docChg chg="custSel modSld sldOrd">
      <pc:chgData name="adilakshmi srigiri" userId="95bbad2329939689" providerId="LiveId" clId="{DE2A92C0-E80C-4AA3-95DB-E46F02156EF1}" dt="2026-09-12T01:22:53.443" v="391" actId="6549"/>
      <pc:docMkLst>
        <pc:docMk/>
      </pc:docMkLst>
      <pc:sldChg chg="modSp mod">
        <pc:chgData name="adilakshmi srigiri" userId="95bbad2329939689" providerId="LiveId" clId="{DE2A92C0-E80C-4AA3-95DB-E46F02156EF1}" dt="2026-09-12T00:53:09.797" v="90" actId="1076"/>
        <pc:sldMkLst>
          <pc:docMk/>
          <pc:sldMk cId="783508602" sldId="2076136313"/>
        </pc:sldMkLst>
        <pc:spChg chg="mod">
          <ac:chgData name="adilakshmi srigiri" userId="95bbad2329939689" providerId="LiveId" clId="{DE2A92C0-E80C-4AA3-95DB-E46F02156EF1}" dt="2026-09-12T00:53:03.288" v="89" actId="1076"/>
          <ac:spMkLst>
            <pc:docMk/>
            <pc:sldMk cId="783508602" sldId="2076136313"/>
            <ac:spMk id="7" creationId="{6BC36688-58C9-313C-C61E-D417574C524E}"/>
          </ac:spMkLst>
        </pc:spChg>
        <pc:spChg chg="mod">
          <ac:chgData name="adilakshmi srigiri" userId="95bbad2329939689" providerId="LiveId" clId="{DE2A92C0-E80C-4AA3-95DB-E46F02156EF1}" dt="2026-09-12T00:53:09.797" v="90" actId="1076"/>
          <ac:spMkLst>
            <pc:docMk/>
            <pc:sldMk cId="783508602" sldId="2076136313"/>
            <ac:spMk id="21" creationId="{659C7E2A-1841-4AA0-8084-E8A63CE13743}"/>
          </ac:spMkLst>
        </pc:spChg>
      </pc:sldChg>
      <pc:sldChg chg="modSp mod">
        <pc:chgData name="adilakshmi srigiri" userId="95bbad2329939689" providerId="LiveId" clId="{DE2A92C0-E80C-4AA3-95DB-E46F02156EF1}" dt="2026-09-12T01:22:20.256" v="379"/>
        <pc:sldMkLst>
          <pc:docMk/>
          <pc:sldMk cId="1202633556" sldId="2076136360"/>
        </pc:sldMkLst>
        <pc:spChg chg="mod">
          <ac:chgData name="adilakshmi srigiri" userId="95bbad2329939689" providerId="LiveId" clId="{DE2A92C0-E80C-4AA3-95DB-E46F02156EF1}" dt="2026-09-12T01:22:05.528" v="375" actId="21"/>
          <ac:spMkLst>
            <pc:docMk/>
            <pc:sldMk cId="1202633556" sldId="2076136360"/>
            <ac:spMk id="13" creationId="{00000000-0000-0000-0000-000000000000}"/>
          </ac:spMkLst>
        </pc:spChg>
        <pc:spChg chg="mod">
          <ac:chgData name="adilakshmi srigiri" userId="95bbad2329939689" providerId="LiveId" clId="{DE2A92C0-E80C-4AA3-95DB-E46F02156EF1}" dt="2026-09-12T01:22:20.256" v="379"/>
          <ac:spMkLst>
            <pc:docMk/>
            <pc:sldMk cId="1202633556" sldId="2076136360"/>
            <ac:spMk id="14" creationId="{00000000-0000-0000-0000-000000000000}"/>
          </ac:spMkLst>
        </pc:spChg>
        <pc:spChg chg="mod">
          <ac:chgData name="adilakshmi srigiri" userId="95bbad2329939689" providerId="LiveId" clId="{DE2A92C0-E80C-4AA3-95DB-E46F02156EF1}" dt="2026-09-12T01:22:07.532" v="376"/>
          <ac:spMkLst>
            <pc:docMk/>
            <pc:sldMk cId="1202633556" sldId="2076136360"/>
            <ac:spMk id="17" creationId="{00000000-0000-0000-0000-000000000000}"/>
          </ac:spMkLst>
        </pc:spChg>
        <pc:spChg chg="mod">
          <ac:chgData name="adilakshmi srigiri" userId="95bbad2329939689" providerId="LiveId" clId="{DE2A92C0-E80C-4AA3-95DB-E46F02156EF1}" dt="2026-09-12T01:22:17.988" v="378" actId="21"/>
          <ac:spMkLst>
            <pc:docMk/>
            <pc:sldMk cId="1202633556" sldId="2076136360"/>
            <ac:spMk id="18" creationId="{00000000-0000-0000-0000-000000000000}"/>
          </ac:spMkLst>
        </pc:spChg>
      </pc:sldChg>
      <pc:sldChg chg="modSp mod">
        <pc:chgData name="adilakshmi srigiri" userId="95bbad2329939689" providerId="LiveId" clId="{DE2A92C0-E80C-4AA3-95DB-E46F02156EF1}" dt="2026-09-12T01:04:30.579" v="252" actId="20577"/>
        <pc:sldMkLst>
          <pc:docMk/>
          <pc:sldMk cId="3346186159" sldId="2076136361"/>
        </pc:sldMkLst>
        <pc:spChg chg="mod">
          <ac:chgData name="adilakshmi srigiri" userId="95bbad2329939689" providerId="LiveId" clId="{DE2A92C0-E80C-4AA3-95DB-E46F02156EF1}" dt="2026-09-12T00:56:07.247" v="211" actId="1036"/>
          <ac:spMkLst>
            <pc:docMk/>
            <pc:sldMk cId="3346186159" sldId="2076136361"/>
            <ac:spMk id="3" creationId="{8D5DB851-C1F0-CA14-3BA1-1C1B00C8034C}"/>
          </ac:spMkLst>
        </pc:spChg>
        <pc:spChg chg="mod">
          <ac:chgData name="adilakshmi srigiri" userId="95bbad2329939689" providerId="LiveId" clId="{DE2A92C0-E80C-4AA3-95DB-E46F02156EF1}" dt="2026-09-12T01:04:30.579" v="252" actId="20577"/>
          <ac:spMkLst>
            <pc:docMk/>
            <pc:sldMk cId="3346186159" sldId="2076136361"/>
            <ac:spMk id="5" creationId="{FB703711-5A4F-E63D-362F-40718AC5BFF5}"/>
          </ac:spMkLst>
        </pc:spChg>
        <pc:picChg chg="mod">
          <ac:chgData name="adilakshmi srigiri" userId="95bbad2329939689" providerId="LiveId" clId="{DE2A92C0-E80C-4AA3-95DB-E46F02156EF1}" dt="2026-09-12T00:56:07.247" v="211" actId="1036"/>
          <ac:picMkLst>
            <pc:docMk/>
            <pc:sldMk cId="3346186159" sldId="2076136361"/>
            <ac:picMk id="4" creationId="{17A1E8A5-D4CA-3F4C-953E-6F5B887146CC}"/>
          </ac:picMkLst>
        </pc:picChg>
        <pc:picChg chg="mod ord">
          <ac:chgData name="adilakshmi srigiri" userId="95bbad2329939689" providerId="LiveId" clId="{DE2A92C0-E80C-4AA3-95DB-E46F02156EF1}" dt="2026-09-12T01:04:14.314" v="250" actId="1035"/>
          <ac:picMkLst>
            <pc:docMk/>
            <pc:sldMk cId="3346186159" sldId="2076136361"/>
            <ac:picMk id="7" creationId="{35D69CCE-41C0-F3EB-9E95-AF9EFFD69135}"/>
          </ac:picMkLst>
        </pc:picChg>
        <pc:picChg chg="mod">
          <ac:chgData name="adilakshmi srigiri" userId="95bbad2329939689" providerId="LiveId" clId="{DE2A92C0-E80C-4AA3-95DB-E46F02156EF1}" dt="2026-09-11T18:37:04.888" v="78" actId="1076"/>
          <ac:picMkLst>
            <pc:docMk/>
            <pc:sldMk cId="3346186159" sldId="2076136361"/>
            <ac:picMk id="10" creationId="{8EA10054-C6CB-1F71-23A7-3DB3AFDDA00D}"/>
          </ac:picMkLst>
        </pc:picChg>
        <pc:picChg chg="mod">
          <ac:chgData name="adilakshmi srigiri" userId="95bbad2329939689" providerId="LiveId" clId="{DE2A92C0-E80C-4AA3-95DB-E46F02156EF1}" dt="2026-09-11T18:37:00.322" v="76" actId="1076"/>
          <ac:picMkLst>
            <pc:docMk/>
            <pc:sldMk cId="3346186159" sldId="2076136361"/>
            <ac:picMk id="12" creationId="{B84B0CCF-32C0-B30F-4907-C7B66F095DAE}"/>
          </ac:picMkLst>
        </pc:picChg>
        <pc:picChg chg="mod">
          <ac:chgData name="adilakshmi srigiri" userId="95bbad2329939689" providerId="LiveId" clId="{DE2A92C0-E80C-4AA3-95DB-E46F02156EF1}" dt="2026-09-12T00:56:13.613" v="212" actId="1076"/>
          <ac:picMkLst>
            <pc:docMk/>
            <pc:sldMk cId="3346186159" sldId="2076136361"/>
            <ac:picMk id="37" creationId="{EB7286E2-B465-4A46-83CB-3DEFAE9A9F03}"/>
          </ac:picMkLst>
        </pc:picChg>
        <pc:picChg chg="mod">
          <ac:chgData name="adilakshmi srigiri" userId="95bbad2329939689" providerId="LiveId" clId="{DE2A92C0-E80C-4AA3-95DB-E46F02156EF1}" dt="2026-09-11T18:37:12.990" v="80" actId="1076"/>
          <ac:picMkLst>
            <pc:docMk/>
            <pc:sldMk cId="3346186159" sldId="2076136361"/>
            <ac:picMk id="39" creationId="{60EA9BDF-44A6-8F4F-BA77-0A2B45342A7B}"/>
          </ac:picMkLst>
        </pc:picChg>
      </pc:sldChg>
      <pc:sldChg chg="modSp mod ord">
        <pc:chgData name="adilakshmi srigiri" userId="95bbad2329939689" providerId="LiveId" clId="{DE2A92C0-E80C-4AA3-95DB-E46F02156EF1}" dt="2026-09-12T01:22:41.596" v="385" actId="6549"/>
        <pc:sldMkLst>
          <pc:docMk/>
          <pc:sldMk cId="1202633556" sldId="2076136367"/>
        </pc:sldMkLst>
        <pc:spChg chg="mod">
          <ac:chgData name="adilakshmi srigiri" userId="95bbad2329939689" providerId="LiveId" clId="{DE2A92C0-E80C-4AA3-95DB-E46F02156EF1}" dt="2026-09-12T01:22:41.596" v="385" actId="6549"/>
          <ac:spMkLst>
            <pc:docMk/>
            <pc:sldMk cId="1202633556" sldId="2076136367"/>
            <ac:spMk id="2" creationId="{00000000-0000-0000-0000-000000000000}"/>
          </ac:spMkLst>
        </pc:spChg>
      </pc:sldChg>
      <pc:sldChg chg="modSp mod ord">
        <pc:chgData name="adilakshmi srigiri" userId="95bbad2329939689" providerId="LiveId" clId="{DE2A92C0-E80C-4AA3-95DB-E46F02156EF1}" dt="2026-09-12T01:22:46.270" v="387" actId="6549"/>
        <pc:sldMkLst>
          <pc:docMk/>
          <pc:sldMk cId="1202633556" sldId="2076136368"/>
        </pc:sldMkLst>
        <pc:spChg chg="mod">
          <ac:chgData name="adilakshmi srigiri" userId="95bbad2329939689" providerId="LiveId" clId="{DE2A92C0-E80C-4AA3-95DB-E46F02156EF1}" dt="2026-09-12T01:22:46.270" v="387" actId="6549"/>
          <ac:spMkLst>
            <pc:docMk/>
            <pc:sldMk cId="1202633556" sldId="2076136368"/>
            <ac:spMk id="2" creationId="{00000000-0000-0000-0000-000000000000}"/>
          </ac:spMkLst>
        </pc:spChg>
      </pc:sldChg>
      <pc:sldChg chg="modSp mod ord">
        <pc:chgData name="adilakshmi srigiri" userId="95bbad2329939689" providerId="LiveId" clId="{DE2A92C0-E80C-4AA3-95DB-E46F02156EF1}" dt="2026-09-12T01:22:49.734" v="389" actId="6549"/>
        <pc:sldMkLst>
          <pc:docMk/>
          <pc:sldMk cId="1202633556" sldId="2076136369"/>
        </pc:sldMkLst>
        <pc:spChg chg="mod">
          <ac:chgData name="adilakshmi srigiri" userId="95bbad2329939689" providerId="LiveId" clId="{DE2A92C0-E80C-4AA3-95DB-E46F02156EF1}" dt="2026-09-12T01:22:49.734" v="389" actId="6549"/>
          <ac:spMkLst>
            <pc:docMk/>
            <pc:sldMk cId="1202633556" sldId="2076136369"/>
            <ac:spMk id="2" creationId="{00000000-0000-0000-0000-000000000000}"/>
          </ac:spMkLst>
        </pc:spChg>
      </pc:sldChg>
      <pc:sldChg chg="modSp mod ord">
        <pc:chgData name="adilakshmi srigiri" userId="95bbad2329939689" providerId="LiveId" clId="{DE2A92C0-E80C-4AA3-95DB-E46F02156EF1}" dt="2026-09-12T01:22:53.443" v="391" actId="6549"/>
        <pc:sldMkLst>
          <pc:docMk/>
          <pc:sldMk cId="1202633556" sldId="2076136370"/>
        </pc:sldMkLst>
        <pc:spChg chg="mod">
          <ac:chgData name="adilakshmi srigiri" userId="95bbad2329939689" providerId="LiveId" clId="{DE2A92C0-E80C-4AA3-95DB-E46F02156EF1}" dt="2026-09-12T01:22:53.443" v="391" actId="6549"/>
          <ac:spMkLst>
            <pc:docMk/>
            <pc:sldMk cId="1202633556" sldId="2076136370"/>
            <ac:spMk id="2" creationId="{00000000-0000-0000-0000-000000000000}"/>
          </ac:spMkLst>
        </pc:spChg>
      </pc:sldChg>
      <pc:sldChg chg="modSp mod">
        <pc:chgData name="adilakshmi srigiri" userId="95bbad2329939689" providerId="LiveId" clId="{DE2A92C0-E80C-4AA3-95DB-E46F02156EF1}" dt="2026-09-12T01:22:32.616" v="381" actId="6549"/>
        <pc:sldMkLst>
          <pc:docMk/>
          <pc:sldMk cId="1202633556" sldId="2076136371"/>
        </pc:sldMkLst>
        <pc:spChg chg="mod">
          <ac:chgData name="adilakshmi srigiri" userId="95bbad2329939689" providerId="LiveId" clId="{DE2A92C0-E80C-4AA3-95DB-E46F02156EF1}" dt="2026-09-12T01:22:32.616" v="381" actId="6549"/>
          <ac:spMkLst>
            <pc:docMk/>
            <pc:sldMk cId="1202633556" sldId="2076136371"/>
            <ac:spMk id="2" creationId="{00000000-0000-0000-0000-000000000000}"/>
          </ac:spMkLst>
        </pc:spChg>
      </pc:sldChg>
      <pc:sldChg chg="addSp delSp modSp mod">
        <pc:chgData name="adilakshmi srigiri" userId="95bbad2329939689" providerId="LiveId" clId="{DE2A92C0-E80C-4AA3-95DB-E46F02156EF1}" dt="2026-09-12T01:11:33.180" v="371" actId="948"/>
        <pc:sldMkLst>
          <pc:docMk/>
          <pc:sldMk cId="1202633556" sldId="2076136372"/>
        </pc:sldMkLst>
        <pc:spChg chg="mod">
          <ac:chgData name="adilakshmi srigiri" userId="95bbad2329939689" providerId="LiveId" clId="{DE2A92C0-E80C-4AA3-95DB-E46F02156EF1}" dt="2026-09-12T00:55:38.329" v="160" actId="20577"/>
          <ac:spMkLst>
            <pc:docMk/>
            <pc:sldMk cId="1202633556" sldId="2076136372"/>
            <ac:spMk id="3" creationId="{00000000-0000-0000-0000-000000000000}"/>
          </ac:spMkLst>
        </pc:spChg>
        <pc:spChg chg="mod">
          <ac:chgData name="adilakshmi srigiri" userId="95bbad2329939689" providerId="LiveId" clId="{DE2A92C0-E80C-4AA3-95DB-E46F02156EF1}" dt="2026-09-12T00:52:41.687" v="88" actId="20577"/>
          <ac:spMkLst>
            <pc:docMk/>
            <pc:sldMk cId="1202633556" sldId="2076136372"/>
            <ac:spMk id="4" creationId="{00000000-0000-0000-0000-000000000000}"/>
          </ac:spMkLst>
        </pc:spChg>
        <pc:spChg chg="del">
          <ac:chgData name="adilakshmi srigiri" userId="95bbad2329939689" providerId="LiveId" clId="{DE2A92C0-E80C-4AA3-95DB-E46F02156EF1}" dt="2026-09-12T01:06:15.098" v="254" actId="478"/>
          <ac:spMkLst>
            <pc:docMk/>
            <pc:sldMk cId="1202633556" sldId="2076136372"/>
            <ac:spMk id="5" creationId="{00000000-0000-0000-0000-000000000000}"/>
          </ac:spMkLst>
        </pc:spChg>
        <pc:spChg chg="mod">
          <ac:chgData name="adilakshmi srigiri" userId="95bbad2329939689" providerId="LiveId" clId="{DE2A92C0-E80C-4AA3-95DB-E46F02156EF1}" dt="2026-09-12T01:11:33.180" v="371" actId="948"/>
          <ac:spMkLst>
            <pc:docMk/>
            <pc:sldMk cId="1202633556" sldId="2076136372"/>
            <ac:spMk id="7" creationId="{00000000-0000-0000-0000-000000000000}"/>
          </ac:spMkLst>
        </pc:spChg>
        <pc:spChg chg="add del mod">
          <ac:chgData name="adilakshmi srigiri" userId="95bbad2329939689" providerId="LiveId" clId="{DE2A92C0-E80C-4AA3-95DB-E46F02156EF1}" dt="2026-09-12T01:10:03.664" v="335" actId="478"/>
          <ac:spMkLst>
            <pc:docMk/>
            <pc:sldMk cId="1202633556" sldId="2076136372"/>
            <ac:spMk id="16" creationId="{0C768DE1-4220-0C6F-0A16-54FFD5DE37ED}"/>
          </ac:spMkLst>
        </pc:spChg>
        <pc:picChg chg="del">
          <ac:chgData name="adilakshmi srigiri" userId="95bbad2329939689" providerId="LiveId" clId="{DE2A92C0-E80C-4AA3-95DB-E46F02156EF1}" dt="2026-09-12T01:06:13.170" v="253" actId="478"/>
          <ac:picMkLst>
            <pc:docMk/>
            <pc:sldMk cId="1202633556" sldId="2076136372"/>
            <ac:picMk id="6" creationId="{00000000-0000-0000-0000-000000000000}"/>
          </ac:picMkLst>
        </pc:picChg>
        <pc:picChg chg="add del mod">
          <ac:chgData name="adilakshmi srigiri" userId="95bbad2329939689" providerId="LiveId" clId="{DE2A92C0-E80C-4AA3-95DB-E46F02156EF1}" dt="2026-09-12T01:07:20.420" v="315" actId="478"/>
          <ac:picMkLst>
            <pc:docMk/>
            <pc:sldMk cId="1202633556" sldId="2076136372"/>
            <ac:picMk id="13" creationId="{27996FDB-9E37-A797-0735-167DC69D60E1}"/>
          </ac:picMkLst>
        </pc:picChg>
        <pc:picChg chg="add mod">
          <ac:chgData name="adilakshmi srigiri" userId="95bbad2329939689" providerId="LiveId" clId="{DE2A92C0-E80C-4AA3-95DB-E46F02156EF1}" dt="2026-09-12T01:10:57.113" v="352" actId="1076"/>
          <ac:picMkLst>
            <pc:docMk/>
            <pc:sldMk cId="1202633556" sldId="2076136372"/>
            <ac:picMk id="15" creationId="{6A132592-0324-6A8E-192F-A5B8941CB9E6}"/>
          </ac:picMkLst>
        </pc:picChg>
      </pc:sldChg>
      <pc:sldChg chg="modSp mod">
        <pc:chgData name="adilakshmi srigiri" userId="95bbad2329939689" providerId="LiveId" clId="{DE2A92C0-E80C-4AA3-95DB-E46F02156EF1}" dt="2026-09-12T01:22:37.235" v="383" actId="6549"/>
        <pc:sldMkLst>
          <pc:docMk/>
          <pc:sldMk cId="0" sldId="2076136374"/>
        </pc:sldMkLst>
        <pc:spChg chg="mod">
          <ac:chgData name="adilakshmi srigiri" userId="95bbad2329939689" providerId="LiveId" clId="{DE2A92C0-E80C-4AA3-95DB-E46F02156EF1}" dt="2026-09-12T01:22:37.235" v="383" actId="6549"/>
          <ac:spMkLst>
            <pc:docMk/>
            <pc:sldMk cId="0" sldId="2076136374"/>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42215369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~1 min. Quick self-intro as the MC hands over — your name/role are already on screen.</a:t>
            </a:r>
          </a:p>
        </p:txBody>
      </p:sp>
    </p:spTree>
    <p:extLst>
      <p:ext uri="{BB962C8B-B14F-4D97-AF65-F5344CB8AC3E}">
        <p14:creationId xmlns:p14="http://schemas.microsoft.com/office/powerpoint/2010/main" val="19900881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~1.5 min. Walk through the bullets briefly; point out the QR code at the end for anyone who wants to connect after.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~1 min. Preview the four sections — note that the last one may be a recording as a live-demo fallback.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~2.5 min. Set up the real-world pain point: manual review doesn't scale. Keep 'The Ask' and 'The Bottleneck' brief and let the bullets do the work.</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rPr dirty="0"/>
              <a:t>~2 min. Let the big numbers land — pause after '100ms vs ~1/min' before moving 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~3 min. This is the credibility slide — real lessons from building the first version. Rows 3 and 5 foreshadow the Pre-Checks step and Human Review branch coming up.</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~2 min. Point out that the geotag overlay is baked into the pixels, not EXIF metadata — that is why extraction has to read it off the image (OCR), matching the Geo-Verify tool shown later in the scaled architecture. The two Not Shop examples are still real outlets — the point is the rule, not that they look fake.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~3 min. Walk left to right along the diagram. The Storage account has an Event Grid subscription (System Topic on Microsoft.Storage.StorageAccounts) that fires the Function on blob creation. Call out that the Vision Classify step (teal, Mistral Medium 2505 on Azure AI Foundry) is the only AI-specific stage — everything else is standard Azure plumbing.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~3 min. Expand on each of the five steps — this is the technical meat of the architecture section. Step 2 is the Event Grid subscription shown in the portal screenshot; step 4 is Mistral Medium 2505, deployed via Azure AI Foundry (Global Standard).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~5 min live (or ~2 min if playing the recording instead). Walk through the 4 steps as you go; invite the audience to suggest a tricky photo if doing it live.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Click the video to play (~21 sec, silent) — a recorded run of the actual classifier tool: upload an outlet photo, hit Classify, and the Shop / Not-Shop verdict with confidence score appears. Use this as the fallback if the live demo isn’t possible on the day, or play it alongside narrating what’s happening on screen.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~2.5 min. Transition slide into scaling — these are real bottlenecks, not hypothetical ones. Sets up the 'why agentic' argument.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~3.5 min. The core scaling diagram. Point out the queue for backpressure, the Orchestrator Agent box, and the human-in-the-loop branch for low-confidence cases.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~2 min. Crisp before/after — use this to pivot from 'infrastructure scaling' to 'agentic redesign'.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~3.5 min. Six things to plan for — don't read every bullet verbatim, pick 2-3 to go deeper on based on audience interest (orchestration model and human-in-the-loop tend to get the most questions).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Q&amp;A — budget remaining time here. Thank the community and point to the LinkedIn QR code from the About Speaker slide if it comes up again.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6" name="TextBox 5">
            <a:extLst>
              <a:ext uri="{FF2B5EF4-FFF2-40B4-BE49-F238E27FC236}">
                <a16:creationId xmlns:a16="http://schemas.microsoft.com/office/drawing/2014/main" id="{C74BB349-E93D-F78B-9275-58D3025BD773}"/>
              </a:ext>
            </a:extLst>
          </p:cNvPr>
          <p:cNvSpPr txBox="1"/>
          <p:nvPr userDrawn="1"/>
        </p:nvSpPr>
        <p:spPr>
          <a:xfrm>
            <a:off x="250666" y="4771178"/>
            <a:ext cx="247175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IN" sz="1000" b="0" i="0" u="none" strike="noStrike" baseline="0" dirty="0">
                <a:solidFill>
                  <a:schemeClr val="tx1"/>
                </a:solidFill>
                <a:latin typeface="Poppins Light" pitchFamily="2" charset="77"/>
                <a:cs typeface="Poppins Light" pitchFamily="2" charset="77"/>
              </a:rPr>
              <a:t>Azure Developer Community TN</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
        <p:nvSpPr>
          <p:cNvPr id="7" name="TextBox 6">
            <a:extLst>
              <a:ext uri="{FF2B5EF4-FFF2-40B4-BE49-F238E27FC236}">
                <a16:creationId xmlns:a16="http://schemas.microsoft.com/office/drawing/2014/main" id="{85ADDEDD-0E46-6DD5-1FBD-8E12C7A8C14D}"/>
              </a:ext>
            </a:extLst>
          </p:cNvPr>
          <p:cNvSpPr txBox="1"/>
          <p:nvPr userDrawn="1"/>
        </p:nvSpPr>
        <p:spPr>
          <a:xfrm>
            <a:off x="6951504" y="4771178"/>
            <a:ext cx="219249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US" sz="1000" b="0" i="0" u="none" strike="noStrike" baseline="0" dirty="0">
                <a:solidFill>
                  <a:schemeClr val="tx1"/>
                </a:solidFill>
                <a:latin typeface="Poppins Light" pitchFamily="2" charset="77"/>
                <a:cs typeface="Poppins Light" pitchFamily="2" charset="77"/>
              </a:rPr>
              <a:t>Innovation AI Chennai</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5" name="TextBox 4">
            <a:extLst>
              <a:ext uri="{FF2B5EF4-FFF2-40B4-BE49-F238E27FC236}">
                <a16:creationId xmlns:a16="http://schemas.microsoft.com/office/drawing/2014/main" id="{C74BB349-E93D-F78B-9275-58D3025BD773}"/>
              </a:ext>
            </a:extLst>
          </p:cNvPr>
          <p:cNvSpPr txBox="1"/>
          <p:nvPr userDrawn="1"/>
        </p:nvSpPr>
        <p:spPr>
          <a:xfrm>
            <a:off x="250666" y="4771178"/>
            <a:ext cx="247175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IN" sz="1000" b="0" i="0" u="none" strike="noStrike" baseline="0" dirty="0">
                <a:solidFill>
                  <a:schemeClr val="tx1"/>
                </a:solidFill>
                <a:latin typeface="Poppins Light" pitchFamily="2" charset="77"/>
                <a:cs typeface="Poppins Light" pitchFamily="2" charset="77"/>
              </a:rPr>
              <a:t>Azure Developer Community TN</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
        <p:nvSpPr>
          <p:cNvPr id="6" name="TextBox 5">
            <a:extLst>
              <a:ext uri="{FF2B5EF4-FFF2-40B4-BE49-F238E27FC236}">
                <a16:creationId xmlns:a16="http://schemas.microsoft.com/office/drawing/2014/main" id="{85ADDEDD-0E46-6DD5-1FBD-8E12C7A8C14D}"/>
              </a:ext>
            </a:extLst>
          </p:cNvPr>
          <p:cNvSpPr txBox="1"/>
          <p:nvPr userDrawn="1"/>
        </p:nvSpPr>
        <p:spPr>
          <a:xfrm>
            <a:off x="6951504" y="4771178"/>
            <a:ext cx="219249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US" sz="1000" b="0" i="0" u="none" strike="noStrike" baseline="0" dirty="0">
                <a:solidFill>
                  <a:schemeClr val="tx1"/>
                </a:solidFill>
                <a:latin typeface="Poppins Light" pitchFamily="2" charset="77"/>
                <a:cs typeface="Poppins Light" pitchFamily="2" charset="77"/>
              </a:rPr>
              <a:t>Innovation AI Chennai</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4" name="TextBox 3">
            <a:extLst>
              <a:ext uri="{FF2B5EF4-FFF2-40B4-BE49-F238E27FC236}">
                <a16:creationId xmlns:a16="http://schemas.microsoft.com/office/drawing/2014/main" id="{C74BB349-E93D-F78B-9275-58D3025BD773}"/>
              </a:ext>
            </a:extLst>
          </p:cNvPr>
          <p:cNvSpPr txBox="1"/>
          <p:nvPr userDrawn="1"/>
        </p:nvSpPr>
        <p:spPr>
          <a:xfrm>
            <a:off x="250666" y="4771178"/>
            <a:ext cx="247175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IN" sz="1000" b="0" i="0" u="none" strike="noStrike" baseline="0" dirty="0">
                <a:solidFill>
                  <a:schemeClr val="tx1"/>
                </a:solidFill>
                <a:latin typeface="Poppins Light" pitchFamily="2" charset="77"/>
                <a:cs typeface="Poppins Light" pitchFamily="2" charset="77"/>
              </a:rPr>
              <a:t>Azure Developer Community TN</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
        <p:nvSpPr>
          <p:cNvPr id="5" name="TextBox 4">
            <a:extLst>
              <a:ext uri="{FF2B5EF4-FFF2-40B4-BE49-F238E27FC236}">
                <a16:creationId xmlns:a16="http://schemas.microsoft.com/office/drawing/2014/main" id="{85ADDEDD-0E46-6DD5-1FBD-8E12C7A8C14D}"/>
              </a:ext>
            </a:extLst>
          </p:cNvPr>
          <p:cNvSpPr txBox="1"/>
          <p:nvPr userDrawn="1"/>
        </p:nvSpPr>
        <p:spPr>
          <a:xfrm>
            <a:off x="6951504" y="4771178"/>
            <a:ext cx="219249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US" sz="1000" b="0" i="0" u="none" strike="noStrike" baseline="0" dirty="0">
                <a:solidFill>
                  <a:schemeClr val="tx1"/>
                </a:solidFill>
                <a:latin typeface="Poppins Light" pitchFamily="2" charset="77"/>
                <a:cs typeface="Poppins Light" pitchFamily="2" charset="77"/>
              </a:rPr>
              <a:t>Innovation AI Chennai</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7" name="TextBox 6">
            <a:extLst>
              <a:ext uri="{FF2B5EF4-FFF2-40B4-BE49-F238E27FC236}">
                <a16:creationId xmlns:a16="http://schemas.microsoft.com/office/drawing/2014/main" id="{C74BB349-E93D-F78B-9275-58D3025BD773}"/>
              </a:ext>
            </a:extLst>
          </p:cNvPr>
          <p:cNvSpPr txBox="1"/>
          <p:nvPr userDrawn="1"/>
        </p:nvSpPr>
        <p:spPr>
          <a:xfrm>
            <a:off x="250666" y="4771178"/>
            <a:ext cx="247175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IN" sz="1000" b="0" i="0" u="none" strike="noStrike" baseline="0" dirty="0">
                <a:solidFill>
                  <a:schemeClr val="tx1"/>
                </a:solidFill>
                <a:latin typeface="Poppins Light" pitchFamily="2" charset="77"/>
                <a:cs typeface="Poppins Light" pitchFamily="2" charset="77"/>
              </a:rPr>
              <a:t>Azure Developer Community TN</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
        <p:nvSpPr>
          <p:cNvPr id="8" name="TextBox 7">
            <a:extLst>
              <a:ext uri="{FF2B5EF4-FFF2-40B4-BE49-F238E27FC236}">
                <a16:creationId xmlns:a16="http://schemas.microsoft.com/office/drawing/2014/main" id="{85ADDEDD-0E46-6DD5-1FBD-8E12C7A8C14D}"/>
              </a:ext>
            </a:extLst>
          </p:cNvPr>
          <p:cNvSpPr txBox="1"/>
          <p:nvPr userDrawn="1"/>
        </p:nvSpPr>
        <p:spPr>
          <a:xfrm>
            <a:off x="6951504" y="4771178"/>
            <a:ext cx="219249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US" sz="1000" b="0" i="0" u="none" strike="noStrike" baseline="0" dirty="0">
                <a:solidFill>
                  <a:schemeClr val="tx1"/>
                </a:solidFill>
                <a:latin typeface="Poppins Light" pitchFamily="2" charset="77"/>
                <a:cs typeface="Poppins Light" pitchFamily="2" charset="77"/>
              </a:rPr>
              <a:t>Innovation AI Chennai</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4" name="TextBox 3">
            <a:extLst>
              <a:ext uri="{FF2B5EF4-FFF2-40B4-BE49-F238E27FC236}">
                <a16:creationId xmlns:a16="http://schemas.microsoft.com/office/drawing/2014/main" id="{C74BB349-E93D-F78B-9275-58D3025BD773}"/>
              </a:ext>
            </a:extLst>
          </p:cNvPr>
          <p:cNvSpPr txBox="1"/>
          <p:nvPr userDrawn="1"/>
        </p:nvSpPr>
        <p:spPr>
          <a:xfrm>
            <a:off x="250666" y="4771178"/>
            <a:ext cx="247175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IN" sz="1000" b="0" i="0" u="none" strike="noStrike" baseline="0" dirty="0">
                <a:solidFill>
                  <a:schemeClr val="tx1"/>
                </a:solidFill>
                <a:latin typeface="Poppins Light" pitchFamily="2" charset="77"/>
                <a:cs typeface="Poppins Light" pitchFamily="2" charset="77"/>
              </a:rPr>
              <a:t>Azure Developer Community TN</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
        <p:nvSpPr>
          <p:cNvPr id="5" name="TextBox 4">
            <a:extLst>
              <a:ext uri="{FF2B5EF4-FFF2-40B4-BE49-F238E27FC236}">
                <a16:creationId xmlns:a16="http://schemas.microsoft.com/office/drawing/2014/main" id="{85ADDEDD-0E46-6DD5-1FBD-8E12C7A8C14D}"/>
              </a:ext>
            </a:extLst>
          </p:cNvPr>
          <p:cNvSpPr txBox="1"/>
          <p:nvPr userDrawn="1"/>
        </p:nvSpPr>
        <p:spPr>
          <a:xfrm>
            <a:off x="6951504" y="4771178"/>
            <a:ext cx="219249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US" sz="1000" b="0" i="0" u="none" strike="noStrike" baseline="0" dirty="0">
                <a:solidFill>
                  <a:schemeClr val="tx1"/>
                </a:solidFill>
                <a:latin typeface="Poppins Light" pitchFamily="2" charset="77"/>
                <a:cs typeface="Poppins Light" pitchFamily="2" charset="77"/>
              </a:rPr>
              <a:t>Innovation AI Chennai</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5" name="TextBox 4">
            <a:extLst>
              <a:ext uri="{FF2B5EF4-FFF2-40B4-BE49-F238E27FC236}">
                <a16:creationId xmlns:a16="http://schemas.microsoft.com/office/drawing/2014/main" id="{C74BB349-E93D-F78B-9275-58D3025BD773}"/>
              </a:ext>
            </a:extLst>
          </p:cNvPr>
          <p:cNvSpPr txBox="1"/>
          <p:nvPr userDrawn="1"/>
        </p:nvSpPr>
        <p:spPr>
          <a:xfrm>
            <a:off x="250666" y="4771178"/>
            <a:ext cx="247175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IN" sz="1000" b="0" i="0" u="none" strike="noStrike" baseline="0" dirty="0">
                <a:solidFill>
                  <a:schemeClr val="tx1"/>
                </a:solidFill>
                <a:latin typeface="Poppins Light" pitchFamily="2" charset="77"/>
                <a:cs typeface="Poppins Light" pitchFamily="2" charset="77"/>
              </a:rPr>
              <a:t>Azure Developer Community TN</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
        <p:nvSpPr>
          <p:cNvPr id="6" name="TextBox 5">
            <a:extLst>
              <a:ext uri="{FF2B5EF4-FFF2-40B4-BE49-F238E27FC236}">
                <a16:creationId xmlns:a16="http://schemas.microsoft.com/office/drawing/2014/main" id="{85ADDEDD-0E46-6DD5-1FBD-8E12C7A8C14D}"/>
              </a:ext>
            </a:extLst>
          </p:cNvPr>
          <p:cNvSpPr txBox="1"/>
          <p:nvPr userDrawn="1"/>
        </p:nvSpPr>
        <p:spPr>
          <a:xfrm>
            <a:off x="6951504" y="4771178"/>
            <a:ext cx="219249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US" sz="1000" b="0" i="0" u="none" strike="noStrike" baseline="0" dirty="0">
                <a:solidFill>
                  <a:schemeClr val="tx1"/>
                </a:solidFill>
                <a:latin typeface="Poppins Light" pitchFamily="2" charset="77"/>
                <a:cs typeface="Poppins Light" pitchFamily="2" charset="77"/>
              </a:rPr>
              <a:t>Innovation AI Chennai</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Title slide with blue Windows logo on white backgroun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7E2EE96-CAD6-46F7-AEB7-00C81021CC84}"/>
              </a:ext>
            </a:extLst>
          </p:cNvPr>
          <p:cNvSpPr>
            <a:spLocks noGrp="1"/>
          </p:cNvSpPr>
          <p:nvPr>
            <p:ph type="title" hasCustomPrompt="1"/>
          </p:nvPr>
        </p:nvSpPr>
        <p:spPr>
          <a:xfrm>
            <a:off x="500144" y="478774"/>
            <a:ext cx="2020579" cy="373949"/>
          </a:xfrm>
          <a:prstGeom prst="rect">
            <a:avLst/>
          </a:prstGeom>
          <a:noFill/>
        </p:spPr>
        <p:txBody>
          <a:bodyPr wrap="square" lIns="0" tIns="0" rIns="0" bIns="0" anchor="b" anchorCtr="0">
            <a:spAutoFit/>
          </a:bodyPr>
          <a:lstStyle>
            <a:lvl1pPr algn="l" defTabSz="699556" rtl="0" eaLnBrk="1" latinLnBrk="0" hangingPunct="1">
              <a:lnSpc>
                <a:spcPct val="90000"/>
              </a:lnSpc>
              <a:spcBef>
                <a:spcPct val="0"/>
              </a:spcBef>
              <a:buNone/>
              <a:defRPr lang="en-US" sz="2700" b="0" kern="1200" cap="none" spc="-38" baseline="0" dirty="0">
                <a:ln w="3175">
                  <a:noFill/>
                </a:ln>
                <a:solidFill>
                  <a:srgbClr val="08023F"/>
                </a:solidFill>
                <a:effectLst/>
                <a:latin typeface="+mj-lt"/>
                <a:ea typeface="+mn-ea"/>
                <a:cs typeface="Segoe UI" pitchFamily="34" charset="0"/>
              </a:defRPr>
            </a:lvl1pPr>
          </a:lstStyle>
          <a:p>
            <a:r>
              <a:rPr lang="en-US" dirty="0"/>
              <a:t>Title </a:t>
            </a:r>
          </a:p>
        </p:txBody>
      </p:sp>
      <p:sp>
        <p:nvSpPr>
          <p:cNvPr id="9" name="Text Placeholder 4">
            <a:extLst>
              <a:ext uri="{FF2B5EF4-FFF2-40B4-BE49-F238E27FC236}">
                <a16:creationId xmlns:a16="http://schemas.microsoft.com/office/drawing/2014/main" id="{EAD98D2E-15E9-4E97-B820-4F26956CA8B1}"/>
              </a:ext>
            </a:extLst>
          </p:cNvPr>
          <p:cNvSpPr>
            <a:spLocks noGrp="1"/>
          </p:cNvSpPr>
          <p:nvPr>
            <p:ph type="body" sz="quarter" idx="12" hasCustomPrompt="1"/>
          </p:nvPr>
        </p:nvSpPr>
        <p:spPr>
          <a:xfrm>
            <a:off x="731989" y="1356413"/>
            <a:ext cx="6858000" cy="265457"/>
          </a:xfrm>
          <a:prstGeom prst="rect">
            <a:avLst/>
          </a:prstGeom>
          <a:noFill/>
        </p:spPr>
        <p:txBody>
          <a:bodyPr lIns="0" tIns="0" rIns="0" bIns="0">
            <a:spAutoFit/>
          </a:bodyPr>
          <a:lstStyle>
            <a:lvl1pPr marL="0" indent="0">
              <a:spcBef>
                <a:spcPts val="0"/>
              </a:spcBef>
              <a:spcAft>
                <a:spcPts val="0"/>
              </a:spcAft>
              <a:buFont typeface="Arial" panose="020B0604020202020204" pitchFamily="34" charset="0"/>
              <a:buNone/>
              <a:defRPr sz="1500" spc="0" baseline="0">
                <a:solidFill>
                  <a:srgbClr val="08023F"/>
                </a:solidFill>
                <a:latin typeface="+mn-lt"/>
              </a:defRPr>
            </a:lvl1pPr>
          </a:lstStyle>
          <a:p>
            <a:pPr lvl="0"/>
            <a:r>
              <a:rPr lang="en-US" dirty="0"/>
              <a:t>Content</a:t>
            </a:r>
          </a:p>
        </p:txBody>
      </p:sp>
      <p:sp>
        <p:nvSpPr>
          <p:cNvPr id="6" name="TextBox 5">
            <a:extLst>
              <a:ext uri="{FF2B5EF4-FFF2-40B4-BE49-F238E27FC236}">
                <a16:creationId xmlns:a16="http://schemas.microsoft.com/office/drawing/2014/main" id="{C74BB349-E93D-F78B-9275-58D3025BD773}"/>
              </a:ext>
            </a:extLst>
          </p:cNvPr>
          <p:cNvSpPr txBox="1"/>
          <p:nvPr userDrawn="1"/>
        </p:nvSpPr>
        <p:spPr>
          <a:xfrm>
            <a:off x="236182" y="4771178"/>
            <a:ext cx="247175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IN" sz="1000" b="0" i="0" u="none" strike="noStrike" baseline="0" dirty="0">
                <a:solidFill>
                  <a:schemeClr val="tx1"/>
                </a:solidFill>
                <a:latin typeface="Poppins Light" pitchFamily="2" charset="77"/>
                <a:cs typeface="Poppins Light" pitchFamily="2" charset="77"/>
              </a:rPr>
              <a:t>Azure Developer Community TN</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
        <p:nvSpPr>
          <p:cNvPr id="7" name="TextBox 6">
            <a:extLst>
              <a:ext uri="{FF2B5EF4-FFF2-40B4-BE49-F238E27FC236}">
                <a16:creationId xmlns:a16="http://schemas.microsoft.com/office/drawing/2014/main" id="{85ADDEDD-0E46-6DD5-1FBD-8E12C7A8C14D}"/>
              </a:ext>
            </a:extLst>
          </p:cNvPr>
          <p:cNvSpPr txBox="1"/>
          <p:nvPr userDrawn="1"/>
        </p:nvSpPr>
        <p:spPr>
          <a:xfrm>
            <a:off x="6951504" y="4771178"/>
            <a:ext cx="219249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US" sz="1000" b="0" i="0" u="none" strike="noStrike" baseline="0" dirty="0">
                <a:solidFill>
                  <a:schemeClr val="tx1"/>
                </a:solidFill>
                <a:latin typeface="Poppins Light" pitchFamily="2" charset="77"/>
                <a:cs typeface="Poppins Light" pitchFamily="2" charset="77"/>
              </a:rPr>
              <a:t>Innovation AI Chennai</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Tree>
    <p:extLst>
      <p:ext uri="{BB962C8B-B14F-4D97-AF65-F5344CB8AC3E}">
        <p14:creationId xmlns:p14="http://schemas.microsoft.com/office/powerpoint/2010/main" val="2555132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hankYou_Slide">
    <p:bg>
      <p:bgPr>
        <a:solidFill>
          <a:srgbClr val="FFFFFF"/>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BFD5B93-2926-40E7-8152-4B1DB45D531F}"/>
              </a:ext>
            </a:extLst>
          </p:cNvPr>
          <p:cNvSpPr>
            <a:spLocks noGrp="1"/>
          </p:cNvSpPr>
          <p:nvPr>
            <p:ph type="title" hasCustomPrompt="1"/>
          </p:nvPr>
        </p:nvSpPr>
        <p:spPr>
          <a:xfrm>
            <a:off x="500144" y="454571"/>
            <a:ext cx="2928856" cy="373941"/>
          </a:xfrm>
          <a:prstGeom prst="rect">
            <a:avLst/>
          </a:prstGeom>
          <a:noFill/>
        </p:spPr>
        <p:txBody>
          <a:bodyPr wrap="square" lIns="0" tIns="0" rIns="0" bIns="0" anchor="b" anchorCtr="0">
            <a:spAutoFit/>
          </a:bodyPr>
          <a:lstStyle>
            <a:lvl1pPr algn="l" defTabSz="699556" rtl="0" eaLnBrk="1" latinLnBrk="0" hangingPunct="1">
              <a:lnSpc>
                <a:spcPct val="90000"/>
              </a:lnSpc>
              <a:spcBef>
                <a:spcPct val="0"/>
              </a:spcBef>
              <a:buNone/>
              <a:defRPr lang="en-US" sz="2700" b="0" kern="1200" cap="none" spc="-38" baseline="0" dirty="0">
                <a:ln w="3175">
                  <a:noFill/>
                </a:ln>
                <a:solidFill>
                  <a:srgbClr val="08023F"/>
                </a:solidFill>
                <a:effectLst/>
                <a:latin typeface="+mj-lt"/>
                <a:ea typeface="Segoe UI Black" panose="020B0A02040204020203" pitchFamily="34" charset="0"/>
                <a:cs typeface="Segoe UI" pitchFamily="34" charset="0"/>
              </a:defRPr>
            </a:lvl1pPr>
          </a:lstStyle>
          <a:p>
            <a:r>
              <a:rPr lang="en-US" dirty="0"/>
              <a:t>THANK YOU !</a:t>
            </a:r>
          </a:p>
        </p:txBody>
      </p:sp>
      <p:sp>
        <p:nvSpPr>
          <p:cNvPr id="6" name="Text Placeholder 4">
            <a:extLst>
              <a:ext uri="{FF2B5EF4-FFF2-40B4-BE49-F238E27FC236}">
                <a16:creationId xmlns:a16="http://schemas.microsoft.com/office/drawing/2014/main" id="{34EDE0F8-003E-446A-9CCB-3D93AD93B0FD}"/>
              </a:ext>
            </a:extLst>
          </p:cNvPr>
          <p:cNvSpPr>
            <a:spLocks noGrp="1"/>
          </p:cNvSpPr>
          <p:nvPr>
            <p:ph type="body" sz="quarter" idx="12" hasCustomPrompt="1"/>
          </p:nvPr>
        </p:nvSpPr>
        <p:spPr>
          <a:xfrm>
            <a:off x="500144" y="2508591"/>
            <a:ext cx="3056786" cy="212366"/>
          </a:xfrm>
          <a:noFill/>
        </p:spPr>
        <p:txBody>
          <a:bodyPr wrap="square" lIns="0" tIns="0" rIns="0" bIns="0">
            <a:spAutoFit/>
          </a:bodyPr>
          <a:lstStyle>
            <a:lvl1pPr marL="0" indent="0">
              <a:spcBef>
                <a:spcPts val="0"/>
              </a:spcBef>
              <a:buNone/>
              <a:defRPr sz="1200" b="1" spc="0" baseline="0">
                <a:solidFill>
                  <a:srgbClr val="08023F"/>
                </a:solidFill>
                <a:latin typeface="Segoe UI" panose="020B0502040204020203" pitchFamily="34" charset="0"/>
                <a:cs typeface="Segoe UI" panose="020B0502040204020203" pitchFamily="34" charset="0"/>
              </a:defRPr>
            </a:lvl1pPr>
          </a:lstStyle>
          <a:p>
            <a:pPr lvl="0"/>
            <a:r>
              <a:rPr lang="en-US" dirty="0"/>
              <a:t>Speaker one name</a:t>
            </a:r>
          </a:p>
        </p:txBody>
      </p:sp>
      <p:sp>
        <p:nvSpPr>
          <p:cNvPr id="7" name="Text Placeholder 4">
            <a:extLst>
              <a:ext uri="{FF2B5EF4-FFF2-40B4-BE49-F238E27FC236}">
                <a16:creationId xmlns:a16="http://schemas.microsoft.com/office/drawing/2014/main" id="{883B0BDC-EFBE-4EE2-9446-E8320596B2C6}"/>
              </a:ext>
            </a:extLst>
          </p:cNvPr>
          <p:cNvSpPr>
            <a:spLocks noGrp="1"/>
          </p:cNvSpPr>
          <p:nvPr>
            <p:ph type="body" sz="quarter" idx="15" hasCustomPrompt="1"/>
          </p:nvPr>
        </p:nvSpPr>
        <p:spPr>
          <a:xfrm>
            <a:off x="500144" y="2751335"/>
            <a:ext cx="3056786" cy="185820"/>
          </a:xfrm>
          <a:noFill/>
        </p:spPr>
        <p:txBody>
          <a:bodyPr wrap="square" lIns="0" tIns="0" rIns="0" bIns="0">
            <a:spAutoFit/>
          </a:bodyPr>
          <a:lstStyle>
            <a:lvl1pPr marL="0" indent="0">
              <a:spcBef>
                <a:spcPts val="0"/>
              </a:spcBef>
              <a:buNone/>
              <a:defRPr sz="1050" spc="0" baseline="0">
                <a:solidFill>
                  <a:srgbClr val="08023F"/>
                </a:solidFill>
                <a:latin typeface="Segoe UI" panose="020B0502040204020203" pitchFamily="34" charset="0"/>
                <a:cs typeface="Segoe UI" panose="020B0502040204020203" pitchFamily="34" charset="0"/>
              </a:defRPr>
            </a:lvl1pPr>
          </a:lstStyle>
          <a:p>
            <a:pPr lvl="0"/>
            <a:r>
              <a:rPr lang="en-US" dirty="0"/>
              <a:t>Speaker one subtitle text</a:t>
            </a:r>
          </a:p>
        </p:txBody>
      </p:sp>
      <p:sp>
        <p:nvSpPr>
          <p:cNvPr id="9" name="Text Placeholder 4">
            <a:extLst>
              <a:ext uri="{FF2B5EF4-FFF2-40B4-BE49-F238E27FC236}">
                <a16:creationId xmlns:a16="http://schemas.microsoft.com/office/drawing/2014/main" id="{022C9921-9FD0-4BF0-BE16-2A88E9B884AB}"/>
              </a:ext>
            </a:extLst>
          </p:cNvPr>
          <p:cNvSpPr>
            <a:spLocks noGrp="1"/>
          </p:cNvSpPr>
          <p:nvPr>
            <p:ph type="body" sz="quarter" idx="16" hasCustomPrompt="1"/>
          </p:nvPr>
        </p:nvSpPr>
        <p:spPr>
          <a:xfrm>
            <a:off x="500144" y="3124018"/>
            <a:ext cx="3056786" cy="212366"/>
          </a:xfrm>
          <a:noFill/>
        </p:spPr>
        <p:txBody>
          <a:bodyPr wrap="square" lIns="0" tIns="0" rIns="0" bIns="0">
            <a:spAutoFit/>
          </a:bodyPr>
          <a:lstStyle>
            <a:lvl1pPr marL="0" indent="0">
              <a:spcBef>
                <a:spcPts val="0"/>
              </a:spcBef>
              <a:buNone/>
              <a:defRPr sz="1200" b="1" spc="0" baseline="0">
                <a:solidFill>
                  <a:srgbClr val="08023F"/>
                </a:solidFill>
                <a:latin typeface="Segoe UI" panose="020B0502040204020203" pitchFamily="34" charset="0"/>
                <a:cs typeface="Segoe UI" panose="020B0502040204020203" pitchFamily="34" charset="0"/>
              </a:defRPr>
            </a:lvl1pPr>
          </a:lstStyle>
          <a:p>
            <a:pPr lvl="0"/>
            <a:r>
              <a:rPr lang="en-US" dirty="0"/>
              <a:t>Speaker two name</a:t>
            </a:r>
          </a:p>
        </p:txBody>
      </p:sp>
      <p:sp>
        <p:nvSpPr>
          <p:cNvPr id="10" name="Text Placeholder 4">
            <a:extLst>
              <a:ext uri="{FF2B5EF4-FFF2-40B4-BE49-F238E27FC236}">
                <a16:creationId xmlns:a16="http://schemas.microsoft.com/office/drawing/2014/main" id="{123A88AD-7DAB-4B6E-963C-F0374313C22B}"/>
              </a:ext>
            </a:extLst>
          </p:cNvPr>
          <p:cNvSpPr>
            <a:spLocks noGrp="1"/>
          </p:cNvSpPr>
          <p:nvPr>
            <p:ph type="body" sz="quarter" idx="17" hasCustomPrompt="1"/>
          </p:nvPr>
        </p:nvSpPr>
        <p:spPr>
          <a:xfrm>
            <a:off x="500144" y="3354852"/>
            <a:ext cx="3056786" cy="185820"/>
          </a:xfrm>
          <a:noFill/>
        </p:spPr>
        <p:txBody>
          <a:bodyPr wrap="square" lIns="0" tIns="0" rIns="0" bIns="0">
            <a:spAutoFit/>
          </a:bodyPr>
          <a:lstStyle>
            <a:lvl1pPr marL="0" indent="0">
              <a:spcBef>
                <a:spcPts val="0"/>
              </a:spcBef>
              <a:buNone/>
              <a:defRPr sz="1050" spc="0" baseline="0">
                <a:solidFill>
                  <a:srgbClr val="08023F"/>
                </a:solidFill>
                <a:latin typeface="Segoe UI" panose="020B0502040204020203" pitchFamily="34" charset="0"/>
                <a:cs typeface="Segoe UI" panose="020B0502040204020203" pitchFamily="34" charset="0"/>
              </a:defRPr>
            </a:lvl1pPr>
          </a:lstStyle>
          <a:p>
            <a:pPr lvl="0"/>
            <a:r>
              <a:rPr lang="en-US" dirty="0"/>
              <a:t>Speaker two subtitle text</a:t>
            </a:r>
          </a:p>
        </p:txBody>
      </p:sp>
      <p:sp>
        <p:nvSpPr>
          <p:cNvPr id="17" name="Text Placeholder 16">
            <a:extLst>
              <a:ext uri="{FF2B5EF4-FFF2-40B4-BE49-F238E27FC236}">
                <a16:creationId xmlns:a16="http://schemas.microsoft.com/office/drawing/2014/main" id="{544298FB-4D19-41BA-A056-1EB0429A64C2}"/>
              </a:ext>
            </a:extLst>
          </p:cNvPr>
          <p:cNvSpPr>
            <a:spLocks noGrp="1"/>
          </p:cNvSpPr>
          <p:nvPr>
            <p:ph type="body" sz="quarter" idx="19" hasCustomPrompt="1"/>
          </p:nvPr>
        </p:nvSpPr>
        <p:spPr>
          <a:xfrm>
            <a:off x="500144" y="1621790"/>
            <a:ext cx="2956762" cy="291937"/>
          </a:xfrm>
          <a:prstGeom prst="rect">
            <a:avLst/>
          </a:prstGeom>
        </p:spPr>
        <p:txBody>
          <a:bodyPr/>
          <a:lstStyle>
            <a:lvl1pPr>
              <a:defRPr sz="2063" b="1" i="0">
                <a:solidFill>
                  <a:srgbClr val="08023F"/>
                </a:solidFill>
              </a:defRPr>
            </a:lvl1pPr>
          </a:lstStyle>
          <a:p>
            <a:r>
              <a:rPr lang="en-US" dirty="0">
                <a:solidFill>
                  <a:srgbClr val="08023F"/>
                </a:solidFill>
                <a:latin typeface="Segoe UI Semibold (Headings)"/>
                <a:cs typeface="Segoe UI" panose="020B0502040204020203" pitchFamily="34" charset="0"/>
              </a:rPr>
              <a:t>Presentation title </a:t>
            </a:r>
          </a:p>
        </p:txBody>
      </p:sp>
      <p:pic>
        <p:nvPicPr>
          <p:cNvPr id="8" name="Picture 7">
            <a:extLst>
              <a:ext uri="{FF2B5EF4-FFF2-40B4-BE49-F238E27FC236}">
                <a16:creationId xmlns:a16="http://schemas.microsoft.com/office/drawing/2014/main" id="{5839C542-8226-D379-3603-62DB9CE3338B}"/>
              </a:ext>
            </a:extLst>
          </p:cNvPr>
          <p:cNvPicPr>
            <a:picLocks noChangeAspect="1"/>
          </p:cNvPicPr>
          <p:nvPr userDrawn="1"/>
        </p:nvPicPr>
        <p:blipFill>
          <a:blip r:embed="rId2"/>
          <a:stretch>
            <a:fillRect/>
          </a:stretch>
        </p:blipFill>
        <p:spPr>
          <a:xfrm>
            <a:off x="3337719" y="1639094"/>
            <a:ext cx="2468563" cy="1865313"/>
          </a:xfrm>
          <a:prstGeom prst="rect">
            <a:avLst/>
          </a:prstGeom>
        </p:spPr>
      </p:pic>
      <p:pic>
        <p:nvPicPr>
          <p:cNvPr id="18" name="Picture 17">
            <a:extLst>
              <a:ext uri="{FF2B5EF4-FFF2-40B4-BE49-F238E27FC236}">
                <a16:creationId xmlns:a16="http://schemas.microsoft.com/office/drawing/2014/main" id="{AEC3409D-5A13-B030-03A4-99AD4A61BD94}"/>
              </a:ext>
            </a:extLst>
          </p:cNvPr>
          <p:cNvPicPr>
            <a:picLocks noChangeAspect="1"/>
          </p:cNvPicPr>
          <p:nvPr userDrawn="1"/>
        </p:nvPicPr>
        <p:blipFill>
          <a:blip r:embed="rId3"/>
          <a:stretch>
            <a:fillRect/>
          </a:stretch>
        </p:blipFill>
        <p:spPr>
          <a:xfrm>
            <a:off x="4771571" y="2247253"/>
            <a:ext cx="4372429" cy="2914001"/>
          </a:xfrm>
          <a:prstGeom prst="rect">
            <a:avLst/>
          </a:prstGeom>
        </p:spPr>
      </p:pic>
      <p:sp>
        <p:nvSpPr>
          <p:cNvPr id="11" name="TextBox 10">
            <a:extLst>
              <a:ext uri="{FF2B5EF4-FFF2-40B4-BE49-F238E27FC236}">
                <a16:creationId xmlns:a16="http://schemas.microsoft.com/office/drawing/2014/main" id="{C74BB349-E93D-F78B-9275-58D3025BD773}"/>
              </a:ext>
            </a:extLst>
          </p:cNvPr>
          <p:cNvSpPr txBox="1"/>
          <p:nvPr userDrawn="1"/>
        </p:nvSpPr>
        <p:spPr>
          <a:xfrm>
            <a:off x="236182" y="4771178"/>
            <a:ext cx="2471751"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IN" sz="1000" b="0" i="0" u="none" strike="noStrike" baseline="0" dirty="0">
                <a:solidFill>
                  <a:schemeClr val="tx1"/>
                </a:solidFill>
                <a:latin typeface="Poppins Light" pitchFamily="2" charset="77"/>
                <a:cs typeface="Poppins Light" pitchFamily="2" charset="77"/>
              </a:rPr>
              <a:t>Azure Developer Community TN</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
        <p:nvSpPr>
          <p:cNvPr id="12" name="TextBox 11">
            <a:extLst>
              <a:ext uri="{FF2B5EF4-FFF2-40B4-BE49-F238E27FC236}">
                <a16:creationId xmlns:a16="http://schemas.microsoft.com/office/drawing/2014/main" id="{85ADDEDD-0E46-6DD5-1FBD-8E12C7A8C14D}"/>
              </a:ext>
            </a:extLst>
          </p:cNvPr>
          <p:cNvSpPr txBox="1"/>
          <p:nvPr userDrawn="1"/>
        </p:nvSpPr>
        <p:spPr>
          <a:xfrm>
            <a:off x="6951504" y="4771178"/>
            <a:ext cx="219249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000" b="0" i="0" u="none" strike="noStrike" baseline="0" dirty="0">
                <a:solidFill>
                  <a:schemeClr val="tx1"/>
                </a:solidFill>
                <a:latin typeface="Poppins" pitchFamily="2" charset="77"/>
                <a:cs typeface="Poppins" pitchFamily="2" charset="77"/>
              </a:rPr>
              <a:t>#</a:t>
            </a:r>
            <a:r>
              <a:rPr lang="en-US" sz="1000" b="0" i="0" u="none" strike="noStrike" baseline="0" dirty="0">
                <a:solidFill>
                  <a:schemeClr val="tx1"/>
                </a:solidFill>
                <a:latin typeface="Poppins Light" pitchFamily="2" charset="77"/>
                <a:cs typeface="Poppins Light" pitchFamily="2" charset="77"/>
              </a:rPr>
              <a:t>Innovation AI Chennai</a:t>
            </a:r>
            <a:endParaRPr lang="en-US" sz="1000" b="0" i="0" dirty="0">
              <a:solidFill>
                <a:schemeClr val="tx1"/>
              </a:solidFill>
              <a:latin typeface="Poppins Light" pitchFamily="2" charset="77"/>
              <a:cs typeface="Poppins Light" pitchFamily="2" charset="77"/>
            </a:endParaRPr>
          </a:p>
          <a:p>
            <a:endParaRPr lang="en-IN" sz="1000" b="0" dirty="0">
              <a:solidFill>
                <a:schemeClr val="tx1"/>
              </a:solidFill>
              <a:latin typeface="Poppins" pitchFamily="2" charset="77"/>
              <a:cs typeface="Poppins" pitchFamily="2" charset="77"/>
            </a:endParaRPr>
          </a:p>
        </p:txBody>
      </p:sp>
    </p:spTree>
    <p:extLst>
      <p:ext uri="{BB962C8B-B14F-4D97-AF65-F5344CB8AC3E}">
        <p14:creationId xmlns:p14="http://schemas.microsoft.com/office/powerpoint/2010/main" val="7480032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5C65E-7596-4A41-9248-DD166CEB9423}"/>
              </a:ext>
            </a:extLst>
          </p:cNvPr>
          <p:cNvSpPr>
            <a:spLocks noGrp="1"/>
          </p:cNvSpPr>
          <p:nvPr>
            <p:ph type="ctrTitle"/>
          </p:nvPr>
        </p:nvSpPr>
        <p:spPr>
          <a:xfrm>
            <a:off x="1143000" y="841772"/>
            <a:ext cx="6858000" cy="17907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B5A88431-E960-1E4B-8BB7-5BC05608C81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D876383-C598-DB4D-B0E2-160CC478BF95}"/>
              </a:ext>
            </a:extLst>
          </p:cNvPr>
          <p:cNvSpPr>
            <a:spLocks noGrp="1"/>
          </p:cNvSpPr>
          <p:nvPr>
            <p:ph type="dt" sz="half" idx="10"/>
          </p:nvPr>
        </p:nvSpPr>
        <p:spPr/>
        <p:txBody>
          <a:bodyPr/>
          <a:lstStyle/>
          <a:p>
            <a:fld id="{2B498365-2101-364F-915D-5DAD75855FD8}" type="datetimeFigureOut">
              <a:rPr lang="en-US" smtClean="0"/>
              <a:t>9/11/2026</a:t>
            </a:fld>
            <a:endParaRPr lang="en-US"/>
          </a:p>
        </p:txBody>
      </p:sp>
      <p:sp>
        <p:nvSpPr>
          <p:cNvPr id="5" name="Footer Placeholder 4">
            <a:extLst>
              <a:ext uri="{FF2B5EF4-FFF2-40B4-BE49-F238E27FC236}">
                <a16:creationId xmlns:a16="http://schemas.microsoft.com/office/drawing/2014/main" id="{BD8279E3-09D7-FB4A-88BB-7E7C45955F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5E6BA0-1D4D-6540-9FA7-B3009057A2A9}"/>
              </a:ext>
            </a:extLst>
          </p:cNvPr>
          <p:cNvSpPr>
            <a:spLocks noGrp="1"/>
          </p:cNvSpPr>
          <p:nvPr>
            <p:ph type="sldNum" sz="quarter" idx="12"/>
          </p:nvPr>
        </p:nvSpPr>
        <p:spPr/>
        <p:txBody>
          <a:bodyPr/>
          <a:lstStyle/>
          <a:p>
            <a:fld id="{3ACE678E-F357-854C-A848-24845DDEF856}" type="slidenum">
              <a:rPr lang="en-US" smtClean="0"/>
              <a:t>‹#›</a:t>
            </a:fld>
            <a:endParaRPr lang="en-US"/>
          </a:p>
        </p:txBody>
      </p:sp>
    </p:spTree>
    <p:extLst>
      <p:ext uri="{BB962C8B-B14F-4D97-AF65-F5344CB8AC3E}">
        <p14:creationId xmlns:p14="http://schemas.microsoft.com/office/powerpoint/2010/main" val="3491631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1" r:id="rId1"/>
    <p:sldLayoutId id="2147483653" r:id="rId2"/>
    <p:sldLayoutId id="2147483654" r:id="rId3"/>
    <p:sldLayoutId id="2147483655" r:id="rId4"/>
    <p:sldLayoutId id="2147483656" r:id="rId5"/>
    <p:sldLayoutId id="2147483657" r:id="rId6"/>
    <p:sldLayoutId id="2147483660" r:id="rId7"/>
    <p:sldLayoutId id="2147483662" r:id="rId8"/>
    <p:sldLayoutId id="2147483663"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6.jpe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jp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1.png"/><Relationship Id="rId7"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4.png"/><Relationship Id="rId11"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28.png"/><Relationship Id="rId4" Type="http://schemas.openxmlformats.org/officeDocument/2006/relationships/image" Target="../media/image40.pn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44.png"/><Relationship Id="rId7"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38.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5D69CCE-41C0-F3EB-9E95-AF9EFFD69135}"/>
              </a:ext>
            </a:extLst>
          </p:cNvPr>
          <p:cNvPicPr>
            <a:picLocks noChangeAspect="1"/>
          </p:cNvPicPr>
          <p:nvPr/>
        </p:nvPicPr>
        <p:blipFill>
          <a:blip r:embed="rId3"/>
          <a:stretch>
            <a:fillRect/>
          </a:stretch>
        </p:blipFill>
        <p:spPr>
          <a:xfrm>
            <a:off x="4933115" y="2528906"/>
            <a:ext cx="2279777" cy="1282375"/>
          </a:xfrm>
          <a:prstGeom prst="rect">
            <a:avLst/>
          </a:prstGeom>
        </p:spPr>
      </p:pic>
      <p:pic>
        <p:nvPicPr>
          <p:cNvPr id="33" name="Picture 32" descr="Shape, circle&#10;&#10;Description automatically generated">
            <a:extLst>
              <a:ext uri="{FF2B5EF4-FFF2-40B4-BE49-F238E27FC236}">
                <a16:creationId xmlns:a16="http://schemas.microsoft.com/office/drawing/2014/main" id="{7D380F26-78F6-3843-8106-B3DA36860828}"/>
              </a:ext>
            </a:extLst>
          </p:cNvPr>
          <p:cNvPicPr>
            <a:picLocks noChangeAspect="1"/>
          </p:cNvPicPr>
          <p:nvPr/>
        </p:nvPicPr>
        <p:blipFill>
          <a:blip r:embed="rId4">
            <a:alphaModFix amt="10000"/>
          </a:blip>
          <a:stretch>
            <a:fillRect/>
          </a:stretch>
        </p:blipFill>
        <p:spPr>
          <a:xfrm>
            <a:off x="0" y="102394"/>
            <a:ext cx="2468828" cy="1828761"/>
          </a:xfrm>
          <a:prstGeom prst="rect">
            <a:avLst/>
          </a:prstGeom>
          <a:effectLst>
            <a:glow>
              <a:schemeClr val="accent1"/>
            </a:glow>
          </a:effectLst>
        </p:spPr>
      </p:pic>
      <p:pic>
        <p:nvPicPr>
          <p:cNvPr id="35" name="Picture 34" descr="A picture containing linedrawing&#10;&#10;Description automatically generated">
            <a:extLst>
              <a:ext uri="{FF2B5EF4-FFF2-40B4-BE49-F238E27FC236}">
                <a16:creationId xmlns:a16="http://schemas.microsoft.com/office/drawing/2014/main" id="{97D2DFD9-BE9B-1541-BB47-A73DE9D73A86}"/>
              </a:ext>
            </a:extLst>
          </p:cNvPr>
          <p:cNvPicPr>
            <a:picLocks noChangeAspect="1"/>
          </p:cNvPicPr>
          <p:nvPr/>
        </p:nvPicPr>
        <p:blipFill>
          <a:blip r:embed="rId5">
            <a:alphaModFix amt="39000"/>
          </a:blip>
          <a:stretch>
            <a:fillRect/>
          </a:stretch>
        </p:blipFill>
        <p:spPr>
          <a:xfrm>
            <a:off x="6953092" y="0"/>
            <a:ext cx="2108321" cy="2016655"/>
          </a:xfrm>
          <a:prstGeom prst="rect">
            <a:avLst/>
          </a:prstGeom>
        </p:spPr>
      </p:pic>
      <p:pic>
        <p:nvPicPr>
          <p:cNvPr id="37" name="Picture 36" descr="Shape, circle&#10;&#10;Description automatically generated">
            <a:extLst>
              <a:ext uri="{FF2B5EF4-FFF2-40B4-BE49-F238E27FC236}">
                <a16:creationId xmlns:a16="http://schemas.microsoft.com/office/drawing/2014/main" id="{EB7286E2-B465-4A46-83CB-3DEFAE9A9F03}"/>
              </a:ext>
            </a:extLst>
          </p:cNvPr>
          <p:cNvPicPr>
            <a:picLocks noChangeAspect="1"/>
          </p:cNvPicPr>
          <p:nvPr/>
        </p:nvPicPr>
        <p:blipFill>
          <a:blip r:embed="rId6">
            <a:alphaModFix amt="23000"/>
          </a:blip>
          <a:stretch>
            <a:fillRect/>
          </a:stretch>
        </p:blipFill>
        <p:spPr>
          <a:xfrm>
            <a:off x="7115075" y="3254273"/>
            <a:ext cx="1784353" cy="1486961"/>
          </a:xfrm>
          <a:prstGeom prst="rect">
            <a:avLst/>
          </a:prstGeom>
        </p:spPr>
      </p:pic>
      <p:pic>
        <p:nvPicPr>
          <p:cNvPr id="39" name="Picture 38" descr="A picture containing building, old, outdoor, black&#10;&#10;Description automatically generated">
            <a:extLst>
              <a:ext uri="{FF2B5EF4-FFF2-40B4-BE49-F238E27FC236}">
                <a16:creationId xmlns:a16="http://schemas.microsoft.com/office/drawing/2014/main" id="{60EA9BDF-44A6-8F4F-BA77-0A2B45342A7B}"/>
              </a:ext>
            </a:extLst>
          </p:cNvPr>
          <p:cNvPicPr>
            <a:picLocks noChangeAspect="1"/>
          </p:cNvPicPr>
          <p:nvPr/>
        </p:nvPicPr>
        <p:blipFill>
          <a:blip r:embed="rId7">
            <a:alphaModFix amt="35000"/>
          </a:blip>
          <a:stretch>
            <a:fillRect/>
          </a:stretch>
        </p:blipFill>
        <p:spPr>
          <a:xfrm>
            <a:off x="214418" y="3405972"/>
            <a:ext cx="2254410" cy="1183565"/>
          </a:xfrm>
          <a:prstGeom prst="rect">
            <a:avLst/>
          </a:prstGeom>
        </p:spPr>
      </p:pic>
      <p:pic>
        <p:nvPicPr>
          <p:cNvPr id="4" name="Picture 3">
            <a:extLst>
              <a:ext uri="{FF2B5EF4-FFF2-40B4-BE49-F238E27FC236}">
                <a16:creationId xmlns:a16="http://schemas.microsoft.com/office/drawing/2014/main" id="{17A1E8A5-D4CA-3F4C-953E-6F5B887146CC}"/>
              </a:ext>
            </a:extLst>
          </p:cNvPr>
          <p:cNvPicPr>
            <a:picLocks noChangeAspect="1"/>
          </p:cNvPicPr>
          <p:nvPr/>
        </p:nvPicPr>
        <p:blipFill>
          <a:blip r:embed="rId8"/>
          <a:srcRect/>
          <a:stretch/>
        </p:blipFill>
        <p:spPr>
          <a:xfrm>
            <a:off x="2425914" y="1663573"/>
            <a:ext cx="4522974" cy="1144749"/>
          </a:xfrm>
          <a:prstGeom prst="rect">
            <a:avLst/>
          </a:prstGeom>
        </p:spPr>
      </p:pic>
      <p:pic>
        <p:nvPicPr>
          <p:cNvPr id="10" name="Picture 9">
            <a:extLst>
              <a:ext uri="{FF2B5EF4-FFF2-40B4-BE49-F238E27FC236}">
                <a16:creationId xmlns:a16="http://schemas.microsoft.com/office/drawing/2014/main" id="{8EA10054-C6CB-1F71-23A7-3DB3AFDDA00D}"/>
              </a:ext>
            </a:extLst>
          </p:cNvPr>
          <p:cNvPicPr>
            <a:picLocks noChangeAspect="1"/>
          </p:cNvPicPr>
          <p:nvPr/>
        </p:nvPicPr>
        <p:blipFill>
          <a:blip r:embed="rId9"/>
          <a:srcRect/>
          <a:stretch/>
        </p:blipFill>
        <p:spPr>
          <a:xfrm>
            <a:off x="239047" y="2212713"/>
            <a:ext cx="956567" cy="956567"/>
          </a:xfrm>
          <a:prstGeom prst="rect">
            <a:avLst/>
          </a:prstGeom>
        </p:spPr>
      </p:pic>
      <p:pic>
        <p:nvPicPr>
          <p:cNvPr id="12" name="Picture 11">
            <a:extLst>
              <a:ext uri="{FF2B5EF4-FFF2-40B4-BE49-F238E27FC236}">
                <a16:creationId xmlns:a16="http://schemas.microsoft.com/office/drawing/2014/main" id="{B84B0CCF-32C0-B30F-4907-C7B66F095DAE}"/>
              </a:ext>
            </a:extLst>
          </p:cNvPr>
          <p:cNvPicPr>
            <a:picLocks noChangeAspect="1"/>
          </p:cNvPicPr>
          <p:nvPr/>
        </p:nvPicPr>
        <p:blipFill>
          <a:blip r:embed="rId10"/>
          <a:srcRect/>
          <a:stretch/>
        </p:blipFill>
        <p:spPr>
          <a:xfrm>
            <a:off x="7695496" y="2102399"/>
            <a:ext cx="950369" cy="950369"/>
          </a:xfrm>
          <a:prstGeom prst="rect">
            <a:avLst/>
          </a:prstGeom>
        </p:spPr>
      </p:pic>
      <p:sp>
        <p:nvSpPr>
          <p:cNvPr id="3" name="Text 6">
            <a:extLst>
              <a:ext uri="{FF2B5EF4-FFF2-40B4-BE49-F238E27FC236}">
                <a16:creationId xmlns:a16="http://schemas.microsoft.com/office/drawing/2014/main" id="{8D5DB851-C1F0-CA14-3BA1-1C1B00C8034C}"/>
              </a:ext>
            </a:extLst>
          </p:cNvPr>
          <p:cNvSpPr/>
          <p:nvPr/>
        </p:nvSpPr>
        <p:spPr>
          <a:xfrm>
            <a:off x="2584223" y="3821597"/>
            <a:ext cx="4206356" cy="707886"/>
          </a:xfrm>
          <a:prstGeom prst="rect">
            <a:avLst/>
          </a:prstGeom>
          <a:noFill/>
        </p:spPr>
        <p:txBody>
          <a:bodyPr wrap="square">
            <a:spAutoFit/>
          </a:bodyPr>
          <a:lstStyle/>
          <a:p>
            <a:pPr algn="ctr"/>
            <a:r>
              <a:rPr lang="en-US" sz="2000" b="1" dirty="0"/>
              <a:t>Adilakshmi </a:t>
            </a:r>
            <a:r>
              <a:rPr lang="en-US" sz="2000" b="1" dirty="0" err="1"/>
              <a:t>Vadavalli</a:t>
            </a:r>
            <a:r>
              <a:rPr lang="en-US" sz="2000" b="1" dirty="0"/>
              <a:t>, PhD
Solution Architect  |  Capgemini</a:t>
            </a:r>
          </a:p>
        </p:txBody>
      </p:sp>
      <p:sp>
        <p:nvSpPr>
          <p:cNvPr id="5" name="TextBox 4">
            <a:extLst>
              <a:ext uri="{FF2B5EF4-FFF2-40B4-BE49-F238E27FC236}">
                <a16:creationId xmlns:a16="http://schemas.microsoft.com/office/drawing/2014/main" id="{FB703711-5A4F-E63D-362F-40718AC5BFF5}"/>
              </a:ext>
            </a:extLst>
          </p:cNvPr>
          <p:cNvSpPr txBox="1"/>
          <p:nvPr/>
        </p:nvSpPr>
        <p:spPr>
          <a:xfrm>
            <a:off x="2679687" y="572125"/>
            <a:ext cx="4015429" cy="707886"/>
          </a:xfrm>
          <a:prstGeom prst="rect">
            <a:avLst/>
          </a:prstGeom>
          <a:noFill/>
        </p:spPr>
        <p:txBody>
          <a:bodyPr wrap="square">
            <a:spAutoFit/>
          </a:bodyPr>
          <a:lstStyle/>
          <a:p>
            <a:pPr algn="ctr"/>
            <a:r>
              <a:rPr lang="en-US" sz="2000" b="1" dirty="0"/>
              <a:t>Drop. Trigger. Classify. </a:t>
            </a:r>
          </a:p>
          <a:p>
            <a:pPr algn="ctr"/>
            <a:r>
              <a:rPr lang="en-US" sz="2000" b="1" dirty="0"/>
              <a:t>Event-Driven AI on Azure</a:t>
            </a:r>
          </a:p>
        </p:txBody>
      </p:sp>
    </p:spTree>
    <p:extLst>
      <p:ext uri="{BB962C8B-B14F-4D97-AF65-F5344CB8AC3E}">
        <p14:creationId xmlns:p14="http://schemas.microsoft.com/office/powerpoint/2010/main" val="334618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219456"/>
          </a:xfrm>
          <a:prstGeom prst="rect">
            <a:avLst/>
          </a:prstGeom>
          <a:noFill/>
        </p:spPr>
        <p:txBody>
          <a:bodyPr wrap="square" lIns="0" tIns="0" rIns="0" bIns="0" anchor="t">
            <a:spAutoFit/>
          </a:bodyPr>
          <a:lstStyle/>
          <a:p>
            <a:pPr algn="l"/>
            <a:r>
              <a:rPr sz="900" b="1" i="0">
                <a:solidFill>
                  <a:srgbClr val="0078D4"/>
                </a:solidFill>
                <a:latin typeface="Poppins"/>
              </a:rPr>
              <a:t>ABOUT THE SPEAKER</a:t>
            </a:r>
          </a:p>
        </p:txBody>
      </p:sp>
      <p:sp>
        <p:nvSpPr>
          <p:cNvPr id="3" name="TextBox 2"/>
          <p:cNvSpPr txBox="1"/>
          <p:nvPr/>
        </p:nvSpPr>
        <p:spPr>
          <a:xfrm>
            <a:off x="365760" y="786384"/>
            <a:ext cx="8412480" cy="292388"/>
          </a:xfrm>
          <a:prstGeom prst="rect">
            <a:avLst/>
          </a:prstGeom>
          <a:noFill/>
        </p:spPr>
        <p:txBody>
          <a:bodyPr wrap="square" lIns="0" tIns="0" rIns="0" bIns="0" anchor="t">
            <a:spAutoFit/>
          </a:bodyPr>
          <a:lstStyle/>
          <a:p>
            <a:pPr algn="l"/>
            <a:r>
              <a:rPr sz="1900" b="1" i="0" dirty="0">
                <a:solidFill>
                  <a:srgbClr val="08023F"/>
                </a:solidFill>
                <a:latin typeface="Poppins"/>
              </a:rPr>
              <a:t>Adilakshmi </a:t>
            </a:r>
            <a:r>
              <a:rPr sz="1900" b="1" i="0" dirty="0" err="1">
                <a:solidFill>
                  <a:srgbClr val="08023F"/>
                </a:solidFill>
                <a:latin typeface="Poppins"/>
              </a:rPr>
              <a:t>Vadavalli</a:t>
            </a:r>
            <a:r>
              <a:rPr sz="1900" b="1" i="0" dirty="0">
                <a:solidFill>
                  <a:srgbClr val="08023F"/>
                </a:solidFill>
                <a:latin typeface="Poppins"/>
              </a:rPr>
              <a:t>, PhD</a:t>
            </a:r>
          </a:p>
        </p:txBody>
      </p:sp>
      <p:sp>
        <p:nvSpPr>
          <p:cNvPr id="4" name="TextBox 3"/>
          <p:cNvSpPr txBox="1"/>
          <p:nvPr/>
        </p:nvSpPr>
        <p:spPr>
          <a:xfrm>
            <a:off x="365760" y="1207008"/>
            <a:ext cx="8412480" cy="161583"/>
          </a:xfrm>
          <a:prstGeom prst="rect">
            <a:avLst/>
          </a:prstGeom>
          <a:noFill/>
        </p:spPr>
        <p:txBody>
          <a:bodyPr wrap="square" lIns="0" tIns="0" rIns="0" bIns="0" anchor="t">
            <a:spAutoFit/>
          </a:bodyPr>
          <a:lstStyle/>
          <a:p>
            <a:pPr algn="l"/>
            <a:r>
              <a:rPr sz="1050" b="0" i="0" dirty="0">
                <a:solidFill>
                  <a:srgbClr val="006E74"/>
                </a:solidFill>
                <a:latin typeface="Poppins"/>
              </a:rPr>
              <a:t>Solution Architect  |  AWS &amp; Azure Specialist  |  Capgemini</a:t>
            </a:r>
          </a:p>
        </p:txBody>
      </p:sp>
      <p:sp>
        <p:nvSpPr>
          <p:cNvPr id="7" name="TextBox 6"/>
          <p:cNvSpPr txBox="1"/>
          <p:nvPr/>
        </p:nvSpPr>
        <p:spPr>
          <a:xfrm>
            <a:off x="2597727" y="1810169"/>
            <a:ext cx="6180513" cy="1257780"/>
          </a:xfrm>
          <a:prstGeom prst="rect">
            <a:avLst/>
          </a:prstGeom>
          <a:noFill/>
        </p:spPr>
        <p:txBody>
          <a:bodyPr wrap="square" lIns="0" tIns="0" rIns="0" bIns="0">
            <a:spAutoFit/>
          </a:bodyPr>
          <a:lstStyle/>
          <a:p>
            <a:pPr marL="171450" indent="-171450">
              <a:lnSpc>
                <a:spcPct val="112000"/>
              </a:lnSpc>
              <a:spcAft>
                <a:spcPts val="600"/>
              </a:spcAft>
              <a:buFont typeface="Arial" panose="020B0604020202020204" pitchFamily="34" charset="0"/>
              <a:buChar char="•"/>
            </a:pPr>
            <a:r>
              <a:rPr sz="1000" b="0" i="0" dirty="0">
                <a:solidFill>
                  <a:srgbClr val="08023F"/>
                </a:solidFill>
                <a:latin typeface="Poppins Light"/>
              </a:rPr>
              <a:t>Extensive experience across data science, cloud solution architecture, and enterprise AI delivery.</a:t>
            </a:r>
          </a:p>
          <a:p>
            <a:pPr marL="171450" indent="-171450">
              <a:lnSpc>
                <a:spcPct val="112000"/>
              </a:lnSpc>
              <a:spcAft>
                <a:spcPts val="600"/>
              </a:spcAft>
              <a:buFont typeface="Arial" panose="020B0604020202020204" pitchFamily="34" charset="0"/>
              <a:buChar char="•"/>
            </a:pPr>
            <a:r>
              <a:rPr sz="1000" b="0" i="0" dirty="0">
                <a:solidFill>
                  <a:srgbClr val="08023F"/>
                </a:solidFill>
                <a:latin typeface="Poppins Light"/>
              </a:rPr>
              <a:t>AWS &amp; Azure specialist, designing production-grade ML and GenAI systems for global clients.</a:t>
            </a:r>
          </a:p>
          <a:p>
            <a:pPr marL="171450" indent="-171450">
              <a:lnSpc>
                <a:spcPct val="112000"/>
              </a:lnSpc>
              <a:spcAft>
                <a:spcPts val="600"/>
              </a:spcAft>
              <a:buFont typeface="Arial" panose="020B0604020202020204" pitchFamily="34" charset="0"/>
              <a:buChar char="•"/>
            </a:pPr>
            <a:r>
              <a:rPr sz="1000" b="0" i="0" dirty="0">
                <a:solidFill>
                  <a:srgbClr val="08023F"/>
                </a:solidFill>
                <a:latin typeface="Poppins Light"/>
              </a:rPr>
              <a:t>Focus areas: </a:t>
            </a:r>
            <a:r>
              <a:rPr sz="1000" b="0" i="0" dirty="0" err="1">
                <a:solidFill>
                  <a:srgbClr val="08023F"/>
                </a:solidFill>
                <a:latin typeface="Poppins Light"/>
              </a:rPr>
              <a:t>MLOps</a:t>
            </a:r>
            <a:r>
              <a:rPr sz="1000" b="0" i="0" dirty="0">
                <a:solidFill>
                  <a:srgbClr val="08023F"/>
                </a:solidFill>
                <a:latin typeface="Poppins Light"/>
              </a:rPr>
              <a:t>, Generative AI, and Agentic AI systems — from prototypes to production.</a:t>
            </a:r>
          </a:p>
          <a:p>
            <a:pPr marL="171450" indent="-171450">
              <a:lnSpc>
                <a:spcPct val="112000"/>
              </a:lnSpc>
              <a:spcAft>
                <a:spcPts val="600"/>
              </a:spcAft>
              <a:buFont typeface="Arial" panose="020B0604020202020204" pitchFamily="34" charset="0"/>
              <a:buChar char="•"/>
            </a:pPr>
            <a:r>
              <a:rPr sz="1000" b="0" i="0" dirty="0">
                <a:solidFill>
                  <a:srgbClr val="08023F"/>
                </a:solidFill>
                <a:latin typeface="Poppins Light"/>
              </a:rPr>
              <a:t>Regularly engages with academia through industry expert sessions, FDPs, and </a:t>
            </a:r>
            <a:r>
              <a:rPr lang="en-US" sz="1000" dirty="0">
                <a:solidFill>
                  <a:srgbClr val="08023F"/>
                </a:solidFill>
                <a:latin typeface="Poppins Light"/>
              </a:rPr>
              <a:t>developer community connects</a:t>
            </a:r>
            <a:endParaRPr lang="en-US" sz="1000" b="0" i="0" dirty="0">
              <a:solidFill>
                <a:srgbClr val="08023F"/>
              </a:solidFill>
              <a:latin typeface="Poppins Light"/>
            </a:endParaRPr>
          </a:p>
        </p:txBody>
      </p:sp>
      <p:sp>
        <p:nvSpPr>
          <p:cNvPr id="8" name="Rounded Rectangle 7"/>
          <p:cNvSpPr/>
          <p:nvPr/>
        </p:nvSpPr>
        <p:spPr>
          <a:xfrm>
            <a:off x="365760" y="3566160"/>
            <a:ext cx="8412480" cy="1074420"/>
          </a:xfrm>
          <a:prstGeom prst="roundRect">
            <a:avLst>
              <a:gd name="adj" fmla="val 5106"/>
            </a:avLst>
          </a:prstGeom>
          <a:solidFill>
            <a:srgbClr val="E8F1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3"/>
          <a:stretch>
            <a:fillRect/>
          </a:stretch>
        </p:blipFill>
        <p:spPr>
          <a:xfrm>
            <a:off x="502920" y="3703320"/>
            <a:ext cx="800100" cy="800100"/>
          </a:xfrm>
          <a:prstGeom prst="rect">
            <a:avLst/>
          </a:prstGeom>
        </p:spPr>
      </p:pic>
      <p:sp>
        <p:nvSpPr>
          <p:cNvPr id="10" name="TextBox 9"/>
          <p:cNvSpPr txBox="1"/>
          <p:nvPr/>
        </p:nvSpPr>
        <p:spPr>
          <a:xfrm>
            <a:off x="1531620" y="3730752"/>
            <a:ext cx="5943600" cy="320040"/>
          </a:xfrm>
          <a:prstGeom prst="rect">
            <a:avLst/>
          </a:prstGeom>
          <a:noFill/>
        </p:spPr>
        <p:txBody>
          <a:bodyPr wrap="square" lIns="0" tIns="0" rIns="0" bIns="0" anchor="t">
            <a:spAutoFit/>
          </a:bodyPr>
          <a:lstStyle/>
          <a:p>
            <a:pPr algn="l"/>
            <a:r>
              <a:rPr sz="1200" b="1" i="0">
                <a:solidFill>
                  <a:srgbClr val="005A9E"/>
                </a:solidFill>
                <a:latin typeface="Poppins"/>
              </a:rPr>
              <a:t>Let’s Connect on LinkedIn</a:t>
            </a:r>
          </a:p>
        </p:txBody>
      </p:sp>
      <p:sp>
        <p:nvSpPr>
          <p:cNvPr id="11" name="TextBox 10"/>
          <p:cNvSpPr txBox="1"/>
          <p:nvPr/>
        </p:nvSpPr>
        <p:spPr>
          <a:xfrm>
            <a:off x="1531620" y="4069080"/>
            <a:ext cx="5943600" cy="365760"/>
          </a:xfrm>
          <a:prstGeom prst="rect">
            <a:avLst/>
          </a:prstGeom>
          <a:noFill/>
        </p:spPr>
        <p:txBody>
          <a:bodyPr wrap="square" lIns="0" tIns="0" rIns="0" bIns="0" anchor="t">
            <a:spAutoFit/>
          </a:bodyPr>
          <a:lstStyle/>
          <a:p>
            <a:pPr algn="l"/>
            <a:r>
              <a:rPr sz="930" b="0" i="0" dirty="0">
                <a:solidFill>
                  <a:srgbClr val="595959"/>
                </a:solidFill>
                <a:latin typeface="Poppins Light"/>
              </a:rPr>
              <a:t>Scan the QR code to view my profile, projects, and future sessions.</a:t>
            </a:r>
          </a:p>
        </p:txBody>
      </p:sp>
      <p:pic>
        <p:nvPicPr>
          <p:cNvPr id="15" name="Picture 14">
            <a:extLst>
              <a:ext uri="{FF2B5EF4-FFF2-40B4-BE49-F238E27FC236}">
                <a16:creationId xmlns:a16="http://schemas.microsoft.com/office/drawing/2014/main" id="{6A132592-0324-6A8E-192F-A5B8941CB9E6}"/>
              </a:ext>
            </a:extLst>
          </p:cNvPr>
          <p:cNvPicPr>
            <a:picLocks noChangeAspect="1"/>
          </p:cNvPicPr>
          <p:nvPr/>
        </p:nvPicPr>
        <p:blipFill>
          <a:blip r:embed="rId4"/>
          <a:stretch>
            <a:fillRect/>
          </a:stretch>
        </p:blipFill>
        <p:spPr>
          <a:xfrm>
            <a:off x="496685" y="1630421"/>
            <a:ext cx="1822423" cy="164592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1202633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219456"/>
          </a:xfrm>
          <a:prstGeom prst="rect">
            <a:avLst/>
          </a:prstGeom>
          <a:noFill/>
        </p:spPr>
        <p:txBody>
          <a:bodyPr wrap="square" lIns="0" tIns="0" rIns="0" bIns="0" anchor="t">
            <a:spAutoFit/>
          </a:bodyPr>
          <a:lstStyle/>
          <a:p>
            <a:pPr algn="l"/>
            <a:r>
              <a:rPr sz="900" b="1" i="0">
                <a:solidFill>
                  <a:srgbClr val="0078D4"/>
                </a:solidFill>
                <a:latin typeface="Poppins"/>
              </a:rPr>
              <a:t>SESSION AGENDA</a:t>
            </a:r>
          </a:p>
        </p:txBody>
      </p:sp>
      <p:sp>
        <p:nvSpPr>
          <p:cNvPr id="3" name="TextBox 2"/>
          <p:cNvSpPr txBox="1"/>
          <p:nvPr/>
        </p:nvSpPr>
        <p:spPr>
          <a:xfrm>
            <a:off x="365760" y="786384"/>
            <a:ext cx="8412480" cy="457200"/>
          </a:xfrm>
          <a:prstGeom prst="rect">
            <a:avLst/>
          </a:prstGeom>
          <a:noFill/>
        </p:spPr>
        <p:txBody>
          <a:bodyPr wrap="square" lIns="0" tIns="0" rIns="0" bIns="0" anchor="t">
            <a:spAutoFit/>
          </a:bodyPr>
          <a:lstStyle/>
          <a:p>
            <a:pPr algn="l"/>
            <a:r>
              <a:rPr sz="2200" b="1" i="0">
                <a:solidFill>
                  <a:srgbClr val="08023F"/>
                </a:solidFill>
                <a:latin typeface="Poppins"/>
              </a:rPr>
              <a:t>What We’ll Cover Today</a:t>
            </a:r>
          </a:p>
        </p:txBody>
      </p:sp>
      <p:sp>
        <p:nvSpPr>
          <p:cNvPr id="4" name="TextBox 3"/>
          <p:cNvSpPr txBox="1"/>
          <p:nvPr/>
        </p:nvSpPr>
        <p:spPr>
          <a:xfrm>
            <a:off x="365760" y="1600200"/>
            <a:ext cx="685800" cy="760095"/>
          </a:xfrm>
          <a:prstGeom prst="rect">
            <a:avLst/>
          </a:prstGeom>
          <a:noFill/>
        </p:spPr>
        <p:txBody>
          <a:bodyPr wrap="square" lIns="0" tIns="0" rIns="0" bIns="0" anchor="ctr">
            <a:spAutoFit/>
          </a:bodyPr>
          <a:lstStyle/>
          <a:p>
            <a:pPr algn="l"/>
            <a:r>
              <a:rPr sz="2400" b="1" i="0">
                <a:solidFill>
                  <a:srgbClr val="0078D4"/>
                </a:solidFill>
                <a:latin typeface="Poppins"/>
              </a:rPr>
              <a:t>01</a:t>
            </a:r>
          </a:p>
        </p:txBody>
      </p:sp>
      <p:sp>
        <p:nvSpPr>
          <p:cNvPr id="5" name="TextBox 4"/>
          <p:cNvSpPr txBox="1"/>
          <p:nvPr/>
        </p:nvSpPr>
        <p:spPr>
          <a:xfrm>
            <a:off x="1188719" y="1600200"/>
            <a:ext cx="2606040" cy="760095"/>
          </a:xfrm>
          <a:prstGeom prst="rect">
            <a:avLst/>
          </a:prstGeom>
          <a:noFill/>
        </p:spPr>
        <p:txBody>
          <a:bodyPr wrap="square" lIns="0" tIns="0" rIns="0" bIns="0" anchor="ctr">
            <a:spAutoFit/>
          </a:bodyPr>
          <a:lstStyle/>
          <a:p>
            <a:pPr algn="l">
              <a:lnSpc>
                <a:spcPct val="105000"/>
              </a:lnSpc>
            </a:pPr>
            <a:r>
              <a:rPr sz="1250" b="1" i="0">
                <a:solidFill>
                  <a:srgbClr val="08023F"/>
                </a:solidFill>
                <a:latin typeface="Poppins"/>
              </a:rPr>
              <a:t>Business Use Case</a:t>
            </a:r>
          </a:p>
        </p:txBody>
      </p:sp>
      <p:sp>
        <p:nvSpPr>
          <p:cNvPr id="6" name="TextBox 5"/>
          <p:cNvSpPr txBox="1"/>
          <p:nvPr/>
        </p:nvSpPr>
        <p:spPr>
          <a:xfrm>
            <a:off x="4023360" y="1600200"/>
            <a:ext cx="4754879" cy="760095"/>
          </a:xfrm>
          <a:prstGeom prst="rect">
            <a:avLst/>
          </a:prstGeom>
          <a:noFill/>
        </p:spPr>
        <p:txBody>
          <a:bodyPr wrap="square" lIns="0" tIns="0" rIns="0" bIns="0" anchor="ctr">
            <a:spAutoFit/>
          </a:bodyPr>
          <a:lstStyle/>
          <a:p>
            <a:pPr algn="l">
              <a:lnSpc>
                <a:spcPct val="110000"/>
              </a:lnSpc>
            </a:pPr>
            <a:r>
              <a:rPr sz="1000" b="0" i="0">
                <a:solidFill>
                  <a:srgbClr val="595959"/>
                </a:solidFill>
                <a:latin typeface="Poppins Light"/>
              </a:rPr>
              <a:t>The manual-review bottleneck, the impact of automating it, and the real challenges we hit building it</a:t>
            </a:r>
          </a:p>
        </p:txBody>
      </p:sp>
      <p:cxnSp>
        <p:nvCxnSpPr>
          <p:cNvPr id="7" name="Connector 6"/>
          <p:cNvCxnSpPr/>
          <p:nvPr/>
        </p:nvCxnSpPr>
        <p:spPr>
          <a:xfrm>
            <a:off x="365760" y="2360295"/>
            <a:ext cx="8412480" cy="0"/>
          </a:xfrm>
          <a:prstGeom prst="line">
            <a:avLst/>
          </a:prstGeom>
          <a:ln w="6350">
            <a:solidFill>
              <a:srgbClr val="E1E6ED"/>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65760" y="2360295"/>
            <a:ext cx="685800" cy="760095"/>
          </a:xfrm>
          <a:prstGeom prst="rect">
            <a:avLst/>
          </a:prstGeom>
          <a:noFill/>
        </p:spPr>
        <p:txBody>
          <a:bodyPr wrap="square" lIns="0" tIns="0" rIns="0" bIns="0" anchor="ctr">
            <a:spAutoFit/>
          </a:bodyPr>
          <a:lstStyle/>
          <a:p>
            <a:pPr algn="l"/>
            <a:r>
              <a:rPr sz="2400" b="1" i="0">
                <a:solidFill>
                  <a:srgbClr val="0078D4"/>
                </a:solidFill>
                <a:latin typeface="Poppins"/>
              </a:rPr>
              <a:t>02</a:t>
            </a:r>
          </a:p>
        </p:txBody>
      </p:sp>
      <p:sp>
        <p:nvSpPr>
          <p:cNvPr id="9" name="TextBox 8"/>
          <p:cNvSpPr txBox="1"/>
          <p:nvPr/>
        </p:nvSpPr>
        <p:spPr>
          <a:xfrm>
            <a:off x="1188719" y="2360295"/>
            <a:ext cx="2606040" cy="760095"/>
          </a:xfrm>
          <a:prstGeom prst="rect">
            <a:avLst/>
          </a:prstGeom>
          <a:noFill/>
        </p:spPr>
        <p:txBody>
          <a:bodyPr wrap="square" lIns="0" tIns="0" rIns="0" bIns="0" anchor="ctr">
            <a:spAutoFit/>
          </a:bodyPr>
          <a:lstStyle/>
          <a:p>
            <a:pPr algn="l">
              <a:lnSpc>
                <a:spcPct val="105000"/>
              </a:lnSpc>
            </a:pPr>
            <a:r>
              <a:rPr sz="1250" b="1" i="0">
                <a:solidFill>
                  <a:srgbClr val="08023F"/>
                </a:solidFill>
                <a:latin typeface="Poppins"/>
              </a:rPr>
              <a:t>Architecture</a:t>
            </a:r>
          </a:p>
        </p:txBody>
      </p:sp>
      <p:sp>
        <p:nvSpPr>
          <p:cNvPr id="10" name="TextBox 9"/>
          <p:cNvSpPr txBox="1"/>
          <p:nvPr/>
        </p:nvSpPr>
        <p:spPr>
          <a:xfrm>
            <a:off x="4023360" y="2360295"/>
            <a:ext cx="4754879" cy="760095"/>
          </a:xfrm>
          <a:prstGeom prst="rect">
            <a:avLst/>
          </a:prstGeom>
          <a:noFill/>
        </p:spPr>
        <p:txBody>
          <a:bodyPr wrap="square" lIns="0" tIns="0" rIns="0" bIns="0" anchor="ctr">
            <a:spAutoFit/>
          </a:bodyPr>
          <a:lstStyle/>
          <a:p>
            <a:pPr algn="l">
              <a:lnSpc>
                <a:spcPct val="110000"/>
              </a:lnSpc>
            </a:pPr>
            <a:r>
              <a:rPr sz="1000" b="0" i="0">
                <a:solidFill>
                  <a:srgbClr val="595959"/>
                </a:solidFill>
                <a:latin typeface="Poppins Light"/>
              </a:rPr>
              <a:t>Upload, event trigger, vision classification, and storage — how the pipeline works end to end</a:t>
            </a:r>
          </a:p>
        </p:txBody>
      </p:sp>
      <p:cxnSp>
        <p:nvCxnSpPr>
          <p:cNvPr id="11" name="Connector 10"/>
          <p:cNvCxnSpPr/>
          <p:nvPr/>
        </p:nvCxnSpPr>
        <p:spPr>
          <a:xfrm>
            <a:off x="365760" y="3120390"/>
            <a:ext cx="8412480" cy="0"/>
          </a:xfrm>
          <a:prstGeom prst="line">
            <a:avLst/>
          </a:prstGeom>
          <a:ln w="6350">
            <a:solidFill>
              <a:srgbClr val="E1E6ED"/>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65760" y="3120390"/>
            <a:ext cx="685800" cy="760095"/>
          </a:xfrm>
          <a:prstGeom prst="rect">
            <a:avLst/>
          </a:prstGeom>
          <a:noFill/>
        </p:spPr>
        <p:txBody>
          <a:bodyPr wrap="square" lIns="0" tIns="0" rIns="0" bIns="0" anchor="ctr">
            <a:spAutoFit/>
          </a:bodyPr>
          <a:lstStyle/>
          <a:p>
            <a:pPr algn="l"/>
            <a:r>
              <a:rPr sz="2400" b="1" i="0">
                <a:solidFill>
                  <a:srgbClr val="0078D4"/>
                </a:solidFill>
                <a:latin typeface="Poppins"/>
              </a:rPr>
              <a:t>03</a:t>
            </a:r>
          </a:p>
        </p:txBody>
      </p:sp>
      <p:sp>
        <p:nvSpPr>
          <p:cNvPr id="13" name="TextBox 12"/>
          <p:cNvSpPr txBox="1"/>
          <p:nvPr/>
        </p:nvSpPr>
        <p:spPr>
          <a:xfrm>
            <a:off x="1188719" y="3402237"/>
            <a:ext cx="2606040" cy="196400"/>
          </a:xfrm>
          <a:prstGeom prst="rect">
            <a:avLst/>
          </a:prstGeom>
          <a:noFill/>
        </p:spPr>
        <p:txBody>
          <a:bodyPr wrap="square" lIns="0" tIns="0" rIns="0" bIns="0" anchor="ctr">
            <a:spAutoFit/>
          </a:bodyPr>
          <a:lstStyle/>
          <a:p>
            <a:pPr>
              <a:lnSpc>
                <a:spcPct val="105000"/>
              </a:lnSpc>
            </a:pPr>
            <a:r>
              <a:rPr lang="en-US" sz="1250" b="1" dirty="0">
                <a:solidFill>
                  <a:srgbClr val="08023F"/>
                </a:solidFill>
                <a:latin typeface="Poppins"/>
              </a:rPr>
              <a:t>Live demo/recording</a:t>
            </a:r>
          </a:p>
        </p:txBody>
      </p:sp>
      <p:sp>
        <p:nvSpPr>
          <p:cNvPr id="14" name="TextBox 13"/>
          <p:cNvSpPr txBox="1"/>
          <p:nvPr/>
        </p:nvSpPr>
        <p:spPr>
          <a:xfrm>
            <a:off x="4023360" y="3334366"/>
            <a:ext cx="4754879" cy="332142"/>
          </a:xfrm>
          <a:prstGeom prst="rect">
            <a:avLst/>
          </a:prstGeom>
          <a:noFill/>
        </p:spPr>
        <p:txBody>
          <a:bodyPr wrap="square" lIns="0" tIns="0" rIns="0" bIns="0" anchor="ctr">
            <a:spAutoFit/>
          </a:bodyPr>
          <a:lstStyle/>
          <a:p>
            <a:pPr>
              <a:lnSpc>
                <a:spcPct val="110000"/>
              </a:lnSpc>
            </a:pPr>
            <a:r>
              <a:rPr lang="en-US" sz="1000" dirty="0">
                <a:solidFill>
                  <a:srgbClr val="595959"/>
                </a:solidFill>
                <a:latin typeface="Poppins Light"/>
              </a:rPr>
              <a:t>Watching an outlet photo move through the pipeline, live or via a recorded run</a:t>
            </a:r>
          </a:p>
        </p:txBody>
      </p:sp>
      <p:cxnSp>
        <p:nvCxnSpPr>
          <p:cNvPr id="15" name="Connector 14"/>
          <p:cNvCxnSpPr/>
          <p:nvPr/>
        </p:nvCxnSpPr>
        <p:spPr>
          <a:xfrm>
            <a:off x="365760" y="3880485"/>
            <a:ext cx="8412480" cy="0"/>
          </a:xfrm>
          <a:prstGeom prst="line">
            <a:avLst/>
          </a:prstGeom>
          <a:ln w="6350">
            <a:solidFill>
              <a:srgbClr val="E1E6ED"/>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5760" y="3880485"/>
            <a:ext cx="685800" cy="760095"/>
          </a:xfrm>
          <a:prstGeom prst="rect">
            <a:avLst/>
          </a:prstGeom>
          <a:noFill/>
        </p:spPr>
        <p:txBody>
          <a:bodyPr wrap="square" lIns="0" tIns="0" rIns="0" bIns="0" anchor="ctr">
            <a:spAutoFit/>
          </a:bodyPr>
          <a:lstStyle/>
          <a:p>
            <a:pPr algn="l"/>
            <a:r>
              <a:rPr sz="2400" b="1" i="0">
                <a:solidFill>
                  <a:srgbClr val="0078D4"/>
                </a:solidFill>
                <a:latin typeface="Poppins"/>
              </a:rPr>
              <a:t>04</a:t>
            </a:r>
          </a:p>
        </p:txBody>
      </p:sp>
      <p:sp>
        <p:nvSpPr>
          <p:cNvPr id="17" name="TextBox 16"/>
          <p:cNvSpPr txBox="1"/>
          <p:nvPr/>
        </p:nvSpPr>
        <p:spPr>
          <a:xfrm>
            <a:off x="1188719" y="4162332"/>
            <a:ext cx="2606040" cy="196400"/>
          </a:xfrm>
          <a:prstGeom prst="rect">
            <a:avLst/>
          </a:prstGeom>
          <a:noFill/>
        </p:spPr>
        <p:txBody>
          <a:bodyPr wrap="square" lIns="0" tIns="0" rIns="0" bIns="0" anchor="ctr">
            <a:spAutoFit/>
          </a:bodyPr>
          <a:lstStyle/>
          <a:p>
            <a:pPr>
              <a:lnSpc>
                <a:spcPct val="105000"/>
              </a:lnSpc>
            </a:pPr>
            <a:r>
              <a:rPr lang="en-US" sz="1250" b="1" dirty="0">
                <a:solidFill>
                  <a:srgbClr val="08023F"/>
                </a:solidFill>
                <a:latin typeface="Poppins"/>
              </a:rPr>
              <a:t>Scaling &amp; Agentic AI</a:t>
            </a:r>
          </a:p>
        </p:txBody>
      </p:sp>
      <p:sp>
        <p:nvSpPr>
          <p:cNvPr id="18" name="TextBox 17"/>
          <p:cNvSpPr txBox="1"/>
          <p:nvPr/>
        </p:nvSpPr>
        <p:spPr>
          <a:xfrm>
            <a:off x="4023360" y="4094461"/>
            <a:ext cx="4754879" cy="332142"/>
          </a:xfrm>
          <a:prstGeom prst="rect">
            <a:avLst/>
          </a:prstGeom>
          <a:noFill/>
        </p:spPr>
        <p:txBody>
          <a:bodyPr wrap="square" lIns="0" tIns="0" rIns="0" bIns="0" anchor="ctr">
            <a:spAutoFit/>
          </a:bodyPr>
          <a:lstStyle/>
          <a:p>
            <a:pPr>
              <a:lnSpc>
                <a:spcPct val="110000"/>
              </a:lnSpc>
            </a:pPr>
            <a:r>
              <a:rPr lang="en-US" sz="1000" dirty="0">
                <a:solidFill>
                  <a:srgbClr val="595959"/>
                </a:solidFill>
                <a:latin typeface="Poppins Light"/>
              </a:rPr>
              <a:t>What breaks at higher volume, the evolved architecture, and what to plan for with Microsoft’s agent framework</a:t>
            </a:r>
          </a:p>
        </p:txBody>
      </p:sp>
    </p:spTree>
    <p:extLst>
      <p:ext uri="{BB962C8B-B14F-4D97-AF65-F5344CB8AC3E}">
        <p14:creationId xmlns:p14="http://schemas.microsoft.com/office/powerpoint/2010/main" val="12026335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219456"/>
          </a:xfrm>
          <a:prstGeom prst="rect">
            <a:avLst/>
          </a:prstGeom>
          <a:noFill/>
        </p:spPr>
        <p:txBody>
          <a:bodyPr wrap="square" lIns="0" tIns="0" rIns="0" bIns="0" anchor="t">
            <a:spAutoFit/>
          </a:bodyPr>
          <a:lstStyle/>
          <a:p>
            <a:pPr algn="l"/>
            <a:r>
              <a:rPr sz="900" b="1" i="0">
                <a:solidFill>
                  <a:srgbClr val="0078D4"/>
                </a:solidFill>
                <a:latin typeface="Poppins"/>
              </a:rPr>
              <a:t>01 · BUSINESS USE CASE</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Verifying Every Outlet Photo, One at a Time</a:t>
            </a:r>
          </a:p>
        </p:txBody>
      </p:sp>
      <p:sp>
        <p:nvSpPr>
          <p:cNvPr id="4" name="Rounded Rectangle 3"/>
          <p:cNvSpPr/>
          <p:nvPr/>
        </p:nvSpPr>
        <p:spPr>
          <a:xfrm>
            <a:off x="365760" y="1371600"/>
            <a:ext cx="4069079" cy="3246120"/>
          </a:xfrm>
          <a:prstGeom prst="roundRect">
            <a:avLst>
              <a:gd name="adj" fmla="val 169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621792" y="1627632"/>
            <a:ext cx="420624" cy="420624"/>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arget_white.png"/>
          <p:cNvPicPr>
            <a:picLocks noChangeAspect="1"/>
          </p:cNvPicPr>
          <p:nvPr/>
        </p:nvPicPr>
        <p:blipFill>
          <a:blip r:embed="rId3"/>
          <a:stretch>
            <a:fillRect/>
          </a:stretch>
        </p:blipFill>
        <p:spPr>
          <a:xfrm>
            <a:off x="716432" y="1722272"/>
            <a:ext cx="231343" cy="231343"/>
          </a:xfrm>
          <a:prstGeom prst="rect">
            <a:avLst/>
          </a:prstGeom>
        </p:spPr>
      </p:pic>
      <p:sp>
        <p:nvSpPr>
          <p:cNvPr id="7" name="TextBox 6"/>
          <p:cNvSpPr txBox="1"/>
          <p:nvPr/>
        </p:nvSpPr>
        <p:spPr>
          <a:xfrm>
            <a:off x="1152144" y="1645920"/>
            <a:ext cx="3063239" cy="365760"/>
          </a:xfrm>
          <a:prstGeom prst="rect">
            <a:avLst/>
          </a:prstGeom>
          <a:noFill/>
        </p:spPr>
        <p:txBody>
          <a:bodyPr wrap="square" lIns="0" tIns="0" rIns="0" bIns="0" anchor="ctr">
            <a:spAutoFit/>
          </a:bodyPr>
          <a:lstStyle/>
          <a:p>
            <a:pPr algn="l"/>
            <a:r>
              <a:rPr sz="1400" b="1" i="0">
                <a:solidFill>
                  <a:srgbClr val="005A9E"/>
                </a:solidFill>
                <a:latin typeface="Poppins"/>
              </a:rPr>
              <a:t>The Ask</a:t>
            </a:r>
          </a:p>
        </p:txBody>
      </p:sp>
      <p:sp>
        <p:nvSpPr>
          <p:cNvPr id="8" name="TextBox 7"/>
          <p:cNvSpPr txBox="1"/>
          <p:nvPr/>
        </p:nvSpPr>
        <p:spPr>
          <a:xfrm>
            <a:off x="621792" y="2331720"/>
            <a:ext cx="3557015" cy="2148839"/>
          </a:xfrm>
          <a:prstGeom prst="rect">
            <a:avLst/>
          </a:prstGeom>
          <a:noFill/>
        </p:spPr>
        <p:txBody>
          <a:bodyPr wrap="square" lIns="0" tIns="0" rIns="0" bIns="0">
            <a:spAutoFit/>
          </a:bodyPr>
          <a:lstStyle/>
          <a:p>
            <a:pPr>
              <a:lnSpc>
                <a:spcPct val="115000"/>
              </a:lnSpc>
              <a:spcAft>
                <a:spcPts val="700"/>
              </a:spcAft>
            </a:pPr>
            <a:r>
              <a:rPr sz="1000" b="0" i="0">
                <a:solidFill>
                  <a:srgbClr val="08023F"/>
                </a:solidFill>
                <a:latin typeface="Poppins Light"/>
              </a:rPr>
              <a:t>●  Field teams photograph shops as proof when an outlet is created or audited</a:t>
            </a:r>
          </a:p>
          <a:p>
            <a:pPr>
              <a:lnSpc>
                <a:spcPct val="115000"/>
              </a:lnSpc>
              <a:spcAft>
                <a:spcPts val="700"/>
              </a:spcAft>
            </a:pPr>
            <a:r>
              <a:rPr sz="1000" b="0" i="0">
                <a:solidFill>
                  <a:srgbClr val="08023F"/>
                </a:solidFill>
                <a:latin typeface="Poppins Light"/>
              </a:rPr>
              <a:t>●  Every photo must be confirmed as a genuine shop image before the record is trusted</a:t>
            </a:r>
          </a:p>
          <a:p>
            <a:pPr>
              <a:lnSpc>
                <a:spcPct val="115000"/>
              </a:lnSpc>
              <a:spcAft>
                <a:spcPts val="700"/>
              </a:spcAft>
            </a:pPr>
            <a:r>
              <a:rPr sz="1000" b="0" i="0">
                <a:solidFill>
                  <a:srgbClr val="08023F"/>
                </a:solidFill>
                <a:latin typeface="Poppins Light"/>
              </a:rPr>
              <a:t>●  Submission volume runs into the thousands of outlets, continuously</a:t>
            </a:r>
          </a:p>
        </p:txBody>
      </p:sp>
      <p:sp>
        <p:nvSpPr>
          <p:cNvPr id="9" name="Rounded Rectangle 8"/>
          <p:cNvSpPr/>
          <p:nvPr/>
        </p:nvSpPr>
        <p:spPr>
          <a:xfrm>
            <a:off x="4709159" y="1371600"/>
            <a:ext cx="4069079" cy="3246120"/>
          </a:xfrm>
          <a:prstGeom prst="roundRect">
            <a:avLst>
              <a:gd name="adj" fmla="val 169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965192" y="1627632"/>
            <a:ext cx="420624" cy="420624"/>
          </a:xfrm>
          <a:prstGeom prst="ellipse">
            <a:avLst/>
          </a:prstGeom>
          <a:solidFill>
            <a:srgbClr val="E04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alerttriangle_white.png"/>
          <p:cNvPicPr>
            <a:picLocks noChangeAspect="1"/>
          </p:cNvPicPr>
          <p:nvPr/>
        </p:nvPicPr>
        <p:blipFill>
          <a:blip r:embed="rId4"/>
          <a:stretch>
            <a:fillRect/>
          </a:stretch>
        </p:blipFill>
        <p:spPr>
          <a:xfrm>
            <a:off x="5059832" y="1722272"/>
            <a:ext cx="231343" cy="231343"/>
          </a:xfrm>
          <a:prstGeom prst="rect">
            <a:avLst/>
          </a:prstGeom>
        </p:spPr>
      </p:pic>
      <p:sp>
        <p:nvSpPr>
          <p:cNvPr id="12" name="TextBox 11"/>
          <p:cNvSpPr txBox="1"/>
          <p:nvPr/>
        </p:nvSpPr>
        <p:spPr>
          <a:xfrm>
            <a:off x="5495544" y="1645920"/>
            <a:ext cx="3063239" cy="365760"/>
          </a:xfrm>
          <a:prstGeom prst="rect">
            <a:avLst/>
          </a:prstGeom>
          <a:noFill/>
        </p:spPr>
        <p:txBody>
          <a:bodyPr wrap="square" lIns="0" tIns="0" rIns="0" bIns="0" anchor="ctr">
            <a:spAutoFit/>
          </a:bodyPr>
          <a:lstStyle/>
          <a:p>
            <a:pPr algn="l"/>
            <a:r>
              <a:rPr sz="1400" b="1" i="0">
                <a:solidFill>
                  <a:srgbClr val="E04820"/>
                </a:solidFill>
                <a:latin typeface="Poppins"/>
              </a:rPr>
              <a:t>The Bottleneck</a:t>
            </a:r>
          </a:p>
        </p:txBody>
      </p:sp>
      <p:sp>
        <p:nvSpPr>
          <p:cNvPr id="13" name="TextBox 12"/>
          <p:cNvSpPr txBox="1"/>
          <p:nvPr/>
        </p:nvSpPr>
        <p:spPr>
          <a:xfrm>
            <a:off x="4965192" y="2331720"/>
            <a:ext cx="3557015" cy="2148839"/>
          </a:xfrm>
          <a:prstGeom prst="rect">
            <a:avLst/>
          </a:prstGeom>
          <a:noFill/>
        </p:spPr>
        <p:txBody>
          <a:bodyPr wrap="square" lIns="0" tIns="0" rIns="0" bIns="0">
            <a:spAutoFit/>
          </a:bodyPr>
          <a:lstStyle/>
          <a:p>
            <a:pPr>
              <a:lnSpc>
                <a:spcPct val="115000"/>
              </a:lnSpc>
              <a:spcAft>
                <a:spcPts val="600"/>
              </a:spcAft>
            </a:pPr>
            <a:r>
              <a:rPr sz="1000" b="0" i="0">
                <a:solidFill>
                  <a:srgbClr val="08023F"/>
                </a:solidFill>
                <a:latin typeface="Poppins Light"/>
              </a:rPr>
              <a:t>●  Manual review runs at roughly one image per minute</a:t>
            </a:r>
          </a:p>
          <a:p>
            <a:pPr>
              <a:lnSpc>
                <a:spcPct val="115000"/>
              </a:lnSpc>
              <a:spcAft>
                <a:spcPts val="600"/>
              </a:spcAft>
            </a:pPr>
            <a:r>
              <a:rPr sz="1000" b="0" i="0">
                <a:solidFill>
                  <a:srgbClr val="08023F"/>
                </a:solidFill>
                <a:latin typeface="Poppins Light"/>
              </a:rPr>
              <a:t>●  Judgment varies from one reviewer to the next</a:t>
            </a:r>
          </a:p>
          <a:p>
            <a:pPr>
              <a:lnSpc>
                <a:spcPct val="115000"/>
              </a:lnSpc>
              <a:spcAft>
                <a:spcPts val="600"/>
              </a:spcAft>
            </a:pPr>
            <a:r>
              <a:rPr sz="1000" b="0" i="0">
                <a:solidFill>
                  <a:srgbClr val="08023F"/>
                </a:solidFill>
                <a:latin typeface="Poppins Light"/>
              </a:rPr>
              <a:t>●  Backlogs delay outlet onboarding and audit sign-off</a:t>
            </a:r>
          </a:p>
          <a:p>
            <a:pPr>
              <a:lnSpc>
                <a:spcPct val="115000"/>
              </a:lnSpc>
              <a:spcAft>
                <a:spcPts val="600"/>
              </a:spcAft>
            </a:pPr>
            <a:r>
              <a:rPr sz="1000" b="0" i="0">
                <a:solidFill>
                  <a:srgbClr val="08023F"/>
                </a:solidFill>
                <a:latin typeface="Poppins Light"/>
              </a:rPr>
              <a:t>●  Doesn’t scale as the field network keeps growing</a:t>
            </a:r>
          </a:p>
        </p:txBody>
      </p:sp>
    </p:spTree>
    <p:extLst>
      <p:ext uri="{BB962C8B-B14F-4D97-AF65-F5344CB8AC3E}">
        <p14:creationId xmlns:p14="http://schemas.microsoft.com/office/powerpoint/2010/main" val="6743265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219456"/>
          </a:xfrm>
          <a:prstGeom prst="rect">
            <a:avLst/>
          </a:prstGeom>
          <a:noFill/>
        </p:spPr>
        <p:txBody>
          <a:bodyPr wrap="square" lIns="0" tIns="0" rIns="0" bIns="0" anchor="t">
            <a:spAutoFit/>
          </a:bodyPr>
          <a:lstStyle/>
          <a:p>
            <a:pPr algn="l"/>
            <a:r>
              <a:rPr sz="900" b="1" i="0">
                <a:solidFill>
                  <a:srgbClr val="0078D4"/>
                </a:solidFill>
                <a:latin typeface="Poppins"/>
              </a:rPr>
              <a:t>01 · BUSINESS USE CASE</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Automation Changes the Math</a:t>
            </a:r>
          </a:p>
        </p:txBody>
      </p:sp>
      <p:sp>
        <p:nvSpPr>
          <p:cNvPr id="4" name="TextBox 3"/>
          <p:cNvSpPr txBox="1"/>
          <p:nvPr/>
        </p:nvSpPr>
        <p:spPr>
          <a:xfrm>
            <a:off x="365760" y="932688"/>
            <a:ext cx="8412480" cy="274320"/>
          </a:xfrm>
          <a:prstGeom prst="rect">
            <a:avLst/>
          </a:prstGeom>
          <a:noFill/>
        </p:spPr>
        <p:txBody>
          <a:bodyPr wrap="square" lIns="0" tIns="0" rIns="0" bIns="0" anchor="t">
            <a:spAutoFit/>
          </a:bodyPr>
          <a:lstStyle/>
          <a:p>
            <a:pPr algn="l"/>
            <a:r>
              <a:rPr sz="930" b="0" i="1">
                <a:solidFill>
                  <a:srgbClr val="595959"/>
                </a:solidFill>
                <a:latin typeface="Poppins Light"/>
              </a:rPr>
              <a:t>Figures below are from a real production deployment of this pattern in the retail sector.</a:t>
            </a:r>
          </a:p>
        </p:txBody>
      </p:sp>
      <p:sp>
        <p:nvSpPr>
          <p:cNvPr id="5" name="Rounded Rectangle 4"/>
          <p:cNvSpPr/>
          <p:nvPr/>
        </p:nvSpPr>
        <p:spPr>
          <a:xfrm>
            <a:off x="365760" y="1417320"/>
            <a:ext cx="1965960" cy="3200400"/>
          </a:xfrm>
          <a:prstGeom prst="roundRect">
            <a:avLst>
              <a:gd name="adj" fmla="val 279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147572" y="1691640"/>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lock_white.png"/>
          <p:cNvPicPr>
            <a:picLocks noChangeAspect="1"/>
          </p:cNvPicPr>
          <p:nvPr/>
        </p:nvPicPr>
        <p:blipFill>
          <a:blip r:embed="rId3"/>
          <a:stretch>
            <a:fillRect/>
          </a:stretch>
        </p:blipFill>
        <p:spPr>
          <a:xfrm>
            <a:off x="1238097" y="1782165"/>
            <a:ext cx="221284" cy="221284"/>
          </a:xfrm>
          <a:prstGeom prst="rect">
            <a:avLst/>
          </a:prstGeom>
        </p:spPr>
      </p:pic>
      <p:sp>
        <p:nvSpPr>
          <p:cNvPr id="8" name="TextBox 7"/>
          <p:cNvSpPr txBox="1"/>
          <p:nvPr/>
        </p:nvSpPr>
        <p:spPr>
          <a:xfrm>
            <a:off x="411480" y="2286000"/>
            <a:ext cx="1874519" cy="640080"/>
          </a:xfrm>
          <a:prstGeom prst="rect">
            <a:avLst/>
          </a:prstGeom>
          <a:noFill/>
        </p:spPr>
        <p:txBody>
          <a:bodyPr wrap="square" lIns="0" tIns="0" rIns="0" bIns="0" anchor="ctr">
            <a:spAutoFit/>
          </a:bodyPr>
          <a:lstStyle/>
          <a:p>
            <a:pPr algn="ctr"/>
            <a:r>
              <a:rPr sz="2200" b="1" i="0">
                <a:solidFill>
                  <a:srgbClr val="005A9E"/>
                </a:solidFill>
                <a:latin typeface="Poppins"/>
              </a:rPr>
              <a:t>100ms</a:t>
            </a:r>
          </a:p>
        </p:txBody>
      </p:sp>
      <p:sp>
        <p:nvSpPr>
          <p:cNvPr id="9" name="TextBox 8"/>
          <p:cNvSpPr txBox="1"/>
          <p:nvPr/>
        </p:nvSpPr>
        <p:spPr>
          <a:xfrm>
            <a:off x="457200" y="3017520"/>
            <a:ext cx="1783080" cy="457200"/>
          </a:xfrm>
          <a:prstGeom prst="rect">
            <a:avLst/>
          </a:prstGeom>
          <a:noFill/>
        </p:spPr>
        <p:txBody>
          <a:bodyPr wrap="square" lIns="0" tIns="0" rIns="0" bIns="0" anchor="t">
            <a:spAutoFit/>
          </a:bodyPr>
          <a:lstStyle/>
          <a:p>
            <a:pPr algn="ctr"/>
            <a:r>
              <a:rPr sz="1000" b="1" i="0">
                <a:solidFill>
                  <a:srgbClr val="08023F"/>
                </a:solidFill>
                <a:latin typeface="Poppins"/>
              </a:rPr>
              <a:t>to classify one photo</a:t>
            </a:r>
          </a:p>
        </p:txBody>
      </p:sp>
      <p:sp>
        <p:nvSpPr>
          <p:cNvPr id="10" name="TextBox 9"/>
          <p:cNvSpPr txBox="1"/>
          <p:nvPr/>
        </p:nvSpPr>
        <p:spPr>
          <a:xfrm>
            <a:off x="457200" y="3520439"/>
            <a:ext cx="1783080" cy="548640"/>
          </a:xfrm>
          <a:prstGeom prst="rect">
            <a:avLst/>
          </a:prstGeom>
          <a:noFill/>
        </p:spPr>
        <p:txBody>
          <a:bodyPr wrap="square" lIns="0" tIns="0" rIns="0" bIns="0" anchor="t">
            <a:spAutoFit/>
          </a:bodyPr>
          <a:lstStyle/>
          <a:p>
            <a:pPr algn="ctr"/>
            <a:r>
              <a:rPr sz="800" b="0" i="1">
                <a:solidFill>
                  <a:srgbClr val="595959"/>
                </a:solidFill>
                <a:latin typeface="Poppins Light"/>
              </a:rPr>
              <a:t>manual review: ~1 per minute</a:t>
            </a:r>
          </a:p>
        </p:txBody>
      </p:sp>
      <p:sp>
        <p:nvSpPr>
          <p:cNvPr id="11" name="Rounded Rectangle 10"/>
          <p:cNvSpPr/>
          <p:nvPr/>
        </p:nvSpPr>
        <p:spPr>
          <a:xfrm>
            <a:off x="2514600" y="1417320"/>
            <a:ext cx="1965960" cy="3200400"/>
          </a:xfrm>
          <a:prstGeom prst="roundRect">
            <a:avLst>
              <a:gd name="adj" fmla="val 279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296412" y="1691640"/>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target_white.png"/>
          <p:cNvPicPr>
            <a:picLocks noChangeAspect="1"/>
          </p:cNvPicPr>
          <p:nvPr/>
        </p:nvPicPr>
        <p:blipFill>
          <a:blip r:embed="rId4"/>
          <a:stretch>
            <a:fillRect/>
          </a:stretch>
        </p:blipFill>
        <p:spPr>
          <a:xfrm>
            <a:off x="3386937" y="1782165"/>
            <a:ext cx="221284" cy="221284"/>
          </a:xfrm>
          <a:prstGeom prst="rect">
            <a:avLst/>
          </a:prstGeom>
        </p:spPr>
      </p:pic>
      <p:sp>
        <p:nvSpPr>
          <p:cNvPr id="14" name="TextBox 13"/>
          <p:cNvSpPr txBox="1"/>
          <p:nvPr/>
        </p:nvSpPr>
        <p:spPr>
          <a:xfrm>
            <a:off x="2560320" y="2286000"/>
            <a:ext cx="1874519" cy="640080"/>
          </a:xfrm>
          <a:prstGeom prst="rect">
            <a:avLst/>
          </a:prstGeom>
          <a:noFill/>
        </p:spPr>
        <p:txBody>
          <a:bodyPr wrap="square" lIns="0" tIns="0" rIns="0" bIns="0" anchor="ctr">
            <a:spAutoFit/>
          </a:bodyPr>
          <a:lstStyle/>
          <a:p>
            <a:pPr algn="ctr"/>
            <a:r>
              <a:rPr sz="2200" b="1" i="0">
                <a:solidFill>
                  <a:srgbClr val="005A9E"/>
                </a:solidFill>
                <a:latin typeface="Poppins"/>
              </a:rPr>
              <a:t>~95%</a:t>
            </a:r>
          </a:p>
        </p:txBody>
      </p:sp>
      <p:sp>
        <p:nvSpPr>
          <p:cNvPr id="15" name="TextBox 14"/>
          <p:cNvSpPr txBox="1"/>
          <p:nvPr/>
        </p:nvSpPr>
        <p:spPr>
          <a:xfrm>
            <a:off x="2606040" y="3017520"/>
            <a:ext cx="1783080" cy="457200"/>
          </a:xfrm>
          <a:prstGeom prst="rect">
            <a:avLst/>
          </a:prstGeom>
          <a:noFill/>
        </p:spPr>
        <p:txBody>
          <a:bodyPr wrap="square" lIns="0" tIns="0" rIns="0" bIns="0" anchor="t">
            <a:spAutoFit/>
          </a:bodyPr>
          <a:lstStyle/>
          <a:p>
            <a:pPr algn="ctr"/>
            <a:r>
              <a:rPr sz="1000" b="1" i="0">
                <a:solidFill>
                  <a:srgbClr val="08023F"/>
                </a:solidFill>
                <a:latin typeface="Poppins"/>
              </a:rPr>
              <a:t>model accuracy</a:t>
            </a:r>
          </a:p>
        </p:txBody>
      </p:sp>
      <p:sp>
        <p:nvSpPr>
          <p:cNvPr id="16" name="TextBox 15"/>
          <p:cNvSpPr txBox="1"/>
          <p:nvPr/>
        </p:nvSpPr>
        <p:spPr>
          <a:xfrm>
            <a:off x="2606040" y="3520439"/>
            <a:ext cx="1783080" cy="548640"/>
          </a:xfrm>
          <a:prstGeom prst="rect">
            <a:avLst/>
          </a:prstGeom>
          <a:noFill/>
        </p:spPr>
        <p:txBody>
          <a:bodyPr wrap="square" lIns="0" tIns="0" rIns="0" bIns="0" anchor="t">
            <a:spAutoFit/>
          </a:bodyPr>
          <a:lstStyle/>
          <a:p>
            <a:pPr algn="ctr"/>
            <a:r>
              <a:rPr sz="800" b="0" i="1">
                <a:solidFill>
                  <a:srgbClr val="595959"/>
                </a:solidFill>
                <a:latin typeface="Poppins Light"/>
              </a:rPr>
              <a:t>training &amp; validation</a:t>
            </a:r>
          </a:p>
        </p:txBody>
      </p:sp>
      <p:sp>
        <p:nvSpPr>
          <p:cNvPr id="17" name="Rounded Rectangle 16"/>
          <p:cNvSpPr/>
          <p:nvPr/>
        </p:nvSpPr>
        <p:spPr>
          <a:xfrm>
            <a:off x="4663440" y="1417320"/>
            <a:ext cx="1965960" cy="3200400"/>
          </a:xfrm>
          <a:prstGeom prst="roundRect">
            <a:avLst>
              <a:gd name="adj" fmla="val 279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5445252" y="1691640"/>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trendingup_white.png"/>
          <p:cNvPicPr>
            <a:picLocks noChangeAspect="1"/>
          </p:cNvPicPr>
          <p:nvPr/>
        </p:nvPicPr>
        <p:blipFill>
          <a:blip r:embed="rId5"/>
          <a:stretch>
            <a:fillRect/>
          </a:stretch>
        </p:blipFill>
        <p:spPr>
          <a:xfrm>
            <a:off x="5535777" y="1782165"/>
            <a:ext cx="221284" cy="221284"/>
          </a:xfrm>
          <a:prstGeom prst="rect">
            <a:avLst/>
          </a:prstGeom>
        </p:spPr>
      </p:pic>
      <p:sp>
        <p:nvSpPr>
          <p:cNvPr id="20" name="TextBox 19"/>
          <p:cNvSpPr txBox="1"/>
          <p:nvPr/>
        </p:nvSpPr>
        <p:spPr>
          <a:xfrm>
            <a:off x="4709160" y="2436763"/>
            <a:ext cx="1874519" cy="338554"/>
          </a:xfrm>
          <a:prstGeom prst="rect">
            <a:avLst/>
          </a:prstGeom>
          <a:noFill/>
        </p:spPr>
        <p:txBody>
          <a:bodyPr wrap="square" lIns="0" tIns="0" rIns="0" bIns="0" anchor="ctr">
            <a:spAutoFit/>
          </a:bodyPr>
          <a:lstStyle/>
          <a:p>
            <a:pPr algn="ctr"/>
            <a:r>
              <a:rPr lang="en-US" sz="2200" b="1" dirty="0">
                <a:solidFill>
                  <a:srgbClr val="005A9E"/>
                </a:solidFill>
                <a:latin typeface="Poppins"/>
              </a:rPr>
              <a:t>9</a:t>
            </a:r>
            <a:r>
              <a:rPr sz="2200" b="1" i="0" dirty="0">
                <a:solidFill>
                  <a:srgbClr val="005A9E"/>
                </a:solidFill>
                <a:latin typeface="Poppins"/>
              </a:rPr>
              <a:t>,600+</a:t>
            </a:r>
          </a:p>
        </p:txBody>
      </p:sp>
      <p:sp>
        <p:nvSpPr>
          <p:cNvPr id="21" name="TextBox 20"/>
          <p:cNvSpPr txBox="1"/>
          <p:nvPr/>
        </p:nvSpPr>
        <p:spPr>
          <a:xfrm>
            <a:off x="4754880" y="3017520"/>
            <a:ext cx="1783080" cy="457200"/>
          </a:xfrm>
          <a:prstGeom prst="rect">
            <a:avLst/>
          </a:prstGeom>
          <a:noFill/>
        </p:spPr>
        <p:txBody>
          <a:bodyPr wrap="square" lIns="0" tIns="0" rIns="0" bIns="0" anchor="t">
            <a:spAutoFit/>
          </a:bodyPr>
          <a:lstStyle/>
          <a:p>
            <a:pPr algn="ctr"/>
            <a:r>
              <a:rPr sz="1000" b="1" i="0">
                <a:solidFill>
                  <a:srgbClr val="08023F"/>
                </a:solidFill>
                <a:latin typeface="Poppins"/>
              </a:rPr>
              <a:t>outlets verified</a:t>
            </a:r>
          </a:p>
        </p:txBody>
      </p:sp>
      <p:sp>
        <p:nvSpPr>
          <p:cNvPr id="22" name="TextBox 21"/>
          <p:cNvSpPr txBox="1"/>
          <p:nvPr/>
        </p:nvSpPr>
        <p:spPr>
          <a:xfrm>
            <a:off x="4754880" y="3520439"/>
            <a:ext cx="1783080" cy="548640"/>
          </a:xfrm>
          <a:prstGeom prst="rect">
            <a:avLst/>
          </a:prstGeom>
          <a:noFill/>
        </p:spPr>
        <p:txBody>
          <a:bodyPr wrap="square" lIns="0" tIns="0" rIns="0" bIns="0" anchor="t">
            <a:spAutoFit/>
          </a:bodyPr>
          <a:lstStyle/>
          <a:p>
            <a:pPr algn="ctr"/>
            <a:r>
              <a:rPr sz="800" b="0" i="1">
                <a:solidFill>
                  <a:srgbClr val="595959"/>
                </a:solidFill>
                <a:latin typeface="Poppins Light"/>
              </a:rPr>
              <a:t>in production</a:t>
            </a:r>
          </a:p>
        </p:txBody>
      </p:sp>
      <p:sp>
        <p:nvSpPr>
          <p:cNvPr id="23" name="Rounded Rectangle 22"/>
          <p:cNvSpPr/>
          <p:nvPr/>
        </p:nvSpPr>
        <p:spPr>
          <a:xfrm>
            <a:off x="6812280" y="1417320"/>
            <a:ext cx="1965960" cy="3200400"/>
          </a:xfrm>
          <a:prstGeom prst="roundRect">
            <a:avLst>
              <a:gd name="adj" fmla="val 279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7594092" y="1691640"/>
            <a:ext cx="402336" cy="402336"/>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heckcircle_white.png"/>
          <p:cNvPicPr>
            <a:picLocks noChangeAspect="1"/>
          </p:cNvPicPr>
          <p:nvPr/>
        </p:nvPicPr>
        <p:blipFill>
          <a:blip r:embed="rId6"/>
          <a:stretch>
            <a:fillRect/>
          </a:stretch>
        </p:blipFill>
        <p:spPr>
          <a:xfrm>
            <a:off x="7684617" y="1782165"/>
            <a:ext cx="221284" cy="221284"/>
          </a:xfrm>
          <a:prstGeom prst="rect">
            <a:avLst/>
          </a:prstGeom>
        </p:spPr>
      </p:pic>
      <p:sp>
        <p:nvSpPr>
          <p:cNvPr id="26" name="TextBox 25"/>
          <p:cNvSpPr txBox="1"/>
          <p:nvPr/>
        </p:nvSpPr>
        <p:spPr>
          <a:xfrm>
            <a:off x="6858000" y="2286000"/>
            <a:ext cx="1874519" cy="640080"/>
          </a:xfrm>
          <a:prstGeom prst="rect">
            <a:avLst/>
          </a:prstGeom>
          <a:noFill/>
        </p:spPr>
        <p:txBody>
          <a:bodyPr wrap="square" lIns="0" tIns="0" rIns="0" bIns="0" anchor="ctr">
            <a:spAutoFit/>
          </a:bodyPr>
          <a:lstStyle/>
          <a:p>
            <a:pPr algn="ctr"/>
            <a:r>
              <a:rPr sz="2200" b="1" i="0">
                <a:solidFill>
                  <a:srgbClr val="005A9E"/>
                </a:solidFill>
                <a:latin typeface="Poppins"/>
              </a:rPr>
              <a:t>97%</a:t>
            </a:r>
          </a:p>
        </p:txBody>
      </p:sp>
      <p:sp>
        <p:nvSpPr>
          <p:cNvPr id="27" name="TextBox 26"/>
          <p:cNvSpPr txBox="1"/>
          <p:nvPr/>
        </p:nvSpPr>
        <p:spPr>
          <a:xfrm>
            <a:off x="6903720" y="3017520"/>
            <a:ext cx="1783080" cy="457200"/>
          </a:xfrm>
          <a:prstGeom prst="rect">
            <a:avLst/>
          </a:prstGeom>
          <a:noFill/>
        </p:spPr>
        <p:txBody>
          <a:bodyPr wrap="square" lIns="0" tIns="0" rIns="0" bIns="0" anchor="t">
            <a:spAutoFit/>
          </a:bodyPr>
          <a:lstStyle/>
          <a:p>
            <a:pPr algn="ctr"/>
            <a:r>
              <a:rPr sz="1000" b="1" i="0">
                <a:solidFill>
                  <a:srgbClr val="08023F"/>
                </a:solidFill>
                <a:latin typeface="Poppins"/>
              </a:rPr>
              <a:t>real-world success rate</a:t>
            </a:r>
          </a:p>
        </p:txBody>
      </p:sp>
      <p:sp>
        <p:nvSpPr>
          <p:cNvPr id="28" name="TextBox 27"/>
          <p:cNvSpPr txBox="1"/>
          <p:nvPr/>
        </p:nvSpPr>
        <p:spPr>
          <a:xfrm>
            <a:off x="6903720" y="3520439"/>
            <a:ext cx="1783080" cy="548640"/>
          </a:xfrm>
          <a:prstGeom prst="rect">
            <a:avLst/>
          </a:prstGeom>
          <a:noFill/>
        </p:spPr>
        <p:txBody>
          <a:bodyPr wrap="square" lIns="0" tIns="0" rIns="0" bIns="0" anchor="t">
            <a:spAutoFit/>
          </a:bodyPr>
          <a:lstStyle/>
          <a:p>
            <a:pPr algn="ctr"/>
            <a:r>
              <a:rPr sz="800" b="0" i="1">
                <a:solidFill>
                  <a:srgbClr val="595959"/>
                </a:solidFill>
                <a:latin typeface="Poppins Light"/>
              </a:rPr>
              <a:t>in live deployment</a:t>
            </a:r>
          </a:p>
        </p:txBody>
      </p:sp>
    </p:spTree>
    <p:extLst>
      <p:ext uri="{BB962C8B-B14F-4D97-AF65-F5344CB8AC3E}">
        <p14:creationId xmlns:p14="http://schemas.microsoft.com/office/powerpoint/2010/main" val="1202633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219456"/>
          </a:xfrm>
          <a:prstGeom prst="rect">
            <a:avLst/>
          </a:prstGeom>
          <a:noFill/>
        </p:spPr>
        <p:txBody>
          <a:bodyPr wrap="square" lIns="0" tIns="0" rIns="0" bIns="0" anchor="t">
            <a:spAutoFit/>
          </a:bodyPr>
          <a:lstStyle/>
          <a:p>
            <a:pPr algn="l"/>
            <a:r>
              <a:rPr sz="900" b="1" i="0">
                <a:solidFill>
                  <a:srgbClr val="0078D4"/>
                </a:solidFill>
                <a:latin typeface="Poppins"/>
              </a:rPr>
              <a:t>01 · BUSINESS USE CASE</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Challenges We Hit, and What We Learned</a:t>
            </a:r>
          </a:p>
        </p:txBody>
      </p:sp>
      <p:sp>
        <p:nvSpPr>
          <p:cNvPr id="4" name="Rounded Rectangle 3"/>
          <p:cNvSpPr/>
          <p:nvPr/>
        </p:nvSpPr>
        <p:spPr>
          <a:xfrm>
            <a:off x="365760" y="1234440"/>
            <a:ext cx="8412480" cy="3429000"/>
          </a:xfrm>
          <a:prstGeom prst="roundRect">
            <a:avLst>
              <a:gd name="adj" fmla="val 1600"/>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05840" y="1380744"/>
            <a:ext cx="3246120" cy="219456"/>
          </a:xfrm>
          <a:prstGeom prst="rect">
            <a:avLst/>
          </a:prstGeom>
          <a:noFill/>
        </p:spPr>
        <p:txBody>
          <a:bodyPr wrap="square" lIns="0" tIns="0" rIns="0" bIns="0" anchor="t">
            <a:spAutoFit/>
          </a:bodyPr>
          <a:lstStyle/>
          <a:p>
            <a:pPr algn="l"/>
            <a:r>
              <a:rPr sz="850" b="1" i="0">
                <a:solidFill>
                  <a:srgbClr val="E04820"/>
                </a:solidFill>
                <a:latin typeface="Poppins"/>
              </a:rPr>
              <a:t>CHALLENGE</a:t>
            </a:r>
          </a:p>
        </p:txBody>
      </p:sp>
      <p:sp>
        <p:nvSpPr>
          <p:cNvPr id="6" name="TextBox 5"/>
          <p:cNvSpPr txBox="1"/>
          <p:nvPr/>
        </p:nvSpPr>
        <p:spPr>
          <a:xfrm>
            <a:off x="4754880" y="1380744"/>
            <a:ext cx="3767328" cy="219456"/>
          </a:xfrm>
          <a:prstGeom prst="rect">
            <a:avLst/>
          </a:prstGeom>
          <a:noFill/>
        </p:spPr>
        <p:txBody>
          <a:bodyPr wrap="square" lIns="0" tIns="0" rIns="0" bIns="0" anchor="t">
            <a:spAutoFit/>
          </a:bodyPr>
          <a:lstStyle/>
          <a:p>
            <a:pPr algn="l"/>
            <a:r>
              <a:rPr sz="850" b="1" i="0">
                <a:solidFill>
                  <a:srgbClr val="005A9E"/>
                </a:solidFill>
                <a:latin typeface="Poppins"/>
              </a:rPr>
              <a:t>LESSON LEARNT</a:t>
            </a:r>
          </a:p>
        </p:txBody>
      </p:sp>
      <p:sp>
        <p:nvSpPr>
          <p:cNvPr id="7" name="Oval 6"/>
          <p:cNvSpPr/>
          <p:nvPr/>
        </p:nvSpPr>
        <p:spPr>
          <a:xfrm>
            <a:off x="621792" y="1833372"/>
            <a:ext cx="274320" cy="274320"/>
          </a:xfrm>
          <a:prstGeom prst="ellipse">
            <a:avLst/>
          </a:prstGeom>
          <a:solidFill>
            <a:srgbClr val="E04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 y="1833372"/>
            <a:ext cx="274320" cy="274320"/>
          </a:xfrm>
          <a:prstGeom prst="rect">
            <a:avLst/>
          </a:prstGeom>
          <a:noFill/>
        </p:spPr>
        <p:txBody>
          <a:bodyPr wrap="square" lIns="0" tIns="0" rIns="0" bIns="0" anchor="ctr">
            <a:spAutoFit/>
          </a:bodyPr>
          <a:lstStyle/>
          <a:p>
            <a:pPr algn="ctr"/>
            <a:r>
              <a:rPr sz="900" b="1" i="0">
                <a:solidFill>
                  <a:srgbClr val="FFFFFF"/>
                </a:solidFill>
                <a:latin typeface="Poppins"/>
              </a:rPr>
              <a:t>1</a:t>
            </a:r>
          </a:p>
        </p:txBody>
      </p:sp>
      <p:sp>
        <p:nvSpPr>
          <p:cNvPr id="9" name="TextBox 8"/>
          <p:cNvSpPr txBox="1"/>
          <p:nvPr/>
        </p:nvSpPr>
        <p:spPr>
          <a:xfrm>
            <a:off x="1005840" y="1691640"/>
            <a:ext cx="3246120" cy="557783"/>
          </a:xfrm>
          <a:prstGeom prst="rect">
            <a:avLst/>
          </a:prstGeom>
          <a:noFill/>
        </p:spPr>
        <p:txBody>
          <a:bodyPr wrap="square" lIns="0" tIns="0" rIns="0" bIns="0" anchor="ctr">
            <a:spAutoFit/>
          </a:bodyPr>
          <a:lstStyle/>
          <a:p>
            <a:pPr algn="l">
              <a:lnSpc>
                <a:spcPct val="105000"/>
              </a:lnSpc>
            </a:pPr>
            <a:r>
              <a:rPr sz="1000" b="1" i="0">
                <a:solidFill>
                  <a:srgbClr val="08023F"/>
                </a:solidFill>
                <a:latin typeface="Poppins"/>
              </a:rPr>
              <a:t>Only a few hundred labeled examples to work with</a:t>
            </a:r>
          </a:p>
        </p:txBody>
      </p:sp>
      <p:sp>
        <p:nvSpPr>
          <p:cNvPr id="10" name="TextBox 9"/>
          <p:cNvSpPr txBox="1"/>
          <p:nvPr/>
        </p:nvSpPr>
        <p:spPr>
          <a:xfrm>
            <a:off x="4325112" y="1691640"/>
            <a:ext cx="320040" cy="557783"/>
          </a:xfrm>
          <a:prstGeom prst="rect">
            <a:avLst/>
          </a:prstGeom>
          <a:noFill/>
        </p:spPr>
        <p:txBody>
          <a:bodyPr wrap="square" lIns="0" tIns="0" rIns="0" bIns="0" anchor="ctr">
            <a:spAutoFit/>
          </a:bodyPr>
          <a:lstStyle/>
          <a:p>
            <a:pPr algn="ctr"/>
            <a:r>
              <a:rPr sz="1300" b="0" i="0">
                <a:solidFill>
                  <a:srgbClr val="8A93A8"/>
                </a:solidFill>
                <a:latin typeface="Poppins Light"/>
              </a:rPr>
              <a:t>→</a:t>
            </a:r>
          </a:p>
        </p:txBody>
      </p:sp>
      <p:sp>
        <p:nvSpPr>
          <p:cNvPr id="11" name="TextBox 10"/>
          <p:cNvSpPr txBox="1"/>
          <p:nvPr/>
        </p:nvSpPr>
        <p:spPr>
          <a:xfrm>
            <a:off x="4754880" y="1691640"/>
            <a:ext cx="3767328" cy="557783"/>
          </a:xfrm>
          <a:prstGeom prst="rect">
            <a:avLst/>
          </a:prstGeom>
          <a:noFill/>
        </p:spPr>
        <p:txBody>
          <a:bodyPr wrap="square" lIns="0" tIns="0" rIns="0" bIns="0" anchor="ctr">
            <a:spAutoFit/>
          </a:bodyPr>
          <a:lstStyle/>
          <a:p>
            <a:pPr algn="l">
              <a:lnSpc>
                <a:spcPct val="105000"/>
              </a:lnSpc>
            </a:pPr>
            <a:r>
              <a:rPr sz="930" b="0" i="0">
                <a:solidFill>
                  <a:srgbClr val="005A9E"/>
                </a:solidFill>
                <a:latin typeface="Poppins Light"/>
              </a:rPr>
              <a:t>Pretrained vision models cut the need for large custom training sets</a:t>
            </a:r>
          </a:p>
        </p:txBody>
      </p:sp>
      <p:cxnSp>
        <p:nvCxnSpPr>
          <p:cNvPr id="12" name="Connector 11"/>
          <p:cNvCxnSpPr/>
          <p:nvPr/>
        </p:nvCxnSpPr>
        <p:spPr>
          <a:xfrm>
            <a:off x="621792" y="2249424"/>
            <a:ext cx="7900416" cy="0"/>
          </a:xfrm>
          <a:prstGeom prst="line">
            <a:avLst/>
          </a:prstGeom>
          <a:ln w="6350">
            <a:solidFill>
              <a:srgbClr val="E1E6ED"/>
            </a:solidFill>
          </a:ln>
          <a:effectLst/>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621792" y="2391156"/>
            <a:ext cx="274320" cy="274320"/>
          </a:xfrm>
          <a:prstGeom prst="ellipse">
            <a:avLst/>
          </a:prstGeom>
          <a:solidFill>
            <a:srgbClr val="E04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21792" y="2391156"/>
            <a:ext cx="274320" cy="274320"/>
          </a:xfrm>
          <a:prstGeom prst="rect">
            <a:avLst/>
          </a:prstGeom>
          <a:noFill/>
        </p:spPr>
        <p:txBody>
          <a:bodyPr wrap="square" lIns="0" tIns="0" rIns="0" bIns="0" anchor="ctr">
            <a:spAutoFit/>
          </a:bodyPr>
          <a:lstStyle/>
          <a:p>
            <a:pPr algn="ctr"/>
            <a:r>
              <a:rPr sz="900" b="1" i="0">
                <a:solidFill>
                  <a:srgbClr val="FFFFFF"/>
                </a:solidFill>
                <a:latin typeface="Poppins"/>
              </a:rPr>
              <a:t>2</a:t>
            </a:r>
          </a:p>
        </p:txBody>
      </p:sp>
      <p:sp>
        <p:nvSpPr>
          <p:cNvPr id="15" name="TextBox 14"/>
          <p:cNvSpPr txBox="1"/>
          <p:nvPr/>
        </p:nvSpPr>
        <p:spPr>
          <a:xfrm>
            <a:off x="1005840" y="2249424"/>
            <a:ext cx="3246120" cy="557783"/>
          </a:xfrm>
          <a:prstGeom prst="rect">
            <a:avLst/>
          </a:prstGeom>
          <a:noFill/>
        </p:spPr>
        <p:txBody>
          <a:bodyPr wrap="square" lIns="0" tIns="0" rIns="0" bIns="0" anchor="ctr">
            <a:spAutoFit/>
          </a:bodyPr>
          <a:lstStyle/>
          <a:p>
            <a:pPr algn="l">
              <a:lnSpc>
                <a:spcPct val="105000"/>
              </a:lnSpc>
            </a:pPr>
            <a:r>
              <a:rPr sz="1000" b="1" i="0">
                <a:solidFill>
                  <a:srgbClr val="08023F"/>
                </a:solidFill>
                <a:latin typeface="Poppins"/>
              </a:rPr>
              <a:t>Far more “Shop” examples than “Not-Shop” ones</a:t>
            </a:r>
          </a:p>
        </p:txBody>
      </p:sp>
      <p:sp>
        <p:nvSpPr>
          <p:cNvPr id="16" name="TextBox 15"/>
          <p:cNvSpPr txBox="1"/>
          <p:nvPr/>
        </p:nvSpPr>
        <p:spPr>
          <a:xfrm>
            <a:off x="4325112" y="2249424"/>
            <a:ext cx="320040" cy="557783"/>
          </a:xfrm>
          <a:prstGeom prst="rect">
            <a:avLst/>
          </a:prstGeom>
          <a:noFill/>
        </p:spPr>
        <p:txBody>
          <a:bodyPr wrap="square" lIns="0" tIns="0" rIns="0" bIns="0" anchor="ctr">
            <a:spAutoFit/>
          </a:bodyPr>
          <a:lstStyle/>
          <a:p>
            <a:pPr algn="ctr"/>
            <a:r>
              <a:rPr sz="1300" b="0" i="0">
                <a:solidFill>
                  <a:srgbClr val="8A93A8"/>
                </a:solidFill>
                <a:latin typeface="Poppins Light"/>
              </a:rPr>
              <a:t>→</a:t>
            </a:r>
          </a:p>
        </p:txBody>
      </p:sp>
      <p:sp>
        <p:nvSpPr>
          <p:cNvPr id="17" name="TextBox 16"/>
          <p:cNvSpPr txBox="1"/>
          <p:nvPr/>
        </p:nvSpPr>
        <p:spPr>
          <a:xfrm>
            <a:off x="4754880" y="2249424"/>
            <a:ext cx="3767328" cy="557783"/>
          </a:xfrm>
          <a:prstGeom prst="rect">
            <a:avLst/>
          </a:prstGeom>
          <a:noFill/>
        </p:spPr>
        <p:txBody>
          <a:bodyPr wrap="square" lIns="0" tIns="0" rIns="0" bIns="0" anchor="ctr">
            <a:spAutoFit/>
          </a:bodyPr>
          <a:lstStyle/>
          <a:p>
            <a:pPr algn="l">
              <a:lnSpc>
                <a:spcPct val="105000"/>
              </a:lnSpc>
            </a:pPr>
            <a:r>
              <a:rPr sz="930" b="0" i="0">
                <a:solidFill>
                  <a:srgbClr val="005A9E"/>
                </a:solidFill>
                <a:latin typeface="Poppins Light"/>
              </a:rPr>
              <a:t>Track precision and recall per class — overall accuracy hides the gap</a:t>
            </a:r>
          </a:p>
        </p:txBody>
      </p:sp>
      <p:cxnSp>
        <p:nvCxnSpPr>
          <p:cNvPr id="18" name="Connector 17"/>
          <p:cNvCxnSpPr/>
          <p:nvPr/>
        </p:nvCxnSpPr>
        <p:spPr>
          <a:xfrm>
            <a:off x="621792" y="2807208"/>
            <a:ext cx="7900416" cy="0"/>
          </a:xfrm>
          <a:prstGeom prst="line">
            <a:avLst/>
          </a:prstGeom>
          <a:ln w="6350">
            <a:solidFill>
              <a:srgbClr val="E1E6ED"/>
            </a:solidFill>
          </a:ln>
          <a:effectLst/>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21792" y="2948940"/>
            <a:ext cx="274320" cy="274320"/>
          </a:xfrm>
          <a:prstGeom prst="ellipse">
            <a:avLst/>
          </a:prstGeom>
          <a:solidFill>
            <a:srgbClr val="E04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1792" y="2948940"/>
            <a:ext cx="274320" cy="274320"/>
          </a:xfrm>
          <a:prstGeom prst="rect">
            <a:avLst/>
          </a:prstGeom>
          <a:noFill/>
        </p:spPr>
        <p:txBody>
          <a:bodyPr wrap="square" lIns="0" tIns="0" rIns="0" bIns="0" anchor="ctr">
            <a:spAutoFit/>
          </a:bodyPr>
          <a:lstStyle/>
          <a:p>
            <a:pPr algn="ctr"/>
            <a:r>
              <a:rPr sz="900" b="1" i="0">
                <a:solidFill>
                  <a:srgbClr val="FFFFFF"/>
                </a:solidFill>
                <a:latin typeface="Poppins"/>
              </a:rPr>
              <a:t>3</a:t>
            </a:r>
          </a:p>
        </p:txBody>
      </p:sp>
      <p:sp>
        <p:nvSpPr>
          <p:cNvPr id="21" name="TextBox 20"/>
          <p:cNvSpPr txBox="1"/>
          <p:nvPr/>
        </p:nvSpPr>
        <p:spPr>
          <a:xfrm>
            <a:off x="1005840" y="2807208"/>
            <a:ext cx="3246120" cy="557783"/>
          </a:xfrm>
          <a:prstGeom prst="rect">
            <a:avLst/>
          </a:prstGeom>
          <a:noFill/>
        </p:spPr>
        <p:txBody>
          <a:bodyPr wrap="square" lIns="0" tIns="0" rIns="0" bIns="0" anchor="ctr">
            <a:spAutoFit/>
          </a:bodyPr>
          <a:lstStyle/>
          <a:p>
            <a:pPr algn="l">
              <a:lnSpc>
                <a:spcPct val="105000"/>
              </a:lnSpc>
            </a:pPr>
            <a:r>
              <a:rPr sz="1000" b="1" i="0">
                <a:solidFill>
                  <a:srgbClr val="08023F"/>
                </a:solidFill>
                <a:latin typeface="Poppins"/>
              </a:rPr>
              <a:t>Blurry, low-light, or low-resolution photos</a:t>
            </a:r>
          </a:p>
        </p:txBody>
      </p:sp>
      <p:sp>
        <p:nvSpPr>
          <p:cNvPr id="22" name="TextBox 21"/>
          <p:cNvSpPr txBox="1"/>
          <p:nvPr/>
        </p:nvSpPr>
        <p:spPr>
          <a:xfrm>
            <a:off x="4325112" y="2807208"/>
            <a:ext cx="320040" cy="557783"/>
          </a:xfrm>
          <a:prstGeom prst="rect">
            <a:avLst/>
          </a:prstGeom>
          <a:noFill/>
        </p:spPr>
        <p:txBody>
          <a:bodyPr wrap="square" lIns="0" tIns="0" rIns="0" bIns="0" anchor="ctr">
            <a:spAutoFit/>
          </a:bodyPr>
          <a:lstStyle/>
          <a:p>
            <a:pPr algn="ctr"/>
            <a:r>
              <a:rPr sz="1300" b="0" i="0">
                <a:solidFill>
                  <a:srgbClr val="8A93A8"/>
                </a:solidFill>
                <a:latin typeface="Poppins Light"/>
              </a:rPr>
              <a:t>→</a:t>
            </a:r>
          </a:p>
        </p:txBody>
      </p:sp>
      <p:sp>
        <p:nvSpPr>
          <p:cNvPr id="23" name="TextBox 22"/>
          <p:cNvSpPr txBox="1"/>
          <p:nvPr/>
        </p:nvSpPr>
        <p:spPr>
          <a:xfrm>
            <a:off x="4754880" y="2807208"/>
            <a:ext cx="3767328" cy="557783"/>
          </a:xfrm>
          <a:prstGeom prst="rect">
            <a:avLst/>
          </a:prstGeom>
          <a:noFill/>
        </p:spPr>
        <p:txBody>
          <a:bodyPr wrap="square" lIns="0" tIns="0" rIns="0" bIns="0" anchor="ctr">
            <a:spAutoFit/>
          </a:bodyPr>
          <a:lstStyle/>
          <a:p>
            <a:pPr algn="l">
              <a:lnSpc>
                <a:spcPct val="105000"/>
              </a:lnSpc>
            </a:pPr>
            <a:r>
              <a:rPr sz="930" b="0" i="0">
                <a:solidFill>
                  <a:srgbClr val="005A9E"/>
                </a:solidFill>
                <a:latin typeface="Poppins Light"/>
              </a:rPr>
              <a:t>Gate image quality before the model call, not after</a:t>
            </a:r>
          </a:p>
        </p:txBody>
      </p:sp>
      <p:cxnSp>
        <p:nvCxnSpPr>
          <p:cNvPr id="24" name="Connector 23"/>
          <p:cNvCxnSpPr/>
          <p:nvPr/>
        </p:nvCxnSpPr>
        <p:spPr>
          <a:xfrm>
            <a:off x="621792" y="3364991"/>
            <a:ext cx="7900416" cy="0"/>
          </a:xfrm>
          <a:prstGeom prst="line">
            <a:avLst/>
          </a:prstGeom>
          <a:ln w="6350">
            <a:solidFill>
              <a:srgbClr val="E1E6ED"/>
            </a:solidFill>
          </a:ln>
          <a:effectLst/>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21792" y="3506723"/>
            <a:ext cx="274320" cy="274320"/>
          </a:xfrm>
          <a:prstGeom prst="ellipse">
            <a:avLst/>
          </a:prstGeom>
          <a:solidFill>
            <a:srgbClr val="E04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1792" y="3506723"/>
            <a:ext cx="274320" cy="274320"/>
          </a:xfrm>
          <a:prstGeom prst="rect">
            <a:avLst/>
          </a:prstGeom>
          <a:noFill/>
        </p:spPr>
        <p:txBody>
          <a:bodyPr wrap="square" lIns="0" tIns="0" rIns="0" bIns="0" anchor="ctr">
            <a:spAutoFit/>
          </a:bodyPr>
          <a:lstStyle/>
          <a:p>
            <a:pPr algn="ctr"/>
            <a:r>
              <a:rPr sz="900" b="1" i="0">
                <a:solidFill>
                  <a:srgbClr val="FFFFFF"/>
                </a:solidFill>
                <a:latin typeface="Poppins"/>
              </a:rPr>
              <a:t>4</a:t>
            </a:r>
          </a:p>
        </p:txBody>
      </p:sp>
      <p:sp>
        <p:nvSpPr>
          <p:cNvPr id="27" name="TextBox 26"/>
          <p:cNvSpPr txBox="1"/>
          <p:nvPr/>
        </p:nvSpPr>
        <p:spPr>
          <a:xfrm>
            <a:off x="1005840" y="3364991"/>
            <a:ext cx="3246120" cy="557783"/>
          </a:xfrm>
          <a:prstGeom prst="rect">
            <a:avLst/>
          </a:prstGeom>
          <a:noFill/>
        </p:spPr>
        <p:txBody>
          <a:bodyPr wrap="square" lIns="0" tIns="0" rIns="0" bIns="0" anchor="ctr">
            <a:spAutoFit/>
          </a:bodyPr>
          <a:lstStyle/>
          <a:p>
            <a:pPr algn="l">
              <a:lnSpc>
                <a:spcPct val="105000"/>
              </a:lnSpc>
            </a:pPr>
            <a:r>
              <a:rPr sz="1000" b="1" i="0">
                <a:solidFill>
                  <a:srgbClr val="08023F"/>
                </a:solidFill>
                <a:latin typeface="Poppins"/>
              </a:rPr>
              <a:t>Inconsistent geotag formats coming from the field</a:t>
            </a:r>
          </a:p>
        </p:txBody>
      </p:sp>
      <p:sp>
        <p:nvSpPr>
          <p:cNvPr id="28" name="TextBox 27"/>
          <p:cNvSpPr txBox="1"/>
          <p:nvPr/>
        </p:nvSpPr>
        <p:spPr>
          <a:xfrm>
            <a:off x="4325112" y="3364991"/>
            <a:ext cx="320040" cy="557783"/>
          </a:xfrm>
          <a:prstGeom prst="rect">
            <a:avLst/>
          </a:prstGeom>
          <a:noFill/>
        </p:spPr>
        <p:txBody>
          <a:bodyPr wrap="square" lIns="0" tIns="0" rIns="0" bIns="0" anchor="ctr">
            <a:spAutoFit/>
          </a:bodyPr>
          <a:lstStyle/>
          <a:p>
            <a:pPr algn="ctr"/>
            <a:r>
              <a:rPr sz="1300" b="0" i="0">
                <a:solidFill>
                  <a:srgbClr val="8A93A8"/>
                </a:solidFill>
                <a:latin typeface="Poppins Light"/>
              </a:rPr>
              <a:t>→</a:t>
            </a:r>
          </a:p>
        </p:txBody>
      </p:sp>
      <p:sp>
        <p:nvSpPr>
          <p:cNvPr id="29" name="TextBox 28"/>
          <p:cNvSpPr txBox="1"/>
          <p:nvPr/>
        </p:nvSpPr>
        <p:spPr>
          <a:xfrm>
            <a:off x="4754880" y="3364991"/>
            <a:ext cx="3767328" cy="557783"/>
          </a:xfrm>
          <a:prstGeom prst="rect">
            <a:avLst/>
          </a:prstGeom>
          <a:noFill/>
        </p:spPr>
        <p:txBody>
          <a:bodyPr wrap="square" lIns="0" tIns="0" rIns="0" bIns="0" anchor="ctr">
            <a:spAutoFit/>
          </a:bodyPr>
          <a:lstStyle/>
          <a:p>
            <a:pPr algn="l">
              <a:lnSpc>
                <a:spcPct val="105000"/>
              </a:lnSpc>
            </a:pPr>
            <a:r>
              <a:rPr sz="930" b="0" i="0">
                <a:solidFill>
                  <a:srgbClr val="005A9E"/>
                </a:solidFill>
                <a:latin typeface="Poppins Light"/>
              </a:rPr>
              <a:t>Normalize and validate metadata at ingestion, not downstream</a:t>
            </a:r>
          </a:p>
        </p:txBody>
      </p:sp>
      <p:cxnSp>
        <p:nvCxnSpPr>
          <p:cNvPr id="30" name="Connector 29"/>
          <p:cNvCxnSpPr/>
          <p:nvPr/>
        </p:nvCxnSpPr>
        <p:spPr>
          <a:xfrm>
            <a:off x="621792" y="3922775"/>
            <a:ext cx="7900416" cy="0"/>
          </a:xfrm>
          <a:prstGeom prst="line">
            <a:avLst/>
          </a:prstGeom>
          <a:ln w="6350">
            <a:solidFill>
              <a:srgbClr val="E1E6ED"/>
            </a:solidFill>
          </a:ln>
          <a:effectLst/>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21792" y="4064507"/>
            <a:ext cx="274320" cy="274320"/>
          </a:xfrm>
          <a:prstGeom prst="ellipse">
            <a:avLst/>
          </a:prstGeom>
          <a:solidFill>
            <a:srgbClr val="E04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1792" y="4064507"/>
            <a:ext cx="274320" cy="274320"/>
          </a:xfrm>
          <a:prstGeom prst="rect">
            <a:avLst/>
          </a:prstGeom>
          <a:noFill/>
        </p:spPr>
        <p:txBody>
          <a:bodyPr wrap="square" lIns="0" tIns="0" rIns="0" bIns="0" anchor="ctr">
            <a:spAutoFit/>
          </a:bodyPr>
          <a:lstStyle/>
          <a:p>
            <a:pPr algn="ctr"/>
            <a:r>
              <a:rPr sz="900" b="1" i="0">
                <a:solidFill>
                  <a:srgbClr val="FFFFFF"/>
                </a:solidFill>
                <a:latin typeface="Poppins"/>
              </a:rPr>
              <a:t>5</a:t>
            </a:r>
          </a:p>
        </p:txBody>
      </p:sp>
      <p:sp>
        <p:nvSpPr>
          <p:cNvPr id="33" name="TextBox 32"/>
          <p:cNvSpPr txBox="1"/>
          <p:nvPr/>
        </p:nvSpPr>
        <p:spPr>
          <a:xfrm>
            <a:off x="1005840" y="3922775"/>
            <a:ext cx="3246120" cy="557783"/>
          </a:xfrm>
          <a:prstGeom prst="rect">
            <a:avLst/>
          </a:prstGeom>
          <a:noFill/>
        </p:spPr>
        <p:txBody>
          <a:bodyPr wrap="square" lIns="0" tIns="0" rIns="0" bIns="0" anchor="ctr">
            <a:spAutoFit/>
          </a:bodyPr>
          <a:lstStyle/>
          <a:p>
            <a:pPr algn="l">
              <a:lnSpc>
                <a:spcPct val="105000"/>
              </a:lnSpc>
            </a:pPr>
            <a:r>
              <a:rPr sz="1000" b="1" i="0">
                <a:solidFill>
                  <a:srgbClr val="08023F"/>
                </a:solidFill>
                <a:latin typeface="Poppins"/>
              </a:rPr>
              <a:t>Edge cases that still needed a human eye</a:t>
            </a:r>
          </a:p>
        </p:txBody>
      </p:sp>
      <p:sp>
        <p:nvSpPr>
          <p:cNvPr id="34" name="TextBox 33"/>
          <p:cNvSpPr txBox="1"/>
          <p:nvPr/>
        </p:nvSpPr>
        <p:spPr>
          <a:xfrm>
            <a:off x="4325112" y="3922775"/>
            <a:ext cx="320040" cy="557783"/>
          </a:xfrm>
          <a:prstGeom prst="rect">
            <a:avLst/>
          </a:prstGeom>
          <a:noFill/>
        </p:spPr>
        <p:txBody>
          <a:bodyPr wrap="square" lIns="0" tIns="0" rIns="0" bIns="0" anchor="ctr">
            <a:spAutoFit/>
          </a:bodyPr>
          <a:lstStyle/>
          <a:p>
            <a:pPr algn="ctr"/>
            <a:r>
              <a:rPr sz="1300" b="0" i="0">
                <a:solidFill>
                  <a:srgbClr val="8A93A8"/>
                </a:solidFill>
                <a:latin typeface="Poppins Light"/>
              </a:rPr>
              <a:t>→</a:t>
            </a:r>
          </a:p>
        </p:txBody>
      </p:sp>
      <p:sp>
        <p:nvSpPr>
          <p:cNvPr id="35" name="TextBox 34"/>
          <p:cNvSpPr txBox="1"/>
          <p:nvPr/>
        </p:nvSpPr>
        <p:spPr>
          <a:xfrm>
            <a:off x="4754880" y="3922775"/>
            <a:ext cx="3767328" cy="557783"/>
          </a:xfrm>
          <a:prstGeom prst="rect">
            <a:avLst/>
          </a:prstGeom>
          <a:noFill/>
        </p:spPr>
        <p:txBody>
          <a:bodyPr wrap="square" lIns="0" tIns="0" rIns="0" bIns="0" anchor="ctr">
            <a:spAutoFit/>
          </a:bodyPr>
          <a:lstStyle/>
          <a:p>
            <a:pPr algn="l">
              <a:lnSpc>
                <a:spcPct val="105000"/>
              </a:lnSpc>
            </a:pPr>
            <a:r>
              <a:rPr sz="930" b="0" i="0">
                <a:solidFill>
                  <a:srgbClr val="005A9E"/>
                </a:solidFill>
                <a:latin typeface="Poppins Light"/>
              </a:rPr>
              <a:t>Design the human-in-the-loop path in from day one</a:t>
            </a:r>
          </a:p>
        </p:txBody>
      </p:sp>
    </p:spTree>
    <p:extLst>
      <p:ext uri="{BB962C8B-B14F-4D97-AF65-F5344CB8AC3E}">
        <p14:creationId xmlns:p14="http://schemas.microsoft.com/office/powerpoint/2010/main" val="1202633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219456"/>
          </a:xfrm>
          <a:prstGeom prst="rect">
            <a:avLst/>
          </a:prstGeom>
          <a:noFill/>
        </p:spPr>
        <p:txBody>
          <a:bodyPr wrap="square" lIns="0" tIns="0" rIns="0" bIns="0" anchor="t">
            <a:spAutoFit/>
          </a:bodyPr>
          <a:lstStyle/>
          <a:p>
            <a:pPr algn="l"/>
            <a:r>
              <a:rPr sz="900" b="1" i="0">
                <a:solidFill>
                  <a:srgbClr val="0078D4"/>
                </a:solidFill>
                <a:latin typeface="Poppins"/>
              </a:rPr>
              <a:t>01 · BUSINESS USE CASE</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Image Examples — and a Non-Negotiable Rule</a:t>
            </a:r>
          </a:p>
        </p:txBody>
      </p:sp>
      <p:sp>
        <p:nvSpPr>
          <p:cNvPr id="4" name="Rounded Rectangle 3"/>
          <p:cNvSpPr/>
          <p:nvPr/>
        </p:nvSpPr>
        <p:spPr>
          <a:xfrm>
            <a:off x="365760" y="1325880"/>
            <a:ext cx="1737360" cy="1737360"/>
          </a:xfrm>
          <a:prstGeom prst="roundRect">
            <a:avLst>
              <a:gd name="adj" fmla="val 3157"/>
            </a:avLst>
          </a:prstGeom>
          <a:solidFill>
            <a:srgbClr val="FFFFFF"/>
          </a:solidFill>
          <a:ln w="19050">
            <a:solidFill>
              <a:srgbClr val="E048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shop1_yoora.jpg"/>
          <p:cNvPicPr>
            <a:picLocks noChangeAspect="1"/>
          </p:cNvPicPr>
          <p:nvPr/>
        </p:nvPicPr>
        <p:blipFill>
          <a:blip r:embed="rId3"/>
          <a:stretch>
            <a:fillRect/>
          </a:stretch>
        </p:blipFill>
        <p:spPr>
          <a:xfrm>
            <a:off x="617220" y="1371600"/>
            <a:ext cx="1234439" cy="1645919"/>
          </a:xfrm>
          <a:prstGeom prst="rect">
            <a:avLst/>
          </a:prstGeom>
        </p:spPr>
      </p:pic>
      <p:sp>
        <p:nvSpPr>
          <p:cNvPr id="6" name="TextBox 5"/>
          <p:cNvSpPr txBox="1"/>
          <p:nvPr/>
        </p:nvSpPr>
        <p:spPr>
          <a:xfrm>
            <a:off x="365760" y="3118103"/>
            <a:ext cx="1737360" cy="182880"/>
          </a:xfrm>
          <a:prstGeom prst="rect">
            <a:avLst/>
          </a:prstGeom>
          <a:noFill/>
        </p:spPr>
        <p:txBody>
          <a:bodyPr wrap="square" lIns="0" tIns="0" rIns="0" bIns="0" anchor="t">
            <a:spAutoFit/>
          </a:bodyPr>
          <a:lstStyle/>
          <a:p>
            <a:pPr algn="ctr"/>
            <a:r>
              <a:rPr sz="750" b="0" i="0">
                <a:solidFill>
                  <a:srgbClr val="595959"/>
                </a:solidFill>
                <a:latin typeface="Poppins Light"/>
              </a:rPr>
              <a:t>Palembang, Indonesia</a:t>
            </a:r>
          </a:p>
        </p:txBody>
      </p:sp>
      <p:sp>
        <p:nvSpPr>
          <p:cNvPr id="7" name="Rounded Rectangle 6"/>
          <p:cNvSpPr/>
          <p:nvPr/>
        </p:nvSpPr>
        <p:spPr>
          <a:xfrm>
            <a:off x="731520" y="3319272"/>
            <a:ext cx="1005840" cy="256032"/>
          </a:xfrm>
          <a:prstGeom prst="roundRect">
            <a:avLst>
              <a:gd name="adj" fmla="val 50000"/>
            </a:avLst>
          </a:prstGeom>
          <a:solidFill>
            <a:srgbClr val="FCE8E1"/>
          </a:solidFill>
          <a:ln w="12700">
            <a:solidFill>
              <a:srgbClr val="E048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319272"/>
            <a:ext cx="1005840" cy="256032"/>
          </a:xfrm>
          <a:prstGeom prst="rect">
            <a:avLst/>
          </a:prstGeom>
          <a:noFill/>
        </p:spPr>
        <p:txBody>
          <a:bodyPr wrap="square" lIns="0" tIns="0" rIns="0" bIns="0" anchor="ctr">
            <a:spAutoFit/>
          </a:bodyPr>
          <a:lstStyle/>
          <a:p>
            <a:pPr algn="ctr"/>
            <a:r>
              <a:rPr sz="950" b="1" i="0">
                <a:solidFill>
                  <a:srgbClr val="9C3016"/>
                </a:solidFill>
                <a:latin typeface="Poppins"/>
              </a:rPr>
              <a:t>✕  Not Shop</a:t>
            </a:r>
          </a:p>
        </p:txBody>
      </p:sp>
      <p:sp>
        <p:nvSpPr>
          <p:cNvPr id="9" name="Rounded Rectangle 8"/>
          <p:cNvSpPr/>
          <p:nvPr/>
        </p:nvSpPr>
        <p:spPr>
          <a:xfrm>
            <a:off x="2468879" y="1325880"/>
            <a:ext cx="1737360" cy="1737360"/>
          </a:xfrm>
          <a:prstGeom prst="roundRect">
            <a:avLst>
              <a:gd name="adj" fmla="val 3157"/>
            </a:avLst>
          </a:prstGeom>
          <a:solidFill>
            <a:srgbClr val="FFFFFF"/>
          </a:solidFill>
          <a:ln w="19050">
            <a:solidFill>
              <a:srgbClr val="E048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shop2_yulgrosir.jpg"/>
          <p:cNvPicPr>
            <a:picLocks noChangeAspect="1"/>
          </p:cNvPicPr>
          <p:nvPr/>
        </p:nvPicPr>
        <p:blipFill>
          <a:blip r:embed="rId4"/>
          <a:stretch>
            <a:fillRect/>
          </a:stretch>
        </p:blipFill>
        <p:spPr>
          <a:xfrm>
            <a:off x="2721162" y="1371600"/>
            <a:ext cx="1232794" cy="1645919"/>
          </a:xfrm>
          <a:prstGeom prst="rect">
            <a:avLst/>
          </a:prstGeom>
        </p:spPr>
      </p:pic>
      <p:sp>
        <p:nvSpPr>
          <p:cNvPr id="11" name="TextBox 10"/>
          <p:cNvSpPr txBox="1"/>
          <p:nvPr/>
        </p:nvSpPr>
        <p:spPr>
          <a:xfrm>
            <a:off x="2468879" y="3118103"/>
            <a:ext cx="1737360" cy="182880"/>
          </a:xfrm>
          <a:prstGeom prst="rect">
            <a:avLst/>
          </a:prstGeom>
          <a:noFill/>
        </p:spPr>
        <p:txBody>
          <a:bodyPr wrap="square" lIns="0" tIns="0" rIns="0" bIns="0" anchor="t">
            <a:spAutoFit/>
          </a:bodyPr>
          <a:lstStyle/>
          <a:p>
            <a:pPr algn="ctr"/>
            <a:r>
              <a:rPr sz="750" b="0" i="0">
                <a:solidFill>
                  <a:srgbClr val="595959"/>
                </a:solidFill>
                <a:latin typeface="Poppins Light"/>
              </a:rPr>
              <a:t>Cilaku, West Java</a:t>
            </a:r>
          </a:p>
        </p:txBody>
      </p:sp>
      <p:sp>
        <p:nvSpPr>
          <p:cNvPr id="12" name="Rounded Rectangle 11"/>
          <p:cNvSpPr/>
          <p:nvPr/>
        </p:nvSpPr>
        <p:spPr>
          <a:xfrm>
            <a:off x="2834639" y="3319272"/>
            <a:ext cx="1005840" cy="256032"/>
          </a:xfrm>
          <a:prstGeom prst="roundRect">
            <a:avLst>
              <a:gd name="adj" fmla="val 50000"/>
            </a:avLst>
          </a:prstGeom>
          <a:solidFill>
            <a:srgbClr val="FCE8E1"/>
          </a:solidFill>
          <a:ln w="12700">
            <a:solidFill>
              <a:srgbClr val="E048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34639" y="3319272"/>
            <a:ext cx="1005840" cy="256032"/>
          </a:xfrm>
          <a:prstGeom prst="rect">
            <a:avLst/>
          </a:prstGeom>
          <a:noFill/>
        </p:spPr>
        <p:txBody>
          <a:bodyPr wrap="square" lIns="0" tIns="0" rIns="0" bIns="0" anchor="ctr">
            <a:spAutoFit/>
          </a:bodyPr>
          <a:lstStyle/>
          <a:p>
            <a:pPr algn="ctr"/>
            <a:r>
              <a:rPr sz="950" b="1" i="0">
                <a:solidFill>
                  <a:srgbClr val="9C3016"/>
                </a:solidFill>
                <a:latin typeface="Poppins"/>
              </a:rPr>
              <a:t>✕  Not Shop</a:t>
            </a:r>
          </a:p>
        </p:txBody>
      </p:sp>
      <p:sp>
        <p:nvSpPr>
          <p:cNvPr id="14" name="Rounded Rectangle 13"/>
          <p:cNvSpPr/>
          <p:nvPr/>
        </p:nvSpPr>
        <p:spPr>
          <a:xfrm>
            <a:off x="4572000" y="1325880"/>
            <a:ext cx="1737360" cy="1737360"/>
          </a:xfrm>
          <a:prstGeom prst="roundRect">
            <a:avLst>
              <a:gd name="adj" fmla="val 3157"/>
            </a:avLst>
          </a:prstGeom>
          <a:solidFill>
            <a:srgbClr val="FFFFFF"/>
          </a:solidFill>
          <a:ln w="19050">
            <a:solidFill>
              <a:srgbClr val="00A0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shop3_ozan.jpg"/>
          <p:cNvPicPr>
            <a:picLocks noChangeAspect="1"/>
          </p:cNvPicPr>
          <p:nvPr/>
        </p:nvPicPr>
        <p:blipFill>
          <a:blip r:embed="rId5"/>
          <a:stretch>
            <a:fillRect/>
          </a:stretch>
        </p:blipFill>
        <p:spPr>
          <a:xfrm>
            <a:off x="4617720" y="1577185"/>
            <a:ext cx="1645919" cy="1234748"/>
          </a:xfrm>
          <a:prstGeom prst="rect">
            <a:avLst/>
          </a:prstGeom>
        </p:spPr>
      </p:pic>
      <p:sp>
        <p:nvSpPr>
          <p:cNvPr id="16" name="TextBox 15"/>
          <p:cNvSpPr txBox="1"/>
          <p:nvPr/>
        </p:nvSpPr>
        <p:spPr>
          <a:xfrm>
            <a:off x="4572000" y="3118103"/>
            <a:ext cx="1737360" cy="182880"/>
          </a:xfrm>
          <a:prstGeom prst="rect">
            <a:avLst/>
          </a:prstGeom>
          <a:noFill/>
        </p:spPr>
        <p:txBody>
          <a:bodyPr wrap="square" lIns="0" tIns="0" rIns="0" bIns="0" anchor="t">
            <a:spAutoFit/>
          </a:bodyPr>
          <a:lstStyle/>
          <a:p>
            <a:pPr algn="ctr"/>
            <a:r>
              <a:rPr sz="750" b="0" i="0">
                <a:solidFill>
                  <a:srgbClr val="595959"/>
                </a:solidFill>
                <a:latin typeface="Poppins Light"/>
              </a:rPr>
              <a:t>Gisting, Lampung</a:t>
            </a:r>
          </a:p>
        </p:txBody>
      </p:sp>
      <p:sp>
        <p:nvSpPr>
          <p:cNvPr id="17" name="Rounded Rectangle 16"/>
          <p:cNvSpPr/>
          <p:nvPr/>
        </p:nvSpPr>
        <p:spPr>
          <a:xfrm>
            <a:off x="4937760" y="3319272"/>
            <a:ext cx="1005840" cy="256032"/>
          </a:xfrm>
          <a:prstGeom prst="roundRect">
            <a:avLst>
              <a:gd name="adj" fmla="val 50000"/>
            </a:avLst>
          </a:prstGeom>
          <a:solidFill>
            <a:srgbClr val="DFF4F5"/>
          </a:solidFill>
          <a:ln w="12700">
            <a:solidFill>
              <a:srgbClr val="00A0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37760" y="3319272"/>
            <a:ext cx="1005840" cy="256032"/>
          </a:xfrm>
          <a:prstGeom prst="rect">
            <a:avLst/>
          </a:prstGeom>
          <a:noFill/>
        </p:spPr>
        <p:txBody>
          <a:bodyPr wrap="square" lIns="0" tIns="0" rIns="0" bIns="0" anchor="ctr">
            <a:spAutoFit/>
          </a:bodyPr>
          <a:lstStyle/>
          <a:p>
            <a:pPr algn="ctr"/>
            <a:r>
              <a:rPr sz="950" b="1" i="0">
                <a:solidFill>
                  <a:srgbClr val="006E74"/>
                </a:solidFill>
                <a:latin typeface="Poppins"/>
              </a:rPr>
              <a:t>✓  Shop</a:t>
            </a:r>
          </a:p>
        </p:txBody>
      </p:sp>
      <p:sp>
        <p:nvSpPr>
          <p:cNvPr id="19" name="Rounded Rectangle 18"/>
          <p:cNvSpPr/>
          <p:nvPr/>
        </p:nvSpPr>
        <p:spPr>
          <a:xfrm>
            <a:off x="6675120" y="1325880"/>
            <a:ext cx="1737360" cy="1737360"/>
          </a:xfrm>
          <a:prstGeom prst="roundRect">
            <a:avLst>
              <a:gd name="adj" fmla="val 3157"/>
            </a:avLst>
          </a:prstGeom>
          <a:solidFill>
            <a:srgbClr val="FFFFFF"/>
          </a:solidFill>
          <a:ln w="19050">
            <a:solidFill>
              <a:srgbClr val="00A0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shop4_rinda.jpg"/>
          <p:cNvPicPr>
            <a:picLocks noChangeAspect="1"/>
          </p:cNvPicPr>
          <p:nvPr/>
        </p:nvPicPr>
        <p:blipFill>
          <a:blip r:embed="rId6"/>
          <a:stretch>
            <a:fillRect/>
          </a:stretch>
        </p:blipFill>
        <p:spPr>
          <a:xfrm>
            <a:off x="6720840" y="1577185"/>
            <a:ext cx="1645919" cy="1234748"/>
          </a:xfrm>
          <a:prstGeom prst="rect">
            <a:avLst/>
          </a:prstGeom>
        </p:spPr>
      </p:pic>
      <p:sp>
        <p:nvSpPr>
          <p:cNvPr id="21" name="TextBox 20"/>
          <p:cNvSpPr txBox="1"/>
          <p:nvPr/>
        </p:nvSpPr>
        <p:spPr>
          <a:xfrm>
            <a:off x="6675120" y="3118103"/>
            <a:ext cx="1737360" cy="182880"/>
          </a:xfrm>
          <a:prstGeom prst="rect">
            <a:avLst/>
          </a:prstGeom>
          <a:noFill/>
        </p:spPr>
        <p:txBody>
          <a:bodyPr wrap="square" lIns="0" tIns="0" rIns="0" bIns="0" anchor="t">
            <a:spAutoFit/>
          </a:bodyPr>
          <a:lstStyle/>
          <a:p>
            <a:pPr algn="ctr"/>
            <a:r>
              <a:rPr sz="750" b="0" i="0">
                <a:solidFill>
                  <a:srgbClr val="595959"/>
                </a:solidFill>
                <a:latin typeface="Poppins Light"/>
              </a:rPr>
              <a:t>Wonosobo, Lampung</a:t>
            </a:r>
          </a:p>
        </p:txBody>
      </p:sp>
      <p:sp>
        <p:nvSpPr>
          <p:cNvPr id="22" name="Rounded Rectangle 21"/>
          <p:cNvSpPr/>
          <p:nvPr/>
        </p:nvSpPr>
        <p:spPr>
          <a:xfrm>
            <a:off x="7040880" y="3319272"/>
            <a:ext cx="1005840" cy="256032"/>
          </a:xfrm>
          <a:prstGeom prst="roundRect">
            <a:avLst>
              <a:gd name="adj" fmla="val 50000"/>
            </a:avLst>
          </a:prstGeom>
          <a:solidFill>
            <a:srgbClr val="DFF4F5"/>
          </a:solidFill>
          <a:ln w="12700">
            <a:solidFill>
              <a:srgbClr val="00A0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40880" y="3319272"/>
            <a:ext cx="1005840" cy="256032"/>
          </a:xfrm>
          <a:prstGeom prst="rect">
            <a:avLst/>
          </a:prstGeom>
          <a:noFill/>
        </p:spPr>
        <p:txBody>
          <a:bodyPr wrap="square" lIns="0" tIns="0" rIns="0" bIns="0" anchor="ctr">
            <a:spAutoFit/>
          </a:bodyPr>
          <a:lstStyle/>
          <a:p>
            <a:pPr algn="ctr"/>
            <a:r>
              <a:rPr sz="950" b="1" i="0">
                <a:solidFill>
                  <a:srgbClr val="006E74"/>
                </a:solidFill>
                <a:latin typeface="Poppins"/>
              </a:rPr>
              <a:t>✓  Shop</a:t>
            </a:r>
          </a:p>
        </p:txBody>
      </p:sp>
      <p:sp>
        <p:nvSpPr>
          <p:cNvPr id="24" name="Rounded Rectangle 23"/>
          <p:cNvSpPr/>
          <p:nvPr/>
        </p:nvSpPr>
        <p:spPr>
          <a:xfrm>
            <a:off x="365760" y="3776472"/>
            <a:ext cx="8412480" cy="932688"/>
          </a:xfrm>
          <a:prstGeom prst="roundRect">
            <a:avLst>
              <a:gd name="adj" fmla="val 5882"/>
            </a:avLst>
          </a:prstGeom>
          <a:solidFill>
            <a:srgbClr val="E8F1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530352" y="4059935"/>
            <a:ext cx="365760" cy="3657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mappin_white.png"/>
          <p:cNvPicPr>
            <a:picLocks noChangeAspect="1"/>
          </p:cNvPicPr>
          <p:nvPr/>
        </p:nvPicPr>
        <p:blipFill>
          <a:blip r:embed="rId7"/>
          <a:stretch>
            <a:fillRect/>
          </a:stretch>
        </p:blipFill>
        <p:spPr>
          <a:xfrm>
            <a:off x="612648" y="4142231"/>
            <a:ext cx="201168" cy="201168"/>
          </a:xfrm>
          <a:prstGeom prst="rect">
            <a:avLst/>
          </a:prstGeom>
        </p:spPr>
      </p:pic>
      <p:sp>
        <p:nvSpPr>
          <p:cNvPr id="27" name="TextBox 26"/>
          <p:cNvSpPr txBox="1"/>
          <p:nvPr/>
        </p:nvSpPr>
        <p:spPr>
          <a:xfrm>
            <a:off x="1005840" y="3867911"/>
            <a:ext cx="7589519" cy="256032"/>
          </a:xfrm>
          <a:prstGeom prst="rect">
            <a:avLst/>
          </a:prstGeom>
          <a:noFill/>
        </p:spPr>
        <p:txBody>
          <a:bodyPr wrap="square" lIns="0" tIns="0" rIns="0" bIns="0" anchor="t">
            <a:spAutoFit/>
          </a:bodyPr>
          <a:lstStyle/>
          <a:p>
            <a:pPr algn="l"/>
            <a:r>
              <a:rPr sz="1050" b="1" i="0">
                <a:solidFill>
                  <a:srgbClr val="005A9E"/>
                </a:solidFill>
                <a:latin typeface="Poppins"/>
              </a:rPr>
              <a:t>Business Rule: Geotag or It Doesn’t Count</a:t>
            </a:r>
          </a:p>
        </p:txBody>
      </p:sp>
      <p:sp>
        <p:nvSpPr>
          <p:cNvPr id="28" name="TextBox 27"/>
          <p:cNvSpPr txBox="1"/>
          <p:nvPr/>
        </p:nvSpPr>
        <p:spPr>
          <a:xfrm>
            <a:off x="1005840" y="4142232"/>
            <a:ext cx="7589519" cy="521208"/>
          </a:xfrm>
          <a:prstGeom prst="rect">
            <a:avLst/>
          </a:prstGeom>
          <a:noFill/>
        </p:spPr>
        <p:txBody>
          <a:bodyPr wrap="square" lIns="0" tIns="0" rIns="0" bIns="0">
            <a:spAutoFit/>
          </a:bodyPr>
          <a:lstStyle/>
          <a:p>
            <a:pPr>
              <a:lnSpc>
                <a:spcPct val="105000"/>
              </a:lnSpc>
              <a:spcAft>
                <a:spcPts val="200"/>
              </a:spcAft>
            </a:pPr>
            <a:r>
              <a:rPr sz="869" b="0" i="0">
                <a:solidFill>
                  <a:srgbClr val="005A9E"/>
                </a:solidFill>
                <a:latin typeface="Poppins Light"/>
              </a:rPr>
              <a:t>●  Every outlet photo must carry a geotag — no exceptions.</a:t>
            </a:r>
          </a:p>
          <a:p>
            <a:pPr>
              <a:lnSpc>
                <a:spcPct val="105000"/>
              </a:lnSpc>
              <a:spcAft>
                <a:spcPts val="200"/>
              </a:spcAft>
            </a:pPr>
            <a:r>
              <a:rPr sz="869" b="0" i="0">
                <a:solidFill>
                  <a:srgbClr val="005A9E"/>
                </a:solidFill>
                <a:latin typeface="Poppins Light"/>
              </a:rPr>
              <a:t>●  A photo that looks like a shop but has no geotag is still classified Not Shop.</a:t>
            </a:r>
          </a:p>
          <a:p>
            <a:pPr>
              <a:lnSpc>
                <a:spcPct val="105000"/>
              </a:lnSpc>
              <a:spcAft>
                <a:spcPts val="200"/>
              </a:spcAft>
            </a:pPr>
            <a:r>
              <a:rPr sz="869" b="0" i="0">
                <a:solidFill>
                  <a:srgbClr val="005A9E"/>
                </a:solidFill>
                <a:latin typeface="Poppins Light"/>
              </a:rPr>
              <a:t>●  Geolocation is extracted directly from the shop image itself, not entered separately.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219456"/>
          </a:xfrm>
          <a:prstGeom prst="rect">
            <a:avLst/>
          </a:prstGeom>
          <a:noFill/>
        </p:spPr>
        <p:txBody>
          <a:bodyPr wrap="square" lIns="0" tIns="0" rIns="0" bIns="0" anchor="t">
            <a:spAutoFit/>
          </a:bodyPr>
          <a:lstStyle/>
          <a:p>
            <a:pPr algn="l"/>
            <a:r>
              <a:rPr sz="900" b="1" i="0">
                <a:solidFill>
                  <a:srgbClr val="0078D4"/>
                </a:solidFill>
                <a:latin typeface="Poppins"/>
              </a:rPr>
              <a:t>02 · ARCHITECTURE</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An Event-Driven Pipeline, End to End</a:t>
            </a:r>
          </a:p>
        </p:txBody>
      </p:sp>
      <p:sp>
        <p:nvSpPr>
          <p:cNvPr id="4" name="Rounded Rectangle 3"/>
          <p:cNvSpPr/>
          <p:nvPr/>
        </p:nvSpPr>
        <p:spPr>
          <a:xfrm>
            <a:off x="365760" y="1828800"/>
            <a:ext cx="1170432" cy="1417320"/>
          </a:xfrm>
          <a:prstGeom prst="roundRect">
            <a:avLst>
              <a:gd name="adj" fmla="val 4687"/>
            </a:avLst>
          </a:prstGeom>
          <a:solidFill>
            <a:srgbClr val="E8F1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58952" y="1956816"/>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845362" y="2043226"/>
            <a:ext cx="211226" cy="211226"/>
          </a:xfrm>
          <a:prstGeom prst="rect">
            <a:avLst/>
          </a:prstGeom>
        </p:spPr>
      </p:pic>
      <p:sp>
        <p:nvSpPr>
          <p:cNvPr id="7" name="TextBox 6"/>
          <p:cNvSpPr txBox="1"/>
          <p:nvPr/>
        </p:nvSpPr>
        <p:spPr>
          <a:xfrm>
            <a:off x="402336" y="2395728"/>
            <a:ext cx="1097280" cy="256032"/>
          </a:xfrm>
          <a:prstGeom prst="rect">
            <a:avLst/>
          </a:prstGeom>
          <a:noFill/>
        </p:spPr>
        <p:txBody>
          <a:bodyPr wrap="square" lIns="0" tIns="0" rIns="0" bIns="0" anchor="t">
            <a:spAutoFit/>
          </a:bodyPr>
          <a:lstStyle/>
          <a:p>
            <a:pPr algn="ctr"/>
            <a:r>
              <a:rPr sz="950" b="1" i="0">
                <a:solidFill>
                  <a:srgbClr val="08023F"/>
                </a:solidFill>
                <a:latin typeface="Poppins"/>
              </a:rPr>
              <a:t>Upload</a:t>
            </a:r>
          </a:p>
        </p:txBody>
      </p:sp>
      <p:sp>
        <p:nvSpPr>
          <p:cNvPr id="8" name="TextBox 7"/>
          <p:cNvSpPr txBox="1"/>
          <p:nvPr/>
        </p:nvSpPr>
        <p:spPr>
          <a:xfrm>
            <a:off x="402336" y="2633472"/>
            <a:ext cx="1097280" cy="274320"/>
          </a:xfrm>
          <a:prstGeom prst="rect">
            <a:avLst/>
          </a:prstGeom>
          <a:noFill/>
        </p:spPr>
        <p:txBody>
          <a:bodyPr wrap="square" lIns="0" tIns="0" rIns="0" bIns="0" anchor="t">
            <a:spAutoFit/>
          </a:bodyPr>
          <a:lstStyle/>
          <a:p>
            <a:pPr algn="ctr"/>
            <a:r>
              <a:rPr sz="730" b="0" i="1">
                <a:solidFill>
                  <a:srgbClr val="005A9E"/>
                </a:solidFill>
                <a:latin typeface="Poppins Light"/>
              </a:rPr>
              <a:t>Field app</a:t>
            </a:r>
          </a:p>
        </p:txBody>
      </p:sp>
      <p:cxnSp>
        <p:nvCxnSpPr>
          <p:cNvPr id="9" name="Connector 8"/>
          <p:cNvCxnSpPr/>
          <p:nvPr/>
        </p:nvCxnSpPr>
        <p:spPr>
          <a:xfrm>
            <a:off x="1572768" y="2537460"/>
            <a:ext cx="204825" cy="0"/>
          </a:xfrm>
          <a:prstGeom prst="line">
            <a:avLst/>
          </a:prstGeom>
          <a:ln w="19050">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814169" y="1828800"/>
            <a:ext cx="1170432" cy="1417320"/>
          </a:xfrm>
          <a:prstGeom prst="roundRect">
            <a:avLst>
              <a:gd name="adj" fmla="val 4687"/>
            </a:avLst>
          </a:prstGeom>
          <a:solidFill>
            <a:srgbClr val="E8F1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207361" y="1956816"/>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4"/>
          <a:stretch>
            <a:fillRect/>
          </a:stretch>
        </p:blipFill>
        <p:spPr>
          <a:xfrm>
            <a:off x="2293772" y="2043226"/>
            <a:ext cx="211226" cy="211226"/>
          </a:xfrm>
          <a:prstGeom prst="rect">
            <a:avLst/>
          </a:prstGeom>
        </p:spPr>
      </p:pic>
      <p:sp>
        <p:nvSpPr>
          <p:cNvPr id="13" name="TextBox 12"/>
          <p:cNvSpPr txBox="1"/>
          <p:nvPr/>
        </p:nvSpPr>
        <p:spPr>
          <a:xfrm>
            <a:off x="1850745" y="2395728"/>
            <a:ext cx="1097280" cy="256032"/>
          </a:xfrm>
          <a:prstGeom prst="rect">
            <a:avLst/>
          </a:prstGeom>
          <a:noFill/>
        </p:spPr>
        <p:txBody>
          <a:bodyPr wrap="square" lIns="0" tIns="0" rIns="0" bIns="0" anchor="t">
            <a:spAutoFit/>
          </a:bodyPr>
          <a:lstStyle/>
          <a:p>
            <a:pPr algn="ctr"/>
            <a:r>
              <a:rPr sz="950" b="1" i="0">
                <a:solidFill>
                  <a:srgbClr val="08023F"/>
                </a:solidFill>
                <a:latin typeface="Poppins"/>
              </a:rPr>
              <a:t>Blob Storage</a:t>
            </a:r>
          </a:p>
        </p:txBody>
      </p:sp>
      <p:sp>
        <p:nvSpPr>
          <p:cNvPr id="14" name="TextBox 13"/>
          <p:cNvSpPr txBox="1"/>
          <p:nvPr/>
        </p:nvSpPr>
        <p:spPr>
          <a:xfrm>
            <a:off x="1850745" y="2633472"/>
            <a:ext cx="1097280" cy="274320"/>
          </a:xfrm>
          <a:prstGeom prst="rect">
            <a:avLst/>
          </a:prstGeom>
          <a:noFill/>
        </p:spPr>
        <p:txBody>
          <a:bodyPr wrap="square" lIns="0" tIns="0" rIns="0" bIns="0" anchor="t">
            <a:spAutoFit/>
          </a:bodyPr>
          <a:lstStyle/>
          <a:p>
            <a:pPr algn="ctr"/>
            <a:r>
              <a:rPr sz="730" b="0" i="1">
                <a:solidFill>
                  <a:srgbClr val="005A9E"/>
                </a:solidFill>
                <a:latin typeface="Poppins Light"/>
              </a:rPr>
              <a:t>Azure Storage</a:t>
            </a:r>
          </a:p>
        </p:txBody>
      </p:sp>
      <p:cxnSp>
        <p:nvCxnSpPr>
          <p:cNvPr id="15" name="Connector 14"/>
          <p:cNvCxnSpPr/>
          <p:nvPr/>
        </p:nvCxnSpPr>
        <p:spPr>
          <a:xfrm>
            <a:off x="3021177" y="2537460"/>
            <a:ext cx="204826" cy="0"/>
          </a:xfrm>
          <a:prstGeom prst="line">
            <a:avLst/>
          </a:prstGeom>
          <a:ln w="19050">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262579" y="1828800"/>
            <a:ext cx="1170432" cy="1417320"/>
          </a:xfrm>
          <a:prstGeom prst="roundRect">
            <a:avLst>
              <a:gd name="adj" fmla="val 4687"/>
            </a:avLst>
          </a:prstGeom>
          <a:solidFill>
            <a:srgbClr val="E8F1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3655771" y="1956816"/>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r:embed="rId5"/>
          <a:stretch>
            <a:fillRect/>
          </a:stretch>
        </p:blipFill>
        <p:spPr>
          <a:xfrm>
            <a:off x="3742182" y="2043226"/>
            <a:ext cx="211226" cy="211226"/>
          </a:xfrm>
          <a:prstGeom prst="rect">
            <a:avLst/>
          </a:prstGeom>
        </p:spPr>
      </p:pic>
      <p:sp>
        <p:nvSpPr>
          <p:cNvPr id="19" name="TextBox 18"/>
          <p:cNvSpPr txBox="1"/>
          <p:nvPr/>
        </p:nvSpPr>
        <p:spPr>
          <a:xfrm>
            <a:off x="3299155" y="2395728"/>
            <a:ext cx="1097280" cy="256032"/>
          </a:xfrm>
          <a:prstGeom prst="rect">
            <a:avLst/>
          </a:prstGeom>
          <a:noFill/>
        </p:spPr>
        <p:txBody>
          <a:bodyPr wrap="square" lIns="0" tIns="0" rIns="0" bIns="0" anchor="t">
            <a:spAutoFit/>
          </a:bodyPr>
          <a:lstStyle/>
          <a:p>
            <a:pPr algn="ctr"/>
            <a:r>
              <a:rPr sz="950" b="1" i="0">
                <a:solidFill>
                  <a:srgbClr val="08023F"/>
                </a:solidFill>
                <a:latin typeface="Poppins"/>
              </a:rPr>
              <a:t>Event Grid</a:t>
            </a:r>
          </a:p>
        </p:txBody>
      </p:sp>
      <p:sp>
        <p:nvSpPr>
          <p:cNvPr id="20" name="TextBox 19"/>
          <p:cNvSpPr txBox="1"/>
          <p:nvPr/>
        </p:nvSpPr>
        <p:spPr>
          <a:xfrm>
            <a:off x="3299155" y="2633472"/>
            <a:ext cx="1097280" cy="274320"/>
          </a:xfrm>
          <a:prstGeom prst="rect">
            <a:avLst/>
          </a:prstGeom>
          <a:noFill/>
        </p:spPr>
        <p:txBody>
          <a:bodyPr wrap="square" lIns="0" tIns="0" rIns="0" bIns="0" anchor="t">
            <a:spAutoFit/>
          </a:bodyPr>
          <a:lstStyle/>
          <a:p>
            <a:pPr algn="ctr"/>
            <a:r>
              <a:rPr sz="730" b="0" i="1">
                <a:solidFill>
                  <a:srgbClr val="005A9E"/>
                </a:solidFill>
                <a:latin typeface="Poppins Light"/>
              </a:rPr>
              <a:t>Storage subscription</a:t>
            </a:r>
          </a:p>
        </p:txBody>
      </p:sp>
      <p:cxnSp>
        <p:nvCxnSpPr>
          <p:cNvPr id="21" name="Connector 20"/>
          <p:cNvCxnSpPr/>
          <p:nvPr/>
        </p:nvCxnSpPr>
        <p:spPr>
          <a:xfrm>
            <a:off x="4469587" y="2537460"/>
            <a:ext cx="204825" cy="0"/>
          </a:xfrm>
          <a:prstGeom prst="line">
            <a:avLst/>
          </a:prstGeom>
          <a:ln w="19050">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710988" y="1828800"/>
            <a:ext cx="1170432" cy="1417320"/>
          </a:xfrm>
          <a:prstGeom prst="roundRect">
            <a:avLst>
              <a:gd name="adj" fmla="val 4687"/>
            </a:avLst>
          </a:prstGeom>
          <a:solidFill>
            <a:srgbClr val="E8F1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5104180" y="1956816"/>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image.png"/>
          <p:cNvPicPr>
            <a:picLocks noChangeAspect="1"/>
          </p:cNvPicPr>
          <p:nvPr/>
        </p:nvPicPr>
        <p:blipFill>
          <a:blip r:embed="rId6"/>
          <a:stretch>
            <a:fillRect/>
          </a:stretch>
        </p:blipFill>
        <p:spPr>
          <a:xfrm>
            <a:off x="5190591" y="2043226"/>
            <a:ext cx="211226" cy="211226"/>
          </a:xfrm>
          <a:prstGeom prst="rect">
            <a:avLst/>
          </a:prstGeom>
        </p:spPr>
      </p:pic>
      <p:sp>
        <p:nvSpPr>
          <p:cNvPr id="25" name="TextBox 24"/>
          <p:cNvSpPr txBox="1"/>
          <p:nvPr/>
        </p:nvSpPr>
        <p:spPr>
          <a:xfrm>
            <a:off x="4747564" y="2395728"/>
            <a:ext cx="1097280" cy="256032"/>
          </a:xfrm>
          <a:prstGeom prst="rect">
            <a:avLst/>
          </a:prstGeom>
          <a:noFill/>
        </p:spPr>
        <p:txBody>
          <a:bodyPr wrap="square" lIns="0" tIns="0" rIns="0" bIns="0" anchor="t">
            <a:spAutoFit/>
          </a:bodyPr>
          <a:lstStyle/>
          <a:p>
            <a:pPr algn="ctr"/>
            <a:r>
              <a:rPr sz="950" b="1" i="0">
                <a:solidFill>
                  <a:srgbClr val="08023F"/>
                </a:solidFill>
                <a:latin typeface="Poppins"/>
              </a:rPr>
              <a:t>Function App</a:t>
            </a:r>
          </a:p>
        </p:txBody>
      </p:sp>
      <p:sp>
        <p:nvSpPr>
          <p:cNvPr id="26" name="TextBox 25"/>
          <p:cNvSpPr txBox="1"/>
          <p:nvPr/>
        </p:nvSpPr>
        <p:spPr>
          <a:xfrm>
            <a:off x="4747564" y="2633472"/>
            <a:ext cx="1097280" cy="274320"/>
          </a:xfrm>
          <a:prstGeom prst="rect">
            <a:avLst/>
          </a:prstGeom>
          <a:noFill/>
        </p:spPr>
        <p:txBody>
          <a:bodyPr wrap="square" lIns="0" tIns="0" rIns="0" bIns="0" anchor="t">
            <a:spAutoFit/>
          </a:bodyPr>
          <a:lstStyle/>
          <a:p>
            <a:pPr algn="ctr"/>
            <a:r>
              <a:rPr sz="730" b="0" i="1">
                <a:solidFill>
                  <a:srgbClr val="005A9E"/>
                </a:solidFill>
                <a:latin typeface="Poppins Light"/>
              </a:rPr>
              <a:t>Serverless compute</a:t>
            </a:r>
          </a:p>
        </p:txBody>
      </p:sp>
      <p:cxnSp>
        <p:nvCxnSpPr>
          <p:cNvPr id="27" name="Connector 26"/>
          <p:cNvCxnSpPr/>
          <p:nvPr/>
        </p:nvCxnSpPr>
        <p:spPr>
          <a:xfrm>
            <a:off x="5917996" y="2537460"/>
            <a:ext cx="204826" cy="0"/>
          </a:xfrm>
          <a:prstGeom prst="line">
            <a:avLst/>
          </a:prstGeom>
          <a:ln w="19050">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159398" y="1828800"/>
            <a:ext cx="1170432" cy="1417320"/>
          </a:xfrm>
          <a:prstGeom prst="roundRect">
            <a:avLst>
              <a:gd name="adj" fmla="val 4687"/>
            </a:avLst>
          </a:prstGeom>
          <a:solidFill>
            <a:srgbClr val="DFF4F5"/>
          </a:solidFill>
          <a:ln w="12700">
            <a:solidFill>
              <a:srgbClr val="00A0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552590" y="1956816"/>
            <a:ext cx="384048" cy="384048"/>
          </a:xfrm>
          <a:prstGeom prst="ellipse">
            <a:avLst/>
          </a:prstGeom>
          <a:solidFill>
            <a:srgbClr val="00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0" name="Picture 29" descr="image.png"/>
          <p:cNvPicPr>
            <a:picLocks noChangeAspect="1"/>
          </p:cNvPicPr>
          <p:nvPr/>
        </p:nvPicPr>
        <p:blipFill>
          <a:blip r:embed="rId7"/>
          <a:stretch>
            <a:fillRect/>
          </a:stretch>
        </p:blipFill>
        <p:spPr>
          <a:xfrm>
            <a:off x="6639001" y="2043226"/>
            <a:ext cx="211226" cy="211226"/>
          </a:xfrm>
          <a:prstGeom prst="rect">
            <a:avLst/>
          </a:prstGeom>
        </p:spPr>
      </p:pic>
      <p:sp>
        <p:nvSpPr>
          <p:cNvPr id="31" name="TextBox 30"/>
          <p:cNvSpPr txBox="1"/>
          <p:nvPr/>
        </p:nvSpPr>
        <p:spPr>
          <a:xfrm>
            <a:off x="6195974" y="2395728"/>
            <a:ext cx="1097280" cy="256032"/>
          </a:xfrm>
          <a:prstGeom prst="rect">
            <a:avLst/>
          </a:prstGeom>
          <a:noFill/>
        </p:spPr>
        <p:txBody>
          <a:bodyPr wrap="square" lIns="0" tIns="0" rIns="0" bIns="0" anchor="t">
            <a:spAutoFit/>
          </a:bodyPr>
          <a:lstStyle/>
          <a:p>
            <a:pPr algn="ctr"/>
            <a:r>
              <a:rPr sz="950" b="1" i="0">
                <a:solidFill>
                  <a:srgbClr val="08023F"/>
                </a:solidFill>
                <a:latin typeface="Poppins"/>
              </a:rPr>
              <a:t>Vision Classify</a:t>
            </a:r>
          </a:p>
        </p:txBody>
      </p:sp>
      <p:sp>
        <p:nvSpPr>
          <p:cNvPr id="32" name="TextBox 31"/>
          <p:cNvSpPr txBox="1"/>
          <p:nvPr/>
        </p:nvSpPr>
        <p:spPr>
          <a:xfrm>
            <a:off x="6195974" y="2633472"/>
            <a:ext cx="1097280" cy="274320"/>
          </a:xfrm>
          <a:prstGeom prst="rect">
            <a:avLst/>
          </a:prstGeom>
          <a:noFill/>
        </p:spPr>
        <p:txBody>
          <a:bodyPr wrap="square" lIns="0" tIns="0" rIns="0" bIns="0" anchor="t">
            <a:spAutoFit/>
          </a:bodyPr>
          <a:lstStyle/>
          <a:p>
            <a:pPr algn="ctr"/>
            <a:r>
              <a:rPr sz="730" b="0" i="1">
                <a:solidFill>
                  <a:srgbClr val="006E74"/>
                </a:solidFill>
                <a:latin typeface="Poppins Light"/>
              </a:rPr>
              <a:t>Mistral Medium 2505</a:t>
            </a:r>
          </a:p>
        </p:txBody>
      </p:sp>
      <p:cxnSp>
        <p:nvCxnSpPr>
          <p:cNvPr id="33" name="Connector 32"/>
          <p:cNvCxnSpPr/>
          <p:nvPr/>
        </p:nvCxnSpPr>
        <p:spPr>
          <a:xfrm>
            <a:off x="7366406" y="2537460"/>
            <a:ext cx="204825" cy="0"/>
          </a:xfrm>
          <a:prstGeom prst="line">
            <a:avLst/>
          </a:prstGeom>
          <a:ln w="19050">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607808" y="1828800"/>
            <a:ext cx="1170432" cy="1417320"/>
          </a:xfrm>
          <a:prstGeom prst="roundRect">
            <a:avLst>
              <a:gd name="adj" fmla="val 4687"/>
            </a:avLst>
          </a:prstGeom>
          <a:solidFill>
            <a:srgbClr val="E8F1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8001000" y="1956816"/>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image.png"/>
          <p:cNvPicPr>
            <a:picLocks noChangeAspect="1"/>
          </p:cNvPicPr>
          <p:nvPr/>
        </p:nvPicPr>
        <p:blipFill>
          <a:blip r:embed="rId8"/>
          <a:stretch>
            <a:fillRect/>
          </a:stretch>
        </p:blipFill>
        <p:spPr>
          <a:xfrm>
            <a:off x="8087410" y="2043226"/>
            <a:ext cx="211226" cy="211226"/>
          </a:xfrm>
          <a:prstGeom prst="rect">
            <a:avLst/>
          </a:prstGeom>
        </p:spPr>
      </p:pic>
      <p:sp>
        <p:nvSpPr>
          <p:cNvPr id="37" name="TextBox 36"/>
          <p:cNvSpPr txBox="1"/>
          <p:nvPr/>
        </p:nvSpPr>
        <p:spPr>
          <a:xfrm>
            <a:off x="7644383" y="2395728"/>
            <a:ext cx="1097280" cy="256032"/>
          </a:xfrm>
          <a:prstGeom prst="rect">
            <a:avLst/>
          </a:prstGeom>
          <a:noFill/>
        </p:spPr>
        <p:txBody>
          <a:bodyPr wrap="square" lIns="0" tIns="0" rIns="0" bIns="0" anchor="t">
            <a:spAutoFit/>
          </a:bodyPr>
          <a:lstStyle/>
          <a:p>
            <a:pPr algn="ctr"/>
            <a:r>
              <a:rPr sz="950" b="1" i="0">
                <a:solidFill>
                  <a:srgbClr val="08023F"/>
                </a:solidFill>
                <a:latin typeface="Poppins"/>
              </a:rPr>
              <a:t>Store Result</a:t>
            </a:r>
          </a:p>
        </p:txBody>
      </p:sp>
      <p:sp>
        <p:nvSpPr>
          <p:cNvPr id="38" name="TextBox 37"/>
          <p:cNvSpPr txBox="1"/>
          <p:nvPr/>
        </p:nvSpPr>
        <p:spPr>
          <a:xfrm>
            <a:off x="7644383" y="2633472"/>
            <a:ext cx="1097280" cy="274320"/>
          </a:xfrm>
          <a:prstGeom prst="rect">
            <a:avLst/>
          </a:prstGeom>
          <a:noFill/>
        </p:spPr>
        <p:txBody>
          <a:bodyPr wrap="square" lIns="0" tIns="0" rIns="0" bIns="0" anchor="t">
            <a:spAutoFit/>
          </a:bodyPr>
          <a:lstStyle/>
          <a:p>
            <a:pPr algn="ctr"/>
            <a:r>
              <a:rPr sz="730" b="0" i="1">
                <a:solidFill>
                  <a:srgbClr val="005A9E"/>
                </a:solidFill>
                <a:latin typeface="Poppins Light"/>
              </a:rPr>
              <a:t>Cosmos DB</a:t>
            </a:r>
          </a:p>
        </p:txBody>
      </p:sp>
      <p:sp>
        <p:nvSpPr>
          <p:cNvPr id="39" name="TextBox 38"/>
          <p:cNvSpPr txBox="1"/>
          <p:nvPr/>
        </p:nvSpPr>
        <p:spPr>
          <a:xfrm>
            <a:off x="365760" y="3538727"/>
            <a:ext cx="8412480" cy="320040"/>
          </a:xfrm>
          <a:prstGeom prst="rect">
            <a:avLst/>
          </a:prstGeom>
          <a:noFill/>
        </p:spPr>
        <p:txBody>
          <a:bodyPr wrap="square" lIns="0" tIns="0" rIns="0" bIns="0" anchor="t">
            <a:spAutoFit/>
          </a:bodyPr>
          <a:lstStyle/>
          <a:p>
            <a:pPr algn="ctr"/>
            <a:r>
              <a:rPr sz="1000" b="0" i="1">
                <a:solidFill>
                  <a:srgbClr val="595959"/>
                </a:solidFill>
                <a:latin typeface="Poppins Light"/>
              </a:rPr>
              <a:t>An Event Grid subscription on the storage account triggers the Function — nothing runs unless there’s an image to process.</a:t>
            </a:r>
          </a:p>
        </p:txBody>
      </p:sp>
    </p:spTree>
    <p:extLst>
      <p:ext uri="{BB962C8B-B14F-4D97-AF65-F5344CB8AC3E}">
        <p14:creationId xmlns:p14="http://schemas.microsoft.com/office/powerpoint/2010/main" val="12026335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219456"/>
          </a:xfrm>
          <a:prstGeom prst="rect">
            <a:avLst/>
          </a:prstGeom>
          <a:noFill/>
        </p:spPr>
        <p:txBody>
          <a:bodyPr wrap="square" lIns="0" tIns="0" rIns="0" bIns="0" anchor="t">
            <a:spAutoFit/>
          </a:bodyPr>
          <a:lstStyle/>
          <a:p>
            <a:pPr algn="l"/>
            <a:r>
              <a:rPr sz="900" b="1" i="0">
                <a:solidFill>
                  <a:srgbClr val="0078D4"/>
                </a:solidFill>
                <a:latin typeface="Poppins"/>
              </a:rPr>
              <a:t>02 · ARCHITECTURE</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Five Steps From Photo to Insight</a:t>
            </a:r>
          </a:p>
        </p:txBody>
      </p:sp>
      <p:sp>
        <p:nvSpPr>
          <p:cNvPr id="4" name="Rounded Rectangle 3"/>
          <p:cNvSpPr/>
          <p:nvPr/>
        </p:nvSpPr>
        <p:spPr>
          <a:xfrm>
            <a:off x="365760" y="1143000"/>
            <a:ext cx="2657855" cy="1700784"/>
          </a:xfrm>
          <a:prstGeom prst="roundRect">
            <a:avLst>
              <a:gd name="adj" fmla="val 3225"/>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30352" y="1307592"/>
            <a:ext cx="384048" cy="384048"/>
          </a:xfrm>
          <a:prstGeom prst="ellipse">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626364" y="1403604"/>
            <a:ext cx="192024" cy="192024"/>
          </a:xfrm>
          <a:prstGeom prst="rect">
            <a:avLst/>
          </a:prstGeom>
        </p:spPr>
      </p:pic>
      <p:sp>
        <p:nvSpPr>
          <p:cNvPr id="7" name="Oval 6"/>
          <p:cNvSpPr/>
          <p:nvPr/>
        </p:nvSpPr>
        <p:spPr>
          <a:xfrm>
            <a:off x="2639567" y="1289304"/>
            <a:ext cx="237744" cy="237744"/>
          </a:xfrm>
          <a:prstGeom prst="ellipse">
            <a:avLst/>
          </a:prstGeom>
          <a:solidFill>
            <a:srgbClr val="005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39567" y="1289304"/>
            <a:ext cx="237744" cy="237744"/>
          </a:xfrm>
          <a:prstGeom prst="rect">
            <a:avLst/>
          </a:prstGeom>
          <a:noFill/>
        </p:spPr>
        <p:txBody>
          <a:bodyPr wrap="square" lIns="0" tIns="0" rIns="0" bIns="0" anchor="ctr">
            <a:spAutoFit/>
          </a:bodyPr>
          <a:lstStyle/>
          <a:p>
            <a:pPr algn="ctr"/>
            <a:r>
              <a:rPr sz="950" b="1" i="0">
                <a:solidFill>
                  <a:srgbClr val="FFFFFF"/>
                </a:solidFill>
                <a:latin typeface="Poppins"/>
              </a:rPr>
              <a:t>1</a:t>
            </a:r>
          </a:p>
        </p:txBody>
      </p:sp>
      <p:sp>
        <p:nvSpPr>
          <p:cNvPr id="9" name="TextBox 8"/>
          <p:cNvSpPr txBox="1"/>
          <p:nvPr/>
        </p:nvSpPr>
        <p:spPr>
          <a:xfrm>
            <a:off x="530352" y="1801368"/>
            <a:ext cx="2328672" cy="292608"/>
          </a:xfrm>
          <a:prstGeom prst="rect">
            <a:avLst/>
          </a:prstGeom>
          <a:noFill/>
        </p:spPr>
        <p:txBody>
          <a:bodyPr wrap="square" lIns="0" tIns="0" rIns="0" bIns="0" anchor="t">
            <a:spAutoFit/>
          </a:bodyPr>
          <a:lstStyle/>
          <a:p>
            <a:pPr algn="l"/>
            <a:r>
              <a:rPr sz="1100" b="1" i="0">
                <a:solidFill>
                  <a:srgbClr val="08023F"/>
                </a:solidFill>
                <a:latin typeface="Poppins"/>
              </a:rPr>
              <a:t>Upload &amp; Ingest</a:t>
            </a:r>
          </a:p>
        </p:txBody>
      </p:sp>
      <p:sp>
        <p:nvSpPr>
          <p:cNvPr id="10" name="TextBox 9"/>
          <p:cNvSpPr txBox="1"/>
          <p:nvPr/>
        </p:nvSpPr>
        <p:spPr>
          <a:xfrm>
            <a:off x="530352" y="2103120"/>
            <a:ext cx="2328672" cy="649224"/>
          </a:xfrm>
          <a:prstGeom prst="rect">
            <a:avLst/>
          </a:prstGeom>
          <a:noFill/>
        </p:spPr>
        <p:txBody>
          <a:bodyPr wrap="square" lIns="0" tIns="0" rIns="0" bIns="0" anchor="t">
            <a:spAutoFit/>
          </a:bodyPr>
          <a:lstStyle/>
          <a:p>
            <a:pPr algn="l">
              <a:lnSpc>
                <a:spcPct val="112000"/>
              </a:lnSpc>
            </a:pPr>
            <a:r>
              <a:rPr sz="860" b="0" i="0">
                <a:solidFill>
                  <a:srgbClr val="595959"/>
                </a:solidFill>
                <a:latin typeface="Poppins Light"/>
              </a:rPr>
              <a:t>The field app uploads the outlet photo straight to Azure Blob Storage.</a:t>
            </a:r>
          </a:p>
        </p:txBody>
      </p:sp>
      <p:sp>
        <p:nvSpPr>
          <p:cNvPr id="11" name="Rounded Rectangle 10"/>
          <p:cNvSpPr/>
          <p:nvPr/>
        </p:nvSpPr>
        <p:spPr>
          <a:xfrm>
            <a:off x="3243072" y="1143000"/>
            <a:ext cx="2657855" cy="1700784"/>
          </a:xfrm>
          <a:prstGeom prst="roundRect">
            <a:avLst>
              <a:gd name="adj" fmla="val 3225"/>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407664" y="1307592"/>
            <a:ext cx="384048" cy="384048"/>
          </a:xfrm>
          <a:prstGeom prst="ellipse">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4"/>
          <a:stretch>
            <a:fillRect/>
          </a:stretch>
        </p:blipFill>
        <p:spPr>
          <a:xfrm>
            <a:off x="3503676" y="1403604"/>
            <a:ext cx="192024" cy="192024"/>
          </a:xfrm>
          <a:prstGeom prst="rect">
            <a:avLst/>
          </a:prstGeom>
        </p:spPr>
      </p:pic>
      <p:sp>
        <p:nvSpPr>
          <p:cNvPr id="14" name="Oval 13"/>
          <p:cNvSpPr/>
          <p:nvPr/>
        </p:nvSpPr>
        <p:spPr>
          <a:xfrm>
            <a:off x="5516880" y="1289304"/>
            <a:ext cx="237744" cy="237744"/>
          </a:xfrm>
          <a:prstGeom prst="ellipse">
            <a:avLst/>
          </a:prstGeom>
          <a:solidFill>
            <a:srgbClr val="005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516880" y="1289304"/>
            <a:ext cx="237744" cy="237744"/>
          </a:xfrm>
          <a:prstGeom prst="rect">
            <a:avLst/>
          </a:prstGeom>
          <a:noFill/>
        </p:spPr>
        <p:txBody>
          <a:bodyPr wrap="square" lIns="0" tIns="0" rIns="0" bIns="0" anchor="ctr">
            <a:spAutoFit/>
          </a:bodyPr>
          <a:lstStyle/>
          <a:p>
            <a:pPr algn="ctr"/>
            <a:r>
              <a:rPr sz="950" b="1" i="0">
                <a:solidFill>
                  <a:srgbClr val="FFFFFF"/>
                </a:solidFill>
                <a:latin typeface="Poppins"/>
              </a:rPr>
              <a:t>2</a:t>
            </a:r>
          </a:p>
        </p:txBody>
      </p:sp>
      <p:sp>
        <p:nvSpPr>
          <p:cNvPr id="16" name="TextBox 15"/>
          <p:cNvSpPr txBox="1"/>
          <p:nvPr/>
        </p:nvSpPr>
        <p:spPr>
          <a:xfrm>
            <a:off x="3407664" y="1801368"/>
            <a:ext cx="2328672" cy="292608"/>
          </a:xfrm>
          <a:prstGeom prst="rect">
            <a:avLst/>
          </a:prstGeom>
          <a:noFill/>
        </p:spPr>
        <p:txBody>
          <a:bodyPr wrap="square" lIns="0" tIns="0" rIns="0" bIns="0" anchor="t">
            <a:spAutoFit/>
          </a:bodyPr>
          <a:lstStyle/>
          <a:p>
            <a:pPr algn="l"/>
            <a:r>
              <a:rPr sz="1100" b="1" i="0">
                <a:solidFill>
                  <a:srgbClr val="08023F"/>
                </a:solidFill>
                <a:latin typeface="Poppins"/>
              </a:rPr>
              <a:t>Event Trigger</a:t>
            </a:r>
          </a:p>
        </p:txBody>
      </p:sp>
      <p:sp>
        <p:nvSpPr>
          <p:cNvPr id="17" name="TextBox 16"/>
          <p:cNvSpPr txBox="1"/>
          <p:nvPr/>
        </p:nvSpPr>
        <p:spPr>
          <a:xfrm>
            <a:off x="3407664" y="2103120"/>
            <a:ext cx="2328672" cy="649224"/>
          </a:xfrm>
          <a:prstGeom prst="rect">
            <a:avLst/>
          </a:prstGeom>
          <a:noFill/>
        </p:spPr>
        <p:txBody>
          <a:bodyPr wrap="square" lIns="0" tIns="0" rIns="0" bIns="0" anchor="t">
            <a:spAutoFit/>
          </a:bodyPr>
          <a:lstStyle/>
          <a:p>
            <a:pPr algn="l">
              <a:lnSpc>
                <a:spcPct val="112000"/>
              </a:lnSpc>
            </a:pPr>
            <a:r>
              <a:rPr sz="860" b="0" i="0">
                <a:solidFill>
                  <a:srgbClr val="595959"/>
                </a:solidFill>
                <a:latin typeface="Poppins Light"/>
              </a:rPr>
              <a:t>An Event Grid subscription on the storage account fires the moment the blob lands — no polling.</a:t>
            </a:r>
          </a:p>
        </p:txBody>
      </p:sp>
      <p:sp>
        <p:nvSpPr>
          <p:cNvPr id="18" name="Rounded Rectangle 17"/>
          <p:cNvSpPr/>
          <p:nvPr/>
        </p:nvSpPr>
        <p:spPr>
          <a:xfrm>
            <a:off x="6120384" y="1143000"/>
            <a:ext cx="2657855" cy="1700784"/>
          </a:xfrm>
          <a:prstGeom prst="roundRect">
            <a:avLst>
              <a:gd name="adj" fmla="val 3225"/>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284976" y="1307592"/>
            <a:ext cx="384048" cy="384048"/>
          </a:xfrm>
          <a:prstGeom prst="ellipse">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image.png"/>
          <p:cNvPicPr>
            <a:picLocks noChangeAspect="1"/>
          </p:cNvPicPr>
          <p:nvPr/>
        </p:nvPicPr>
        <p:blipFill>
          <a:blip r:embed="rId5"/>
          <a:stretch>
            <a:fillRect/>
          </a:stretch>
        </p:blipFill>
        <p:spPr>
          <a:xfrm>
            <a:off x="6380988" y="1403604"/>
            <a:ext cx="192024" cy="192024"/>
          </a:xfrm>
          <a:prstGeom prst="rect">
            <a:avLst/>
          </a:prstGeom>
        </p:spPr>
      </p:pic>
      <p:sp>
        <p:nvSpPr>
          <p:cNvPr id="21" name="Oval 20"/>
          <p:cNvSpPr/>
          <p:nvPr/>
        </p:nvSpPr>
        <p:spPr>
          <a:xfrm>
            <a:off x="8394192" y="1289304"/>
            <a:ext cx="237744" cy="237744"/>
          </a:xfrm>
          <a:prstGeom prst="ellipse">
            <a:avLst/>
          </a:prstGeom>
          <a:solidFill>
            <a:srgbClr val="005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94192" y="1289304"/>
            <a:ext cx="237744" cy="237744"/>
          </a:xfrm>
          <a:prstGeom prst="rect">
            <a:avLst/>
          </a:prstGeom>
          <a:noFill/>
        </p:spPr>
        <p:txBody>
          <a:bodyPr wrap="square" lIns="0" tIns="0" rIns="0" bIns="0" anchor="ctr">
            <a:spAutoFit/>
          </a:bodyPr>
          <a:lstStyle/>
          <a:p>
            <a:pPr algn="ctr"/>
            <a:r>
              <a:rPr sz="950" b="1" i="0">
                <a:solidFill>
                  <a:srgbClr val="FFFFFF"/>
                </a:solidFill>
                <a:latin typeface="Poppins"/>
              </a:rPr>
              <a:t>3</a:t>
            </a:r>
          </a:p>
        </p:txBody>
      </p:sp>
      <p:sp>
        <p:nvSpPr>
          <p:cNvPr id="23" name="TextBox 22"/>
          <p:cNvSpPr txBox="1"/>
          <p:nvPr/>
        </p:nvSpPr>
        <p:spPr>
          <a:xfrm>
            <a:off x="6284976" y="1801368"/>
            <a:ext cx="2328672" cy="292608"/>
          </a:xfrm>
          <a:prstGeom prst="rect">
            <a:avLst/>
          </a:prstGeom>
          <a:noFill/>
        </p:spPr>
        <p:txBody>
          <a:bodyPr wrap="square" lIns="0" tIns="0" rIns="0" bIns="0" anchor="t">
            <a:spAutoFit/>
          </a:bodyPr>
          <a:lstStyle/>
          <a:p>
            <a:pPr algn="l"/>
            <a:r>
              <a:rPr sz="1100" b="1" i="0">
                <a:solidFill>
                  <a:srgbClr val="08023F"/>
                </a:solidFill>
                <a:latin typeface="Poppins"/>
              </a:rPr>
              <a:t>Pre-Checks</a:t>
            </a:r>
          </a:p>
        </p:txBody>
      </p:sp>
      <p:sp>
        <p:nvSpPr>
          <p:cNvPr id="24" name="TextBox 23"/>
          <p:cNvSpPr txBox="1"/>
          <p:nvPr/>
        </p:nvSpPr>
        <p:spPr>
          <a:xfrm>
            <a:off x="6284976" y="2103120"/>
            <a:ext cx="2328672" cy="649224"/>
          </a:xfrm>
          <a:prstGeom prst="rect">
            <a:avLst/>
          </a:prstGeom>
          <a:noFill/>
        </p:spPr>
        <p:txBody>
          <a:bodyPr wrap="square" lIns="0" tIns="0" rIns="0" bIns="0" anchor="t">
            <a:spAutoFit/>
          </a:bodyPr>
          <a:lstStyle/>
          <a:p>
            <a:pPr algn="l">
              <a:lnSpc>
                <a:spcPct val="112000"/>
              </a:lnSpc>
            </a:pPr>
            <a:r>
              <a:rPr sz="860" b="0" i="0">
                <a:solidFill>
                  <a:srgbClr val="595959"/>
                </a:solidFill>
                <a:latin typeface="Poppins Light"/>
              </a:rPr>
              <a:t>The function validates image quality and DPI before spending a model call on it.</a:t>
            </a:r>
          </a:p>
        </p:txBody>
      </p:sp>
      <p:sp>
        <p:nvSpPr>
          <p:cNvPr id="25" name="Rounded Rectangle 24"/>
          <p:cNvSpPr/>
          <p:nvPr/>
        </p:nvSpPr>
        <p:spPr>
          <a:xfrm>
            <a:off x="365760" y="3008376"/>
            <a:ext cx="2657855" cy="1700784"/>
          </a:xfrm>
          <a:prstGeom prst="roundRect">
            <a:avLst>
              <a:gd name="adj" fmla="val 3225"/>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530352" y="3172968"/>
            <a:ext cx="384048" cy="384048"/>
          </a:xfrm>
          <a:prstGeom prst="ellipse">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image.png"/>
          <p:cNvPicPr>
            <a:picLocks noChangeAspect="1"/>
          </p:cNvPicPr>
          <p:nvPr/>
        </p:nvPicPr>
        <p:blipFill>
          <a:blip r:embed="rId6"/>
          <a:stretch>
            <a:fillRect/>
          </a:stretch>
        </p:blipFill>
        <p:spPr>
          <a:xfrm>
            <a:off x="626364" y="3268980"/>
            <a:ext cx="192024" cy="192024"/>
          </a:xfrm>
          <a:prstGeom prst="rect">
            <a:avLst/>
          </a:prstGeom>
        </p:spPr>
      </p:pic>
      <p:sp>
        <p:nvSpPr>
          <p:cNvPr id="28" name="Oval 27"/>
          <p:cNvSpPr/>
          <p:nvPr/>
        </p:nvSpPr>
        <p:spPr>
          <a:xfrm>
            <a:off x="2639567" y="3154680"/>
            <a:ext cx="237744" cy="237744"/>
          </a:xfrm>
          <a:prstGeom prst="ellipse">
            <a:avLst/>
          </a:prstGeom>
          <a:solidFill>
            <a:srgbClr val="005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639567" y="3154680"/>
            <a:ext cx="237744" cy="237744"/>
          </a:xfrm>
          <a:prstGeom prst="rect">
            <a:avLst/>
          </a:prstGeom>
          <a:noFill/>
        </p:spPr>
        <p:txBody>
          <a:bodyPr wrap="square" lIns="0" tIns="0" rIns="0" bIns="0" anchor="ctr">
            <a:spAutoFit/>
          </a:bodyPr>
          <a:lstStyle/>
          <a:p>
            <a:pPr algn="ctr"/>
            <a:r>
              <a:rPr sz="950" b="1" i="0">
                <a:solidFill>
                  <a:srgbClr val="FFFFFF"/>
                </a:solidFill>
                <a:latin typeface="Poppins"/>
              </a:rPr>
              <a:t>4</a:t>
            </a:r>
          </a:p>
        </p:txBody>
      </p:sp>
      <p:sp>
        <p:nvSpPr>
          <p:cNvPr id="30" name="TextBox 29"/>
          <p:cNvSpPr txBox="1"/>
          <p:nvPr/>
        </p:nvSpPr>
        <p:spPr>
          <a:xfrm>
            <a:off x="530352" y="3666744"/>
            <a:ext cx="2328672" cy="292608"/>
          </a:xfrm>
          <a:prstGeom prst="rect">
            <a:avLst/>
          </a:prstGeom>
          <a:noFill/>
        </p:spPr>
        <p:txBody>
          <a:bodyPr wrap="square" lIns="0" tIns="0" rIns="0" bIns="0" anchor="t">
            <a:spAutoFit/>
          </a:bodyPr>
          <a:lstStyle/>
          <a:p>
            <a:pPr algn="l"/>
            <a:r>
              <a:rPr sz="1100" b="1" i="0">
                <a:solidFill>
                  <a:srgbClr val="08023F"/>
                </a:solidFill>
                <a:latin typeface="Poppins"/>
              </a:rPr>
              <a:t>Vision Classification</a:t>
            </a:r>
          </a:p>
        </p:txBody>
      </p:sp>
      <p:sp>
        <p:nvSpPr>
          <p:cNvPr id="31" name="TextBox 30"/>
          <p:cNvSpPr txBox="1"/>
          <p:nvPr/>
        </p:nvSpPr>
        <p:spPr>
          <a:xfrm>
            <a:off x="530352" y="3968496"/>
            <a:ext cx="2328672" cy="649224"/>
          </a:xfrm>
          <a:prstGeom prst="rect">
            <a:avLst/>
          </a:prstGeom>
          <a:noFill/>
        </p:spPr>
        <p:txBody>
          <a:bodyPr wrap="square" lIns="0" tIns="0" rIns="0" bIns="0" anchor="t">
            <a:spAutoFit/>
          </a:bodyPr>
          <a:lstStyle/>
          <a:p>
            <a:pPr algn="l">
              <a:lnSpc>
                <a:spcPct val="112000"/>
              </a:lnSpc>
            </a:pPr>
            <a:r>
              <a:rPr sz="860" b="0" i="0">
                <a:solidFill>
                  <a:srgbClr val="595959"/>
                </a:solidFill>
                <a:latin typeface="Poppins Light"/>
              </a:rPr>
              <a:t>Mistral Medium 2505 scores the photo as Shop or Not-Shop with a confidence value.</a:t>
            </a:r>
          </a:p>
        </p:txBody>
      </p:sp>
      <p:sp>
        <p:nvSpPr>
          <p:cNvPr id="32" name="Rounded Rectangle 31"/>
          <p:cNvSpPr/>
          <p:nvPr/>
        </p:nvSpPr>
        <p:spPr>
          <a:xfrm>
            <a:off x="3243072" y="3008376"/>
            <a:ext cx="2657855" cy="1700784"/>
          </a:xfrm>
          <a:prstGeom prst="roundRect">
            <a:avLst>
              <a:gd name="adj" fmla="val 3225"/>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3407664" y="3172968"/>
            <a:ext cx="384048" cy="384048"/>
          </a:xfrm>
          <a:prstGeom prst="ellipse">
            <a:avLst/>
          </a:prstGeom>
          <a:solidFill>
            <a:srgbClr val="E8F1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4" name="Picture 33" descr="image.png"/>
          <p:cNvPicPr>
            <a:picLocks noChangeAspect="1"/>
          </p:cNvPicPr>
          <p:nvPr/>
        </p:nvPicPr>
        <p:blipFill>
          <a:blip r:embed="rId7"/>
          <a:stretch>
            <a:fillRect/>
          </a:stretch>
        </p:blipFill>
        <p:spPr>
          <a:xfrm>
            <a:off x="3503676" y="3268980"/>
            <a:ext cx="192024" cy="192024"/>
          </a:xfrm>
          <a:prstGeom prst="rect">
            <a:avLst/>
          </a:prstGeom>
        </p:spPr>
      </p:pic>
      <p:sp>
        <p:nvSpPr>
          <p:cNvPr id="35" name="Oval 34"/>
          <p:cNvSpPr/>
          <p:nvPr/>
        </p:nvSpPr>
        <p:spPr>
          <a:xfrm>
            <a:off x="5516880" y="3154680"/>
            <a:ext cx="237744" cy="237744"/>
          </a:xfrm>
          <a:prstGeom prst="ellipse">
            <a:avLst/>
          </a:prstGeom>
          <a:solidFill>
            <a:srgbClr val="005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516880" y="3154680"/>
            <a:ext cx="237744" cy="237744"/>
          </a:xfrm>
          <a:prstGeom prst="rect">
            <a:avLst/>
          </a:prstGeom>
          <a:noFill/>
        </p:spPr>
        <p:txBody>
          <a:bodyPr wrap="square" lIns="0" tIns="0" rIns="0" bIns="0" anchor="ctr">
            <a:spAutoFit/>
          </a:bodyPr>
          <a:lstStyle/>
          <a:p>
            <a:pPr algn="ctr"/>
            <a:r>
              <a:rPr sz="950" b="1" i="0">
                <a:solidFill>
                  <a:srgbClr val="FFFFFF"/>
                </a:solidFill>
                <a:latin typeface="Poppins"/>
              </a:rPr>
              <a:t>5</a:t>
            </a:r>
          </a:p>
        </p:txBody>
      </p:sp>
      <p:sp>
        <p:nvSpPr>
          <p:cNvPr id="37" name="TextBox 36"/>
          <p:cNvSpPr txBox="1"/>
          <p:nvPr/>
        </p:nvSpPr>
        <p:spPr>
          <a:xfrm>
            <a:off x="3407664" y="3666744"/>
            <a:ext cx="2328672" cy="292608"/>
          </a:xfrm>
          <a:prstGeom prst="rect">
            <a:avLst/>
          </a:prstGeom>
          <a:noFill/>
        </p:spPr>
        <p:txBody>
          <a:bodyPr wrap="square" lIns="0" tIns="0" rIns="0" bIns="0" anchor="t">
            <a:spAutoFit/>
          </a:bodyPr>
          <a:lstStyle/>
          <a:p>
            <a:pPr algn="l"/>
            <a:r>
              <a:rPr sz="1100" b="1" i="0">
                <a:solidFill>
                  <a:srgbClr val="08023F"/>
                </a:solidFill>
                <a:latin typeface="Poppins"/>
              </a:rPr>
              <a:t>Persist the Result</a:t>
            </a:r>
          </a:p>
        </p:txBody>
      </p:sp>
      <p:sp>
        <p:nvSpPr>
          <p:cNvPr id="38" name="TextBox 37"/>
          <p:cNvSpPr txBox="1"/>
          <p:nvPr/>
        </p:nvSpPr>
        <p:spPr>
          <a:xfrm>
            <a:off x="3407664" y="3968496"/>
            <a:ext cx="2328672" cy="649224"/>
          </a:xfrm>
          <a:prstGeom prst="rect">
            <a:avLst/>
          </a:prstGeom>
          <a:noFill/>
        </p:spPr>
        <p:txBody>
          <a:bodyPr wrap="square" lIns="0" tIns="0" rIns="0" bIns="0" anchor="t">
            <a:spAutoFit/>
          </a:bodyPr>
          <a:lstStyle/>
          <a:p>
            <a:pPr algn="l">
              <a:lnSpc>
                <a:spcPct val="112000"/>
              </a:lnSpc>
            </a:pPr>
            <a:r>
              <a:rPr sz="860" b="0" i="0">
                <a:solidFill>
                  <a:srgbClr val="595959"/>
                </a:solidFill>
                <a:latin typeface="Poppins Light"/>
              </a:rPr>
              <a:t>Classification, confidence, and metadata are written to Cosmos DB against the outlet record.</a:t>
            </a:r>
          </a:p>
        </p:txBody>
      </p:sp>
    </p:spTree>
    <p:extLst>
      <p:ext uri="{BB962C8B-B14F-4D97-AF65-F5344CB8AC3E}">
        <p14:creationId xmlns:p14="http://schemas.microsoft.com/office/powerpoint/2010/main" val="1202633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138499"/>
          </a:xfrm>
          <a:prstGeom prst="rect">
            <a:avLst/>
          </a:prstGeom>
          <a:noFill/>
        </p:spPr>
        <p:txBody>
          <a:bodyPr wrap="square" lIns="0" tIns="0" rIns="0" bIns="0" anchor="t">
            <a:spAutoFit/>
          </a:bodyPr>
          <a:lstStyle/>
          <a:p>
            <a:pPr algn="l"/>
            <a:r>
              <a:rPr sz="900" b="1" i="0" dirty="0">
                <a:solidFill>
                  <a:srgbClr val="0078D4"/>
                </a:solidFill>
                <a:latin typeface="Poppins"/>
              </a:rPr>
              <a:t>0</a:t>
            </a:r>
            <a:r>
              <a:rPr lang="en-US" sz="900" b="1" i="0" dirty="0">
                <a:solidFill>
                  <a:srgbClr val="0078D4"/>
                </a:solidFill>
                <a:latin typeface="Poppins"/>
              </a:rPr>
              <a:t>3</a:t>
            </a:r>
            <a:r>
              <a:rPr sz="900" b="1" i="0" dirty="0">
                <a:solidFill>
                  <a:srgbClr val="0078D4"/>
                </a:solidFill>
                <a:latin typeface="Poppins"/>
              </a:rPr>
              <a:t> · LIVE DEMO</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What We’ll Walk Through</a:t>
            </a:r>
          </a:p>
        </p:txBody>
      </p:sp>
      <p:cxnSp>
        <p:nvCxnSpPr>
          <p:cNvPr id="4" name="Connector 3"/>
          <p:cNvCxnSpPr/>
          <p:nvPr/>
        </p:nvCxnSpPr>
        <p:spPr>
          <a:xfrm>
            <a:off x="585216" y="1462195"/>
            <a:ext cx="0" cy="2249424"/>
          </a:xfrm>
          <a:prstGeom prst="line">
            <a:avLst/>
          </a:prstGeom>
          <a:ln w="12700">
            <a:solidFill>
              <a:srgbClr val="E1E6ED"/>
            </a:solidFill>
          </a:ln>
          <a:effectLst/>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365760" y="1242739"/>
            <a:ext cx="438912" cy="43891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1242739"/>
            <a:ext cx="438912" cy="438912"/>
          </a:xfrm>
          <a:prstGeom prst="rect">
            <a:avLst/>
          </a:prstGeom>
          <a:noFill/>
        </p:spPr>
        <p:txBody>
          <a:bodyPr wrap="square" lIns="0" tIns="0" rIns="0" bIns="0" anchor="ctr">
            <a:spAutoFit/>
          </a:bodyPr>
          <a:lstStyle/>
          <a:p>
            <a:pPr algn="ctr"/>
            <a:r>
              <a:rPr sz="1300" b="1" i="0">
                <a:solidFill>
                  <a:srgbClr val="FFFFFF"/>
                </a:solidFill>
                <a:latin typeface="Poppins"/>
              </a:rPr>
              <a:t>1</a:t>
            </a:r>
          </a:p>
        </p:txBody>
      </p:sp>
      <p:sp>
        <p:nvSpPr>
          <p:cNvPr id="7" name="TextBox 6"/>
          <p:cNvSpPr txBox="1"/>
          <p:nvPr/>
        </p:nvSpPr>
        <p:spPr>
          <a:xfrm>
            <a:off x="969264" y="1224451"/>
            <a:ext cx="4297680" cy="274320"/>
          </a:xfrm>
          <a:prstGeom prst="rect">
            <a:avLst/>
          </a:prstGeom>
          <a:noFill/>
        </p:spPr>
        <p:txBody>
          <a:bodyPr wrap="square" lIns="0" tIns="0" rIns="0" bIns="0" anchor="t">
            <a:spAutoFit/>
          </a:bodyPr>
          <a:lstStyle/>
          <a:p>
            <a:pPr algn="l"/>
            <a:r>
              <a:rPr sz="1150" b="1" i="0">
                <a:solidFill>
                  <a:srgbClr val="08023F"/>
                </a:solidFill>
                <a:latin typeface="Poppins"/>
              </a:rPr>
              <a:t>Drop a photo into Blob Storage</a:t>
            </a:r>
          </a:p>
        </p:txBody>
      </p:sp>
      <p:sp>
        <p:nvSpPr>
          <p:cNvPr id="8" name="TextBox 7"/>
          <p:cNvSpPr txBox="1"/>
          <p:nvPr/>
        </p:nvSpPr>
        <p:spPr>
          <a:xfrm>
            <a:off x="969264" y="1489627"/>
            <a:ext cx="4297680" cy="320040"/>
          </a:xfrm>
          <a:prstGeom prst="rect">
            <a:avLst/>
          </a:prstGeom>
          <a:noFill/>
        </p:spPr>
        <p:txBody>
          <a:bodyPr wrap="square" lIns="0" tIns="0" rIns="0" bIns="0" anchor="t">
            <a:spAutoFit/>
          </a:bodyPr>
          <a:lstStyle/>
          <a:p>
            <a:pPr algn="l"/>
            <a:r>
              <a:rPr sz="900" b="0" i="0">
                <a:solidFill>
                  <a:srgbClr val="595959"/>
                </a:solidFill>
                <a:latin typeface="Poppins Light"/>
              </a:rPr>
              <a:t>Upload a sample outlet photo, just like the field app would.</a:t>
            </a:r>
          </a:p>
        </p:txBody>
      </p:sp>
      <p:sp>
        <p:nvSpPr>
          <p:cNvPr id="9" name="Oval 8"/>
          <p:cNvSpPr/>
          <p:nvPr/>
        </p:nvSpPr>
        <p:spPr>
          <a:xfrm>
            <a:off x="365760" y="1992547"/>
            <a:ext cx="438912" cy="43891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992547"/>
            <a:ext cx="438912" cy="438912"/>
          </a:xfrm>
          <a:prstGeom prst="rect">
            <a:avLst/>
          </a:prstGeom>
          <a:noFill/>
        </p:spPr>
        <p:txBody>
          <a:bodyPr wrap="square" lIns="0" tIns="0" rIns="0" bIns="0" anchor="ctr">
            <a:spAutoFit/>
          </a:bodyPr>
          <a:lstStyle/>
          <a:p>
            <a:pPr algn="ctr"/>
            <a:r>
              <a:rPr sz="1300" b="1" i="0">
                <a:solidFill>
                  <a:srgbClr val="FFFFFF"/>
                </a:solidFill>
                <a:latin typeface="Poppins"/>
              </a:rPr>
              <a:t>2</a:t>
            </a:r>
          </a:p>
        </p:txBody>
      </p:sp>
      <p:sp>
        <p:nvSpPr>
          <p:cNvPr id="11" name="TextBox 10"/>
          <p:cNvSpPr txBox="1"/>
          <p:nvPr/>
        </p:nvSpPr>
        <p:spPr>
          <a:xfrm>
            <a:off x="969264" y="1974259"/>
            <a:ext cx="4297680" cy="274320"/>
          </a:xfrm>
          <a:prstGeom prst="rect">
            <a:avLst/>
          </a:prstGeom>
          <a:noFill/>
        </p:spPr>
        <p:txBody>
          <a:bodyPr wrap="square" lIns="0" tIns="0" rIns="0" bIns="0" anchor="t">
            <a:spAutoFit/>
          </a:bodyPr>
          <a:lstStyle/>
          <a:p>
            <a:pPr algn="l"/>
            <a:r>
              <a:rPr sz="1150" b="1" i="0">
                <a:solidFill>
                  <a:srgbClr val="08023F"/>
                </a:solidFill>
                <a:latin typeface="Poppins"/>
              </a:rPr>
              <a:t>Watch the Function trigger fire</a:t>
            </a:r>
          </a:p>
        </p:txBody>
      </p:sp>
      <p:sp>
        <p:nvSpPr>
          <p:cNvPr id="12" name="TextBox 11"/>
          <p:cNvSpPr txBox="1"/>
          <p:nvPr/>
        </p:nvSpPr>
        <p:spPr>
          <a:xfrm>
            <a:off x="969264" y="2239435"/>
            <a:ext cx="4297680" cy="320040"/>
          </a:xfrm>
          <a:prstGeom prst="rect">
            <a:avLst/>
          </a:prstGeom>
          <a:noFill/>
        </p:spPr>
        <p:txBody>
          <a:bodyPr wrap="square" lIns="0" tIns="0" rIns="0" bIns="0" anchor="t">
            <a:spAutoFit/>
          </a:bodyPr>
          <a:lstStyle/>
          <a:p>
            <a:pPr algn="l"/>
            <a:r>
              <a:rPr sz="900" b="0" i="0">
                <a:solidFill>
                  <a:srgbClr val="595959"/>
                </a:solidFill>
                <a:latin typeface="Poppins Light"/>
              </a:rPr>
              <a:t>Live in the Azure Portal, the moment the Event Grid subscription fires.</a:t>
            </a:r>
          </a:p>
        </p:txBody>
      </p:sp>
      <p:sp>
        <p:nvSpPr>
          <p:cNvPr id="13" name="Oval 12"/>
          <p:cNvSpPr/>
          <p:nvPr/>
        </p:nvSpPr>
        <p:spPr>
          <a:xfrm>
            <a:off x="365760" y="2742355"/>
            <a:ext cx="438912" cy="43891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5760" y="2742355"/>
            <a:ext cx="438912" cy="438912"/>
          </a:xfrm>
          <a:prstGeom prst="rect">
            <a:avLst/>
          </a:prstGeom>
          <a:noFill/>
        </p:spPr>
        <p:txBody>
          <a:bodyPr wrap="square" lIns="0" tIns="0" rIns="0" bIns="0" anchor="ctr">
            <a:spAutoFit/>
          </a:bodyPr>
          <a:lstStyle/>
          <a:p>
            <a:pPr algn="ctr"/>
            <a:r>
              <a:rPr sz="1300" b="1" i="0">
                <a:solidFill>
                  <a:srgbClr val="FFFFFF"/>
                </a:solidFill>
                <a:latin typeface="Poppins"/>
              </a:rPr>
              <a:t>3</a:t>
            </a:r>
          </a:p>
        </p:txBody>
      </p:sp>
      <p:sp>
        <p:nvSpPr>
          <p:cNvPr id="15" name="TextBox 14"/>
          <p:cNvSpPr txBox="1"/>
          <p:nvPr/>
        </p:nvSpPr>
        <p:spPr>
          <a:xfrm>
            <a:off x="969264" y="2724067"/>
            <a:ext cx="4297680" cy="274320"/>
          </a:xfrm>
          <a:prstGeom prst="rect">
            <a:avLst/>
          </a:prstGeom>
          <a:noFill/>
        </p:spPr>
        <p:txBody>
          <a:bodyPr wrap="square" lIns="0" tIns="0" rIns="0" bIns="0" anchor="t">
            <a:spAutoFit/>
          </a:bodyPr>
          <a:lstStyle/>
          <a:p>
            <a:pPr algn="l"/>
            <a:r>
              <a:rPr sz="1150" b="1" i="0">
                <a:solidFill>
                  <a:srgbClr val="08023F"/>
                </a:solidFill>
                <a:latin typeface="Poppins"/>
              </a:rPr>
              <a:t>See the vision model respond</a:t>
            </a:r>
          </a:p>
        </p:txBody>
      </p:sp>
      <p:sp>
        <p:nvSpPr>
          <p:cNvPr id="16" name="TextBox 15"/>
          <p:cNvSpPr txBox="1"/>
          <p:nvPr/>
        </p:nvSpPr>
        <p:spPr>
          <a:xfrm>
            <a:off x="969264" y="2989243"/>
            <a:ext cx="4297680" cy="320040"/>
          </a:xfrm>
          <a:prstGeom prst="rect">
            <a:avLst/>
          </a:prstGeom>
          <a:noFill/>
        </p:spPr>
        <p:txBody>
          <a:bodyPr wrap="square" lIns="0" tIns="0" rIns="0" bIns="0" anchor="t">
            <a:spAutoFit/>
          </a:bodyPr>
          <a:lstStyle/>
          <a:p>
            <a:pPr algn="l"/>
            <a:r>
              <a:rPr sz="900" b="0" i="0">
                <a:solidFill>
                  <a:srgbClr val="595959"/>
                </a:solidFill>
                <a:latin typeface="Poppins Light"/>
              </a:rPr>
              <a:t>Shop or Not-Shop, scored by Mistral Medium 2505 with a confidence value.</a:t>
            </a:r>
          </a:p>
        </p:txBody>
      </p:sp>
      <p:sp>
        <p:nvSpPr>
          <p:cNvPr id="17" name="Oval 16"/>
          <p:cNvSpPr/>
          <p:nvPr/>
        </p:nvSpPr>
        <p:spPr>
          <a:xfrm>
            <a:off x="365760" y="3492163"/>
            <a:ext cx="438912" cy="438912"/>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3492163"/>
            <a:ext cx="438912" cy="438912"/>
          </a:xfrm>
          <a:prstGeom prst="rect">
            <a:avLst/>
          </a:prstGeom>
          <a:noFill/>
        </p:spPr>
        <p:txBody>
          <a:bodyPr wrap="square" lIns="0" tIns="0" rIns="0" bIns="0" anchor="ctr">
            <a:spAutoFit/>
          </a:bodyPr>
          <a:lstStyle/>
          <a:p>
            <a:pPr algn="ctr"/>
            <a:r>
              <a:rPr sz="1300" b="1" i="0">
                <a:solidFill>
                  <a:srgbClr val="FFFFFF"/>
                </a:solidFill>
                <a:latin typeface="Poppins"/>
              </a:rPr>
              <a:t>4</a:t>
            </a:r>
          </a:p>
        </p:txBody>
      </p:sp>
      <p:sp>
        <p:nvSpPr>
          <p:cNvPr id="19" name="TextBox 18"/>
          <p:cNvSpPr txBox="1"/>
          <p:nvPr/>
        </p:nvSpPr>
        <p:spPr>
          <a:xfrm>
            <a:off x="969264" y="3473875"/>
            <a:ext cx="4297680" cy="274320"/>
          </a:xfrm>
          <a:prstGeom prst="rect">
            <a:avLst/>
          </a:prstGeom>
          <a:noFill/>
        </p:spPr>
        <p:txBody>
          <a:bodyPr wrap="square" lIns="0" tIns="0" rIns="0" bIns="0" anchor="t">
            <a:spAutoFit/>
          </a:bodyPr>
          <a:lstStyle/>
          <a:p>
            <a:pPr algn="l"/>
            <a:r>
              <a:rPr sz="1150" b="1" i="0">
                <a:solidFill>
                  <a:srgbClr val="08023F"/>
                </a:solidFill>
                <a:latin typeface="Poppins"/>
              </a:rPr>
              <a:t>Confirm the record in Cosmos DB</a:t>
            </a:r>
          </a:p>
        </p:txBody>
      </p:sp>
      <p:sp>
        <p:nvSpPr>
          <p:cNvPr id="20" name="TextBox 19"/>
          <p:cNvSpPr txBox="1"/>
          <p:nvPr/>
        </p:nvSpPr>
        <p:spPr>
          <a:xfrm>
            <a:off x="969264" y="3739050"/>
            <a:ext cx="4297680" cy="320040"/>
          </a:xfrm>
          <a:prstGeom prst="rect">
            <a:avLst/>
          </a:prstGeom>
          <a:noFill/>
        </p:spPr>
        <p:txBody>
          <a:bodyPr wrap="square" lIns="0" tIns="0" rIns="0" bIns="0" anchor="t">
            <a:spAutoFit/>
          </a:bodyPr>
          <a:lstStyle/>
          <a:p>
            <a:pPr algn="l"/>
            <a:r>
              <a:rPr sz="900" b="0" i="0">
                <a:solidFill>
                  <a:srgbClr val="595959"/>
                </a:solidFill>
                <a:latin typeface="Poppins Light"/>
              </a:rPr>
              <a:t>Classification and metadata land against the outlet record.</a:t>
            </a:r>
          </a:p>
        </p:txBody>
      </p:sp>
      <p:sp>
        <p:nvSpPr>
          <p:cNvPr id="22" name="Oval 21"/>
          <p:cNvSpPr/>
          <p:nvPr/>
        </p:nvSpPr>
        <p:spPr>
          <a:xfrm>
            <a:off x="5961888" y="1755648"/>
            <a:ext cx="365760" cy="3657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6" name="Picture 25" descr="github_azure.png"/>
          <p:cNvPicPr>
            <a:picLocks noChangeAspect="1"/>
          </p:cNvPicPr>
          <p:nvPr/>
        </p:nvPicPr>
        <p:blipFill>
          <a:blip r:embed="rId3"/>
          <a:stretch>
            <a:fillRect/>
          </a:stretch>
        </p:blipFill>
        <p:spPr>
          <a:xfrm>
            <a:off x="365760" y="4214539"/>
            <a:ext cx="182880" cy="182880"/>
          </a:xfrm>
          <a:prstGeom prst="rect">
            <a:avLst/>
          </a:prstGeom>
        </p:spPr>
      </p:pic>
      <p:sp>
        <p:nvSpPr>
          <p:cNvPr id="27" name="TextBox 26"/>
          <p:cNvSpPr txBox="1"/>
          <p:nvPr/>
        </p:nvSpPr>
        <p:spPr>
          <a:xfrm>
            <a:off x="658368" y="4232882"/>
            <a:ext cx="8119872" cy="146194"/>
          </a:xfrm>
          <a:prstGeom prst="rect">
            <a:avLst/>
          </a:prstGeom>
          <a:noFill/>
        </p:spPr>
        <p:txBody>
          <a:bodyPr wrap="square" lIns="0" tIns="0" rIns="0" bIns="0" anchor="ctr">
            <a:spAutoFit/>
          </a:bodyPr>
          <a:lstStyle/>
          <a:p>
            <a:pPr algn="l"/>
            <a:r>
              <a:rPr sz="950" b="1" i="0" dirty="0">
                <a:solidFill>
                  <a:srgbClr val="08023F"/>
                </a:solidFill>
                <a:latin typeface="Poppins"/>
              </a:rPr>
              <a:t>Code: </a:t>
            </a:r>
            <a:r>
              <a:rPr sz="950" b="1" i="0" dirty="0">
                <a:solidFill>
                  <a:srgbClr val="005A9E"/>
                </a:solidFill>
                <a:latin typeface="Poppins Light"/>
              </a:rPr>
              <a:t>https://github.com/adilakshmivadavalli/drop_trigger_classify.git</a:t>
            </a:r>
          </a:p>
        </p:txBody>
      </p:sp>
    </p:spTree>
    <p:extLst>
      <p:ext uri="{BB962C8B-B14F-4D97-AF65-F5344CB8AC3E}">
        <p14:creationId xmlns:p14="http://schemas.microsoft.com/office/powerpoint/2010/main" val="1202633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138499"/>
          </a:xfrm>
          <a:prstGeom prst="rect">
            <a:avLst/>
          </a:prstGeom>
          <a:noFill/>
        </p:spPr>
        <p:txBody>
          <a:bodyPr wrap="square" lIns="0" tIns="0" rIns="0" bIns="0" anchor="t">
            <a:spAutoFit/>
          </a:bodyPr>
          <a:lstStyle/>
          <a:p>
            <a:pPr algn="l"/>
            <a:r>
              <a:rPr sz="900" b="1" i="0" dirty="0">
                <a:solidFill>
                  <a:srgbClr val="0078D4"/>
                </a:solidFill>
                <a:latin typeface="Poppins"/>
              </a:rPr>
              <a:t>0</a:t>
            </a:r>
            <a:r>
              <a:rPr lang="en-US" sz="900" b="1" i="0" dirty="0">
                <a:solidFill>
                  <a:srgbClr val="0078D4"/>
                </a:solidFill>
                <a:latin typeface="Poppins"/>
              </a:rPr>
              <a:t>3</a:t>
            </a:r>
            <a:r>
              <a:rPr sz="900" b="1" i="0" dirty="0">
                <a:solidFill>
                  <a:srgbClr val="0078D4"/>
                </a:solidFill>
                <a:latin typeface="Poppins"/>
              </a:rPr>
              <a:t> · LIVE DEMO</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Recorded Walkthrough</a:t>
            </a:r>
          </a:p>
        </p:txBody>
      </p:sp>
      <p:sp>
        <p:nvSpPr>
          <p:cNvPr id="4" name="Rounded Rectangle 3"/>
          <p:cNvSpPr/>
          <p:nvPr/>
        </p:nvSpPr>
        <p:spPr>
          <a:xfrm>
            <a:off x="1160616" y="1097280"/>
            <a:ext cx="6822766" cy="3200400"/>
          </a:xfrm>
          <a:prstGeom prst="roundRect">
            <a:avLst>
              <a:gd name="adj" fmla="val 1714"/>
            </a:avLst>
          </a:prstGeom>
          <a:solidFill>
            <a:srgbClr val="FFFFFF"/>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demo_recording.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06336" y="1143000"/>
            <a:ext cx="6731326" cy="3108960"/>
          </a:xfrm>
          <a:prstGeom prst="rect">
            <a:avLst/>
          </a:prstGeom>
        </p:spPr>
      </p:pic>
      <p:sp>
        <p:nvSpPr>
          <p:cNvPr id="6" name="TextBox 5"/>
          <p:cNvSpPr txBox="1"/>
          <p:nvPr/>
        </p:nvSpPr>
        <p:spPr>
          <a:xfrm>
            <a:off x="365760" y="4370832"/>
            <a:ext cx="8412480" cy="256032"/>
          </a:xfrm>
          <a:prstGeom prst="rect">
            <a:avLst/>
          </a:prstGeom>
          <a:noFill/>
        </p:spPr>
        <p:txBody>
          <a:bodyPr wrap="square" lIns="0" tIns="0" rIns="0" bIns="0" anchor="t">
            <a:spAutoFit/>
          </a:bodyPr>
          <a:lstStyle/>
          <a:p>
            <a:pPr algn="ctr"/>
            <a:r>
              <a:rPr sz="950" b="0" i="1">
                <a:solidFill>
                  <a:srgbClr val="595959"/>
                </a:solidFill>
                <a:latin typeface="Poppins Light"/>
              </a:rPr>
              <a:t>An outlet photo goes in, a Shop / Not-Shop verdict comes out — in under a second.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138499"/>
          </a:xfrm>
          <a:prstGeom prst="rect">
            <a:avLst/>
          </a:prstGeom>
          <a:noFill/>
        </p:spPr>
        <p:txBody>
          <a:bodyPr wrap="square" lIns="0" tIns="0" rIns="0" bIns="0" anchor="t">
            <a:spAutoFit/>
          </a:bodyPr>
          <a:lstStyle/>
          <a:p>
            <a:pPr algn="l"/>
            <a:r>
              <a:rPr sz="900" b="1" i="0" dirty="0">
                <a:solidFill>
                  <a:srgbClr val="00A0A8"/>
                </a:solidFill>
                <a:latin typeface="Poppins"/>
              </a:rPr>
              <a:t>0</a:t>
            </a:r>
            <a:r>
              <a:rPr lang="en-US" sz="900" b="1" i="0" dirty="0">
                <a:solidFill>
                  <a:srgbClr val="00A0A8"/>
                </a:solidFill>
                <a:latin typeface="Poppins"/>
              </a:rPr>
              <a:t>4</a:t>
            </a:r>
            <a:r>
              <a:rPr sz="900" b="1" i="0" dirty="0">
                <a:solidFill>
                  <a:srgbClr val="00A0A8"/>
                </a:solidFill>
                <a:latin typeface="Poppins"/>
              </a:rPr>
              <a:t> · SCALING &amp; AGENTIC AI</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What Breaks When Volume Grows 10–100×</a:t>
            </a:r>
          </a:p>
        </p:txBody>
      </p:sp>
      <p:sp>
        <p:nvSpPr>
          <p:cNvPr id="4" name="Rounded Rectangle 3"/>
          <p:cNvSpPr/>
          <p:nvPr/>
        </p:nvSpPr>
        <p:spPr>
          <a:xfrm>
            <a:off x="365760" y="1371600"/>
            <a:ext cx="1965960" cy="2148840"/>
          </a:xfrm>
          <a:prstGeom prst="roundRect">
            <a:avLst>
              <a:gd name="adj" fmla="val 2790"/>
            </a:avLst>
          </a:prstGeom>
          <a:solidFill>
            <a:srgbClr val="FCE8E1"/>
          </a:solidFill>
          <a:ln w="9525">
            <a:solidFill>
              <a:srgbClr val="F2C9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30352" y="1536192"/>
            <a:ext cx="365760" cy="365760"/>
          </a:xfrm>
          <a:prstGeom prst="ellipse">
            <a:avLst/>
          </a:prstGeom>
          <a:solidFill>
            <a:srgbClr val="E04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ctivity_white.png"/>
          <p:cNvPicPr>
            <a:picLocks noChangeAspect="1"/>
          </p:cNvPicPr>
          <p:nvPr/>
        </p:nvPicPr>
        <p:blipFill>
          <a:blip r:embed="rId3"/>
          <a:stretch>
            <a:fillRect/>
          </a:stretch>
        </p:blipFill>
        <p:spPr>
          <a:xfrm>
            <a:off x="621792" y="1627632"/>
            <a:ext cx="182880" cy="182880"/>
          </a:xfrm>
          <a:prstGeom prst="rect">
            <a:avLst/>
          </a:prstGeom>
        </p:spPr>
      </p:pic>
      <p:sp>
        <p:nvSpPr>
          <p:cNvPr id="7" name="TextBox 6"/>
          <p:cNvSpPr txBox="1"/>
          <p:nvPr/>
        </p:nvSpPr>
        <p:spPr>
          <a:xfrm>
            <a:off x="530352" y="1975104"/>
            <a:ext cx="1636776" cy="502920"/>
          </a:xfrm>
          <a:prstGeom prst="rect">
            <a:avLst/>
          </a:prstGeom>
          <a:noFill/>
        </p:spPr>
        <p:txBody>
          <a:bodyPr wrap="square" lIns="0" tIns="0" rIns="0" bIns="0" anchor="t">
            <a:spAutoFit/>
          </a:bodyPr>
          <a:lstStyle/>
          <a:p>
            <a:pPr algn="l">
              <a:lnSpc>
                <a:spcPct val="105000"/>
              </a:lnSpc>
            </a:pPr>
            <a:r>
              <a:rPr sz="1000" b="1" i="0">
                <a:solidFill>
                  <a:srgbClr val="9C3016"/>
                </a:solidFill>
                <a:latin typeface="Poppins"/>
              </a:rPr>
              <a:t>Model Throughput Limits</a:t>
            </a:r>
          </a:p>
        </p:txBody>
      </p:sp>
      <p:sp>
        <p:nvSpPr>
          <p:cNvPr id="8" name="TextBox 7"/>
          <p:cNvSpPr txBox="1"/>
          <p:nvPr/>
        </p:nvSpPr>
        <p:spPr>
          <a:xfrm>
            <a:off x="530352" y="2468880"/>
            <a:ext cx="1636776" cy="914400"/>
          </a:xfrm>
          <a:prstGeom prst="rect">
            <a:avLst/>
          </a:prstGeom>
          <a:noFill/>
        </p:spPr>
        <p:txBody>
          <a:bodyPr wrap="square" lIns="0" tIns="0" rIns="0" bIns="0" anchor="t">
            <a:spAutoFit/>
          </a:bodyPr>
          <a:lstStyle/>
          <a:p>
            <a:pPr algn="l">
              <a:lnSpc>
                <a:spcPct val="110000"/>
              </a:lnSpc>
            </a:pPr>
            <a:r>
              <a:rPr sz="869" b="0" i="0">
                <a:solidFill>
                  <a:srgbClr val="6B4030"/>
                </a:solidFill>
                <a:latin typeface="Poppins Light"/>
              </a:rPr>
              <a:t>Vision-model calls hit token and rate quotas under bursty load.</a:t>
            </a:r>
          </a:p>
        </p:txBody>
      </p:sp>
      <p:sp>
        <p:nvSpPr>
          <p:cNvPr id="9" name="Rounded Rectangle 8"/>
          <p:cNvSpPr/>
          <p:nvPr/>
        </p:nvSpPr>
        <p:spPr>
          <a:xfrm>
            <a:off x="2514600" y="1371600"/>
            <a:ext cx="1965960" cy="2148840"/>
          </a:xfrm>
          <a:prstGeom prst="roundRect">
            <a:avLst>
              <a:gd name="adj" fmla="val 2790"/>
            </a:avLst>
          </a:prstGeom>
          <a:solidFill>
            <a:srgbClr val="FCE8E1"/>
          </a:solidFill>
          <a:ln w="9525">
            <a:solidFill>
              <a:srgbClr val="F2C9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2679192" y="1536192"/>
            <a:ext cx="365760" cy="365760"/>
          </a:xfrm>
          <a:prstGeom prst="ellipse">
            <a:avLst/>
          </a:prstGeom>
          <a:solidFill>
            <a:srgbClr val="E04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layers_white.png"/>
          <p:cNvPicPr>
            <a:picLocks noChangeAspect="1"/>
          </p:cNvPicPr>
          <p:nvPr/>
        </p:nvPicPr>
        <p:blipFill>
          <a:blip r:embed="rId4"/>
          <a:stretch>
            <a:fillRect/>
          </a:stretch>
        </p:blipFill>
        <p:spPr>
          <a:xfrm>
            <a:off x="2770632" y="1627632"/>
            <a:ext cx="182880" cy="182880"/>
          </a:xfrm>
          <a:prstGeom prst="rect">
            <a:avLst/>
          </a:prstGeom>
        </p:spPr>
      </p:pic>
      <p:sp>
        <p:nvSpPr>
          <p:cNvPr id="12" name="TextBox 11"/>
          <p:cNvSpPr txBox="1"/>
          <p:nvPr/>
        </p:nvSpPr>
        <p:spPr>
          <a:xfrm>
            <a:off x="2679192" y="1975104"/>
            <a:ext cx="1636776" cy="502920"/>
          </a:xfrm>
          <a:prstGeom prst="rect">
            <a:avLst/>
          </a:prstGeom>
          <a:noFill/>
        </p:spPr>
        <p:txBody>
          <a:bodyPr wrap="square" lIns="0" tIns="0" rIns="0" bIns="0" anchor="t">
            <a:spAutoFit/>
          </a:bodyPr>
          <a:lstStyle/>
          <a:p>
            <a:pPr algn="l">
              <a:lnSpc>
                <a:spcPct val="105000"/>
              </a:lnSpc>
            </a:pPr>
            <a:r>
              <a:rPr sz="1000" b="1" i="0">
                <a:solidFill>
                  <a:srgbClr val="9C3016"/>
                </a:solidFill>
                <a:latin typeface="Poppins"/>
              </a:rPr>
              <a:t>One Function, One Job</a:t>
            </a:r>
          </a:p>
        </p:txBody>
      </p:sp>
      <p:sp>
        <p:nvSpPr>
          <p:cNvPr id="13" name="TextBox 12"/>
          <p:cNvSpPr txBox="1"/>
          <p:nvPr/>
        </p:nvSpPr>
        <p:spPr>
          <a:xfrm>
            <a:off x="2679192" y="2468880"/>
            <a:ext cx="1636776" cy="914400"/>
          </a:xfrm>
          <a:prstGeom prst="rect">
            <a:avLst/>
          </a:prstGeom>
          <a:noFill/>
        </p:spPr>
        <p:txBody>
          <a:bodyPr wrap="square" lIns="0" tIns="0" rIns="0" bIns="0" anchor="t">
            <a:spAutoFit/>
          </a:bodyPr>
          <a:lstStyle/>
          <a:p>
            <a:pPr algn="l">
              <a:lnSpc>
                <a:spcPct val="110000"/>
              </a:lnSpc>
            </a:pPr>
            <a:r>
              <a:rPr sz="869" b="0" i="0">
                <a:solidFill>
                  <a:srgbClr val="6B4030"/>
                </a:solidFill>
                <a:latin typeface="Poppins Light"/>
              </a:rPr>
              <a:t>A single classify-and-store function turns into a monolith as more checks are added.</a:t>
            </a:r>
          </a:p>
        </p:txBody>
      </p:sp>
      <p:sp>
        <p:nvSpPr>
          <p:cNvPr id="14" name="Rounded Rectangle 13"/>
          <p:cNvSpPr/>
          <p:nvPr/>
        </p:nvSpPr>
        <p:spPr>
          <a:xfrm>
            <a:off x="4663440" y="1371600"/>
            <a:ext cx="1965960" cy="2148840"/>
          </a:xfrm>
          <a:prstGeom prst="roundRect">
            <a:avLst>
              <a:gd name="adj" fmla="val 2790"/>
            </a:avLst>
          </a:prstGeom>
          <a:solidFill>
            <a:srgbClr val="FCE8E1"/>
          </a:solidFill>
          <a:ln w="9525">
            <a:solidFill>
              <a:srgbClr val="F2C9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828032" y="1536192"/>
            <a:ext cx="365760" cy="365760"/>
          </a:xfrm>
          <a:prstGeom prst="ellipse">
            <a:avLst/>
          </a:prstGeom>
          <a:solidFill>
            <a:srgbClr val="E04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users_white.png"/>
          <p:cNvPicPr>
            <a:picLocks noChangeAspect="1"/>
          </p:cNvPicPr>
          <p:nvPr/>
        </p:nvPicPr>
        <p:blipFill>
          <a:blip r:embed="rId5"/>
          <a:stretch>
            <a:fillRect/>
          </a:stretch>
        </p:blipFill>
        <p:spPr>
          <a:xfrm>
            <a:off x="4919472" y="1627632"/>
            <a:ext cx="182880" cy="182880"/>
          </a:xfrm>
          <a:prstGeom prst="rect">
            <a:avLst/>
          </a:prstGeom>
        </p:spPr>
      </p:pic>
      <p:sp>
        <p:nvSpPr>
          <p:cNvPr id="17" name="TextBox 16"/>
          <p:cNvSpPr txBox="1"/>
          <p:nvPr/>
        </p:nvSpPr>
        <p:spPr>
          <a:xfrm>
            <a:off x="4828032" y="1975104"/>
            <a:ext cx="1636776" cy="502920"/>
          </a:xfrm>
          <a:prstGeom prst="rect">
            <a:avLst/>
          </a:prstGeom>
          <a:noFill/>
        </p:spPr>
        <p:txBody>
          <a:bodyPr wrap="square" lIns="0" tIns="0" rIns="0" bIns="0" anchor="t">
            <a:spAutoFit/>
          </a:bodyPr>
          <a:lstStyle/>
          <a:p>
            <a:pPr algn="l">
              <a:lnSpc>
                <a:spcPct val="105000"/>
              </a:lnSpc>
            </a:pPr>
            <a:r>
              <a:rPr sz="1000" b="1" i="0">
                <a:solidFill>
                  <a:srgbClr val="9C3016"/>
                </a:solidFill>
                <a:latin typeface="Poppins"/>
              </a:rPr>
              <a:t>No Path for Judgment Calls</a:t>
            </a:r>
          </a:p>
        </p:txBody>
      </p:sp>
      <p:sp>
        <p:nvSpPr>
          <p:cNvPr id="18" name="TextBox 17"/>
          <p:cNvSpPr txBox="1"/>
          <p:nvPr/>
        </p:nvSpPr>
        <p:spPr>
          <a:xfrm>
            <a:off x="4828032" y="2468880"/>
            <a:ext cx="1636776" cy="914400"/>
          </a:xfrm>
          <a:prstGeom prst="rect">
            <a:avLst/>
          </a:prstGeom>
          <a:noFill/>
        </p:spPr>
        <p:txBody>
          <a:bodyPr wrap="square" lIns="0" tIns="0" rIns="0" bIns="0" anchor="t">
            <a:spAutoFit/>
          </a:bodyPr>
          <a:lstStyle/>
          <a:p>
            <a:pPr algn="l">
              <a:lnSpc>
                <a:spcPct val="110000"/>
              </a:lnSpc>
            </a:pPr>
            <a:r>
              <a:rPr sz="869" b="0" i="0">
                <a:solidFill>
                  <a:srgbClr val="6B4030"/>
                </a:solidFill>
                <a:latin typeface="Poppins Light"/>
              </a:rPr>
              <a:t>Low-confidence images still need a human, but there’s no structured hand-off.</a:t>
            </a:r>
          </a:p>
        </p:txBody>
      </p:sp>
      <p:sp>
        <p:nvSpPr>
          <p:cNvPr id="19" name="Rounded Rectangle 18"/>
          <p:cNvSpPr/>
          <p:nvPr/>
        </p:nvSpPr>
        <p:spPr>
          <a:xfrm>
            <a:off x="6812280" y="1371600"/>
            <a:ext cx="1965960" cy="2148840"/>
          </a:xfrm>
          <a:prstGeom prst="roundRect">
            <a:avLst>
              <a:gd name="adj" fmla="val 2790"/>
            </a:avLst>
          </a:prstGeom>
          <a:solidFill>
            <a:srgbClr val="FCE8E1"/>
          </a:solidFill>
          <a:ln w="9525">
            <a:solidFill>
              <a:srgbClr val="F2C9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976872" y="1536192"/>
            <a:ext cx="365760" cy="365760"/>
          </a:xfrm>
          <a:prstGeom prst="ellipse">
            <a:avLst/>
          </a:prstGeom>
          <a:solidFill>
            <a:srgbClr val="E048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dollarsign_white.png"/>
          <p:cNvPicPr>
            <a:picLocks noChangeAspect="1"/>
          </p:cNvPicPr>
          <p:nvPr/>
        </p:nvPicPr>
        <p:blipFill>
          <a:blip r:embed="rId6"/>
          <a:stretch>
            <a:fillRect/>
          </a:stretch>
        </p:blipFill>
        <p:spPr>
          <a:xfrm>
            <a:off x="7068312" y="1627632"/>
            <a:ext cx="182880" cy="182880"/>
          </a:xfrm>
          <a:prstGeom prst="rect">
            <a:avLst/>
          </a:prstGeom>
        </p:spPr>
      </p:pic>
      <p:sp>
        <p:nvSpPr>
          <p:cNvPr id="22" name="TextBox 21"/>
          <p:cNvSpPr txBox="1"/>
          <p:nvPr/>
        </p:nvSpPr>
        <p:spPr>
          <a:xfrm>
            <a:off x="6976872" y="1975104"/>
            <a:ext cx="1636776" cy="502920"/>
          </a:xfrm>
          <a:prstGeom prst="rect">
            <a:avLst/>
          </a:prstGeom>
          <a:noFill/>
        </p:spPr>
        <p:txBody>
          <a:bodyPr wrap="square" lIns="0" tIns="0" rIns="0" bIns="0" anchor="t">
            <a:spAutoFit/>
          </a:bodyPr>
          <a:lstStyle/>
          <a:p>
            <a:pPr algn="l">
              <a:lnSpc>
                <a:spcPct val="105000"/>
              </a:lnSpc>
            </a:pPr>
            <a:r>
              <a:rPr sz="1000" b="1" i="0">
                <a:solidFill>
                  <a:srgbClr val="9C3016"/>
                </a:solidFill>
                <a:latin typeface="Poppins"/>
              </a:rPr>
              <a:t>Unpredictable Cost</a:t>
            </a:r>
          </a:p>
        </p:txBody>
      </p:sp>
      <p:sp>
        <p:nvSpPr>
          <p:cNvPr id="23" name="TextBox 22"/>
          <p:cNvSpPr txBox="1"/>
          <p:nvPr/>
        </p:nvSpPr>
        <p:spPr>
          <a:xfrm>
            <a:off x="6976872" y="2468880"/>
            <a:ext cx="1636776" cy="914400"/>
          </a:xfrm>
          <a:prstGeom prst="rect">
            <a:avLst/>
          </a:prstGeom>
          <a:noFill/>
        </p:spPr>
        <p:txBody>
          <a:bodyPr wrap="square" lIns="0" tIns="0" rIns="0" bIns="0" anchor="t">
            <a:spAutoFit/>
          </a:bodyPr>
          <a:lstStyle/>
          <a:p>
            <a:pPr algn="l">
              <a:lnSpc>
                <a:spcPct val="110000"/>
              </a:lnSpc>
            </a:pPr>
            <a:r>
              <a:rPr sz="869" b="0" i="0">
                <a:solidFill>
                  <a:srgbClr val="6B4030"/>
                </a:solidFill>
                <a:latin typeface="Poppins Light"/>
              </a:rPr>
              <a:t>Flat database throughput and unbounded model calls make spend hard to forecast.</a:t>
            </a:r>
          </a:p>
        </p:txBody>
      </p:sp>
    </p:spTree>
    <p:extLst>
      <p:ext uri="{BB962C8B-B14F-4D97-AF65-F5344CB8AC3E}">
        <p14:creationId xmlns:p14="http://schemas.microsoft.com/office/powerpoint/2010/main" val="12026335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138499"/>
          </a:xfrm>
          <a:prstGeom prst="rect">
            <a:avLst/>
          </a:prstGeom>
          <a:noFill/>
        </p:spPr>
        <p:txBody>
          <a:bodyPr wrap="square" lIns="0" tIns="0" rIns="0" bIns="0" anchor="t">
            <a:spAutoFit/>
          </a:bodyPr>
          <a:lstStyle/>
          <a:p>
            <a:pPr algn="l"/>
            <a:r>
              <a:rPr sz="900" b="1" i="0" dirty="0">
                <a:solidFill>
                  <a:srgbClr val="00A0A8"/>
                </a:solidFill>
                <a:latin typeface="Poppins"/>
              </a:rPr>
              <a:t>0</a:t>
            </a:r>
            <a:r>
              <a:rPr lang="en-US" sz="900" b="1" i="0" dirty="0">
                <a:solidFill>
                  <a:srgbClr val="00A0A8"/>
                </a:solidFill>
                <a:latin typeface="Poppins"/>
              </a:rPr>
              <a:t>4</a:t>
            </a:r>
            <a:r>
              <a:rPr sz="900" b="1" i="0" dirty="0">
                <a:solidFill>
                  <a:srgbClr val="00A0A8"/>
                </a:solidFill>
                <a:latin typeface="Poppins"/>
              </a:rPr>
              <a:t> · SCALING &amp; AGENTIC AI</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Decoupling and Orchestrating for Scale</a:t>
            </a:r>
          </a:p>
        </p:txBody>
      </p:sp>
      <p:sp>
        <p:nvSpPr>
          <p:cNvPr id="4" name="Rounded Rectangle 3"/>
          <p:cNvSpPr/>
          <p:nvPr/>
        </p:nvSpPr>
        <p:spPr>
          <a:xfrm>
            <a:off x="4494276" y="1298448"/>
            <a:ext cx="1051560" cy="310896"/>
          </a:xfrm>
          <a:prstGeom prst="roundRect">
            <a:avLst>
              <a:gd name="adj" fmla="val 50000"/>
            </a:avLst>
          </a:prstGeom>
          <a:solidFill>
            <a:srgbClr val="E8F1FB"/>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3"/>
          <a:stretch>
            <a:fillRect/>
          </a:stretch>
        </p:blipFill>
        <p:spPr>
          <a:xfrm>
            <a:off x="4567428" y="1382389"/>
            <a:ext cx="143012" cy="143012"/>
          </a:xfrm>
          <a:prstGeom prst="rect">
            <a:avLst/>
          </a:prstGeom>
        </p:spPr>
      </p:pic>
      <p:sp>
        <p:nvSpPr>
          <p:cNvPr id="6" name="TextBox 5"/>
          <p:cNvSpPr txBox="1"/>
          <p:nvPr/>
        </p:nvSpPr>
        <p:spPr>
          <a:xfrm>
            <a:off x="4756160" y="1298448"/>
            <a:ext cx="743955" cy="310896"/>
          </a:xfrm>
          <a:prstGeom prst="rect">
            <a:avLst/>
          </a:prstGeom>
          <a:noFill/>
        </p:spPr>
        <p:txBody>
          <a:bodyPr wrap="square" lIns="0" tIns="0" rIns="0" bIns="0" anchor="ctr">
            <a:spAutoFit/>
          </a:bodyPr>
          <a:lstStyle/>
          <a:p>
            <a:pPr algn="l"/>
            <a:r>
              <a:rPr sz="760" b="1" i="0">
                <a:solidFill>
                  <a:srgbClr val="005A9E"/>
                </a:solidFill>
                <a:latin typeface="Poppins"/>
              </a:rPr>
              <a:t>Quality</a:t>
            </a:r>
          </a:p>
        </p:txBody>
      </p:sp>
      <p:cxnSp>
        <p:nvCxnSpPr>
          <p:cNvPr id="7" name="Connector 6"/>
          <p:cNvCxnSpPr/>
          <p:nvPr/>
        </p:nvCxnSpPr>
        <p:spPr>
          <a:xfrm>
            <a:off x="5020056" y="1627632"/>
            <a:ext cx="0" cy="128016"/>
          </a:xfrm>
          <a:prstGeom prst="line">
            <a:avLst/>
          </a:prstGeom>
          <a:ln w="15875">
            <a:solidFill>
              <a:srgbClr val="0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692140" y="1298448"/>
            <a:ext cx="1051560" cy="310896"/>
          </a:xfrm>
          <a:prstGeom prst="roundRect">
            <a:avLst>
              <a:gd name="adj" fmla="val 50000"/>
            </a:avLst>
          </a:prstGeom>
          <a:solidFill>
            <a:srgbClr val="E8F1FB"/>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image.png"/>
          <p:cNvPicPr>
            <a:picLocks noChangeAspect="1"/>
          </p:cNvPicPr>
          <p:nvPr/>
        </p:nvPicPr>
        <p:blipFill>
          <a:blip r:embed="rId4"/>
          <a:stretch>
            <a:fillRect/>
          </a:stretch>
        </p:blipFill>
        <p:spPr>
          <a:xfrm>
            <a:off x="5765292" y="1382389"/>
            <a:ext cx="143012" cy="143012"/>
          </a:xfrm>
          <a:prstGeom prst="rect">
            <a:avLst/>
          </a:prstGeom>
        </p:spPr>
      </p:pic>
      <p:sp>
        <p:nvSpPr>
          <p:cNvPr id="10" name="TextBox 9"/>
          <p:cNvSpPr txBox="1"/>
          <p:nvPr/>
        </p:nvSpPr>
        <p:spPr>
          <a:xfrm>
            <a:off x="5954024" y="1298448"/>
            <a:ext cx="743955" cy="310896"/>
          </a:xfrm>
          <a:prstGeom prst="rect">
            <a:avLst/>
          </a:prstGeom>
          <a:noFill/>
        </p:spPr>
        <p:txBody>
          <a:bodyPr wrap="square" lIns="0" tIns="0" rIns="0" bIns="0" anchor="ctr">
            <a:spAutoFit/>
          </a:bodyPr>
          <a:lstStyle/>
          <a:p>
            <a:pPr algn="l"/>
            <a:r>
              <a:rPr sz="760" b="1" i="0">
                <a:solidFill>
                  <a:srgbClr val="005A9E"/>
                </a:solidFill>
                <a:latin typeface="Poppins"/>
              </a:rPr>
              <a:t>Classify</a:t>
            </a:r>
          </a:p>
        </p:txBody>
      </p:sp>
      <p:cxnSp>
        <p:nvCxnSpPr>
          <p:cNvPr id="11" name="Connector 10"/>
          <p:cNvCxnSpPr/>
          <p:nvPr/>
        </p:nvCxnSpPr>
        <p:spPr>
          <a:xfrm>
            <a:off x="6217920" y="1627632"/>
            <a:ext cx="0" cy="128016"/>
          </a:xfrm>
          <a:prstGeom prst="line">
            <a:avLst/>
          </a:prstGeom>
          <a:ln w="15875">
            <a:solidFill>
              <a:srgbClr val="0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890004" y="1298448"/>
            <a:ext cx="1051560" cy="310896"/>
          </a:xfrm>
          <a:prstGeom prst="roundRect">
            <a:avLst>
              <a:gd name="adj" fmla="val 50000"/>
            </a:avLst>
          </a:prstGeom>
          <a:solidFill>
            <a:srgbClr val="E8F1FB"/>
          </a:solidFill>
          <a:ln w="952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image.png"/>
          <p:cNvPicPr>
            <a:picLocks noChangeAspect="1"/>
          </p:cNvPicPr>
          <p:nvPr/>
        </p:nvPicPr>
        <p:blipFill>
          <a:blip r:embed="rId5"/>
          <a:stretch>
            <a:fillRect/>
          </a:stretch>
        </p:blipFill>
        <p:spPr>
          <a:xfrm>
            <a:off x="6963156" y="1382389"/>
            <a:ext cx="143012" cy="143012"/>
          </a:xfrm>
          <a:prstGeom prst="rect">
            <a:avLst/>
          </a:prstGeom>
        </p:spPr>
      </p:pic>
      <p:sp>
        <p:nvSpPr>
          <p:cNvPr id="14" name="TextBox 13"/>
          <p:cNvSpPr txBox="1"/>
          <p:nvPr/>
        </p:nvSpPr>
        <p:spPr>
          <a:xfrm>
            <a:off x="7151888" y="1298448"/>
            <a:ext cx="743955" cy="310896"/>
          </a:xfrm>
          <a:prstGeom prst="rect">
            <a:avLst/>
          </a:prstGeom>
          <a:noFill/>
        </p:spPr>
        <p:txBody>
          <a:bodyPr wrap="square" lIns="0" tIns="0" rIns="0" bIns="0" anchor="ctr">
            <a:spAutoFit/>
          </a:bodyPr>
          <a:lstStyle/>
          <a:p>
            <a:pPr algn="l"/>
            <a:r>
              <a:rPr sz="760" b="1" i="0">
                <a:solidFill>
                  <a:srgbClr val="005A9E"/>
                </a:solidFill>
                <a:latin typeface="Poppins"/>
              </a:rPr>
              <a:t>Geo-Verify</a:t>
            </a:r>
          </a:p>
        </p:txBody>
      </p:sp>
      <p:cxnSp>
        <p:nvCxnSpPr>
          <p:cNvPr id="15" name="Connector 14"/>
          <p:cNvCxnSpPr/>
          <p:nvPr/>
        </p:nvCxnSpPr>
        <p:spPr>
          <a:xfrm>
            <a:off x="7415783" y="1627632"/>
            <a:ext cx="0" cy="128016"/>
          </a:xfrm>
          <a:prstGeom prst="line">
            <a:avLst/>
          </a:prstGeom>
          <a:ln w="15875">
            <a:solidFill>
              <a:srgbClr val="00A0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65760" y="1755648"/>
            <a:ext cx="1280160" cy="960120"/>
          </a:xfrm>
          <a:prstGeom prst="roundRect">
            <a:avLst>
              <a:gd name="adj" fmla="val 5714"/>
            </a:avLst>
          </a:prstGeom>
          <a:solidFill>
            <a:srgbClr val="E8F1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13816" y="1883664"/>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8" name="Picture 17" descr="image.png"/>
          <p:cNvPicPr>
            <a:picLocks noChangeAspect="1"/>
          </p:cNvPicPr>
          <p:nvPr/>
        </p:nvPicPr>
        <p:blipFill>
          <a:blip r:embed="rId6"/>
          <a:stretch>
            <a:fillRect/>
          </a:stretch>
        </p:blipFill>
        <p:spPr>
          <a:xfrm>
            <a:off x="900226" y="1970074"/>
            <a:ext cx="211226" cy="211226"/>
          </a:xfrm>
          <a:prstGeom prst="rect">
            <a:avLst/>
          </a:prstGeom>
        </p:spPr>
      </p:pic>
      <p:sp>
        <p:nvSpPr>
          <p:cNvPr id="19" name="TextBox 18"/>
          <p:cNvSpPr txBox="1"/>
          <p:nvPr/>
        </p:nvSpPr>
        <p:spPr>
          <a:xfrm>
            <a:off x="402336" y="2322576"/>
            <a:ext cx="1207007" cy="256032"/>
          </a:xfrm>
          <a:prstGeom prst="rect">
            <a:avLst/>
          </a:prstGeom>
          <a:noFill/>
        </p:spPr>
        <p:txBody>
          <a:bodyPr wrap="square" lIns="0" tIns="0" rIns="0" bIns="0" anchor="t">
            <a:spAutoFit/>
          </a:bodyPr>
          <a:lstStyle/>
          <a:p>
            <a:pPr algn="ctr"/>
            <a:r>
              <a:rPr sz="950" b="1" i="0">
                <a:solidFill>
                  <a:srgbClr val="08023F"/>
                </a:solidFill>
                <a:latin typeface="Poppins"/>
              </a:rPr>
              <a:t>Blob Storage</a:t>
            </a:r>
          </a:p>
        </p:txBody>
      </p:sp>
      <p:sp>
        <p:nvSpPr>
          <p:cNvPr id="20" name="TextBox 19"/>
          <p:cNvSpPr txBox="1"/>
          <p:nvPr/>
        </p:nvSpPr>
        <p:spPr>
          <a:xfrm>
            <a:off x="402336" y="2560320"/>
            <a:ext cx="1207007" cy="274320"/>
          </a:xfrm>
          <a:prstGeom prst="rect">
            <a:avLst/>
          </a:prstGeom>
          <a:noFill/>
        </p:spPr>
        <p:txBody>
          <a:bodyPr wrap="square" lIns="0" tIns="0" rIns="0" bIns="0" anchor="t">
            <a:spAutoFit/>
          </a:bodyPr>
          <a:lstStyle/>
          <a:p>
            <a:pPr algn="ctr"/>
            <a:r>
              <a:rPr sz="730" b="0" i="1">
                <a:solidFill>
                  <a:srgbClr val="005A9E"/>
                </a:solidFill>
                <a:latin typeface="Poppins Light"/>
              </a:rPr>
              <a:t>Ingest</a:t>
            </a:r>
          </a:p>
        </p:txBody>
      </p:sp>
      <p:sp>
        <p:nvSpPr>
          <p:cNvPr id="21" name="Rounded Rectangle 20"/>
          <p:cNvSpPr/>
          <p:nvPr/>
        </p:nvSpPr>
        <p:spPr>
          <a:xfrm>
            <a:off x="2011679" y="1755648"/>
            <a:ext cx="1280160" cy="960120"/>
          </a:xfrm>
          <a:prstGeom prst="roundRect">
            <a:avLst>
              <a:gd name="adj" fmla="val 5714"/>
            </a:avLst>
          </a:prstGeom>
          <a:solidFill>
            <a:srgbClr val="E8F1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459735" y="1883664"/>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image.png"/>
          <p:cNvPicPr>
            <a:picLocks noChangeAspect="1"/>
          </p:cNvPicPr>
          <p:nvPr/>
        </p:nvPicPr>
        <p:blipFill>
          <a:blip r:embed="rId7"/>
          <a:stretch>
            <a:fillRect/>
          </a:stretch>
        </p:blipFill>
        <p:spPr>
          <a:xfrm>
            <a:off x="2546146" y="1970074"/>
            <a:ext cx="211226" cy="211226"/>
          </a:xfrm>
          <a:prstGeom prst="rect">
            <a:avLst/>
          </a:prstGeom>
        </p:spPr>
      </p:pic>
      <p:sp>
        <p:nvSpPr>
          <p:cNvPr id="24" name="TextBox 23"/>
          <p:cNvSpPr txBox="1"/>
          <p:nvPr/>
        </p:nvSpPr>
        <p:spPr>
          <a:xfrm>
            <a:off x="2048255" y="2322576"/>
            <a:ext cx="1207007" cy="256032"/>
          </a:xfrm>
          <a:prstGeom prst="rect">
            <a:avLst/>
          </a:prstGeom>
          <a:noFill/>
        </p:spPr>
        <p:txBody>
          <a:bodyPr wrap="square" lIns="0" tIns="0" rIns="0" bIns="0" anchor="t">
            <a:spAutoFit/>
          </a:bodyPr>
          <a:lstStyle/>
          <a:p>
            <a:pPr algn="ctr"/>
            <a:r>
              <a:rPr sz="950" b="1" i="0">
                <a:solidFill>
                  <a:srgbClr val="08023F"/>
                </a:solidFill>
                <a:latin typeface="Poppins"/>
              </a:rPr>
              <a:t>Event Grid</a:t>
            </a:r>
          </a:p>
        </p:txBody>
      </p:sp>
      <p:sp>
        <p:nvSpPr>
          <p:cNvPr id="25" name="TextBox 24"/>
          <p:cNvSpPr txBox="1"/>
          <p:nvPr/>
        </p:nvSpPr>
        <p:spPr>
          <a:xfrm>
            <a:off x="2048255" y="2560320"/>
            <a:ext cx="1207007" cy="274320"/>
          </a:xfrm>
          <a:prstGeom prst="rect">
            <a:avLst/>
          </a:prstGeom>
          <a:noFill/>
        </p:spPr>
        <p:txBody>
          <a:bodyPr wrap="square" lIns="0" tIns="0" rIns="0" bIns="0" anchor="t">
            <a:spAutoFit/>
          </a:bodyPr>
          <a:lstStyle/>
          <a:p>
            <a:pPr algn="ctr"/>
            <a:r>
              <a:rPr sz="730" b="0" i="1">
                <a:solidFill>
                  <a:srgbClr val="005A9E"/>
                </a:solidFill>
                <a:latin typeface="Poppins Light"/>
              </a:rPr>
              <a:t>Storage subscription</a:t>
            </a:r>
          </a:p>
        </p:txBody>
      </p:sp>
      <p:sp>
        <p:nvSpPr>
          <p:cNvPr id="26" name="Rounded Rectangle 25"/>
          <p:cNvSpPr/>
          <p:nvPr/>
        </p:nvSpPr>
        <p:spPr>
          <a:xfrm>
            <a:off x="3657599" y="1755648"/>
            <a:ext cx="1280160" cy="960120"/>
          </a:xfrm>
          <a:prstGeom prst="roundRect">
            <a:avLst>
              <a:gd name="adj" fmla="val 5714"/>
            </a:avLst>
          </a:prstGeom>
          <a:solidFill>
            <a:srgbClr val="E8F1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105655" y="1883664"/>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descr="image.png"/>
          <p:cNvPicPr>
            <a:picLocks noChangeAspect="1"/>
          </p:cNvPicPr>
          <p:nvPr/>
        </p:nvPicPr>
        <p:blipFill>
          <a:blip r:embed="rId8"/>
          <a:stretch>
            <a:fillRect/>
          </a:stretch>
        </p:blipFill>
        <p:spPr>
          <a:xfrm>
            <a:off x="4192066" y="1970074"/>
            <a:ext cx="211226" cy="211226"/>
          </a:xfrm>
          <a:prstGeom prst="rect">
            <a:avLst/>
          </a:prstGeom>
        </p:spPr>
      </p:pic>
      <p:sp>
        <p:nvSpPr>
          <p:cNvPr id="29" name="TextBox 28"/>
          <p:cNvSpPr txBox="1"/>
          <p:nvPr/>
        </p:nvSpPr>
        <p:spPr>
          <a:xfrm>
            <a:off x="3694175" y="2322576"/>
            <a:ext cx="1207007" cy="256032"/>
          </a:xfrm>
          <a:prstGeom prst="rect">
            <a:avLst/>
          </a:prstGeom>
          <a:noFill/>
        </p:spPr>
        <p:txBody>
          <a:bodyPr wrap="square" lIns="0" tIns="0" rIns="0" bIns="0" anchor="t">
            <a:spAutoFit/>
          </a:bodyPr>
          <a:lstStyle/>
          <a:p>
            <a:pPr algn="ctr"/>
            <a:r>
              <a:rPr sz="950" b="1" i="0">
                <a:solidFill>
                  <a:srgbClr val="08023F"/>
                </a:solidFill>
                <a:latin typeface="Poppins"/>
              </a:rPr>
              <a:t>Queue</a:t>
            </a:r>
          </a:p>
        </p:txBody>
      </p:sp>
      <p:sp>
        <p:nvSpPr>
          <p:cNvPr id="30" name="TextBox 29"/>
          <p:cNvSpPr txBox="1"/>
          <p:nvPr/>
        </p:nvSpPr>
        <p:spPr>
          <a:xfrm>
            <a:off x="3694175" y="2560320"/>
            <a:ext cx="1207007" cy="274320"/>
          </a:xfrm>
          <a:prstGeom prst="rect">
            <a:avLst/>
          </a:prstGeom>
          <a:noFill/>
        </p:spPr>
        <p:txBody>
          <a:bodyPr wrap="square" lIns="0" tIns="0" rIns="0" bIns="0" anchor="t">
            <a:spAutoFit/>
          </a:bodyPr>
          <a:lstStyle/>
          <a:p>
            <a:pPr algn="ctr"/>
            <a:r>
              <a:rPr sz="730" b="0" i="1">
                <a:solidFill>
                  <a:srgbClr val="005A9E"/>
                </a:solidFill>
                <a:latin typeface="Poppins Light"/>
              </a:rPr>
              <a:t>Service Bus</a:t>
            </a:r>
          </a:p>
        </p:txBody>
      </p:sp>
      <p:sp>
        <p:nvSpPr>
          <p:cNvPr id="31" name="Rounded Rectangle 30"/>
          <p:cNvSpPr/>
          <p:nvPr/>
        </p:nvSpPr>
        <p:spPr>
          <a:xfrm>
            <a:off x="5303520" y="1755648"/>
            <a:ext cx="1828800" cy="960120"/>
          </a:xfrm>
          <a:prstGeom prst="roundRect">
            <a:avLst>
              <a:gd name="adj" fmla="val 5714"/>
            </a:avLst>
          </a:prstGeom>
          <a:solidFill>
            <a:srgbClr val="DFF4F5"/>
          </a:solidFill>
          <a:ln w="12700">
            <a:solidFill>
              <a:srgbClr val="00A0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025896" y="1883664"/>
            <a:ext cx="384048" cy="384048"/>
          </a:xfrm>
          <a:prstGeom prst="ellipse">
            <a:avLst/>
          </a:prstGeom>
          <a:solidFill>
            <a:srgbClr val="00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3" name="Picture 32" descr="image.png"/>
          <p:cNvPicPr>
            <a:picLocks noChangeAspect="1"/>
          </p:cNvPicPr>
          <p:nvPr/>
        </p:nvPicPr>
        <p:blipFill>
          <a:blip r:embed="rId9"/>
          <a:stretch>
            <a:fillRect/>
          </a:stretch>
        </p:blipFill>
        <p:spPr>
          <a:xfrm>
            <a:off x="6112306" y="1970074"/>
            <a:ext cx="211226" cy="211226"/>
          </a:xfrm>
          <a:prstGeom prst="rect">
            <a:avLst/>
          </a:prstGeom>
        </p:spPr>
      </p:pic>
      <p:sp>
        <p:nvSpPr>
          <p:cNvPr id="34" name="TextBox 33"/>
          <p:cNvSpPr txBox="1"/>
          <p:nvPr/>
        </p:nvSpPr>
        <p:spPr>
          <a:xfrm>
            <a:off x="5340096" y="2322576"/>
            <a:ext cx="1755648" cy="256032"/>
          </a:xfrm>
          <a:prstGeom prst="rect">
            <a:avLst/>
          </a:prstGeom>
          <a:noFill/>
        </p:spPr>
        <p:txBody>
          <a:bodyPr wrap="square" lIns="0" tIns="0" rIns="0" bIns="0" anchor="t">
            <a:spAutoFit/>
          </a:bodyPr>
          <a:lstStyle/>
          <a:p>
            <a:pPr algn="ctr"/>
            <a:r>
              <a:rPr sz="950" b="1" i="0">
                <a:solidFill>
                  <a:srgbClr val="08023F"/>
                </a:solidFill>
                <a:latin typeface="Poppins"/>
              </a:rPr>
              <a:t>Orchestrator Agent</a:t>
            </a:r>
          </a:p>
        </p:txBody>
      </p:sp>
      <p:sp>
        <p:nvSpPr>
          <p:cNvPr id="35" name="TextBox 34"/>
          <p:cNvSpPr txBox="1"/>
          <p:nvPr/>
        </p:nvSpPr>
        <p:spPr>
          <a:xfrm>
            <a:off x="5340096" y="2560320"/>
            <a:ext cx="1755648" cy="274320"/>
          </a:xfrm>
          <a:prstGeom prst="rect">
            <a:avLst/>
          </a:prstGeom>
          <a:noFill/>
        </p:spPr>
        <p:txBody>
          <a:bodyPr wrap="square" lIns="0" tIns="0" rIns="0" bIns="0" anchor="t">
            <a:spAutoFit/>
          </a:bodyPr>
          <a:lstStyle/>
          <a:p>
            <a:pPr algn="ctr"/>
            <a:r>
              <a:rPr sz="730" b="0" i="1">
                <a:solidFill>
                  <a:srgbClr val="006E74"/>
                </a:solidFill>
                <a:latin typeface="Poppins Light"/>
              </a:rPr>
              <a:t>Microsoft Agent Framework</a:t>
            </a:r>
          </a:p>
        </p:txBody>
      </p:sp>
      <p:sp>
        <p:nvSpPr>
          <p:cNvPr id="36" name="Rounded Rectangle 35"/>
          <p:cNvSpPr/>
          <p:nvPr/>
        </p:nvSpPr>
        <p:spPr>
          <a:xfrm>
            <a:off x="7498079" y="1755648"/>
            <a:ext cx="1280160" cy="960120"/>
          </a:xfrm>
          <a:prstGeom prst="roundRect">
            <a:avLst>
              <a:gd name="adj" fmla="val 5714"/>
            </a:avLst>
          </a:prstGeom>
          <a:solidFill>
            <a:srgbClr val="E8F1FB"/>
          </a:solidFill>
          <a:ln w="127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946135" y="1883664"/>
            <a:ext cx="384048" cy="384048"/>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image.png"/>
          <p:cNvPicPr>
            <a:picLocks noChangeAspect="1"/>
          </p:cNvPicPr>
          <p:nvPr/>
        </p:nvPicPr>
        <p:blipFill>
          <a:blip r:embed="rId10"/>
          <a:stretch>
            <a:fillRect/>
          </a:stretch>
        </p:blipFill>
        <p:spPr>
          <a:xfrm>
            <a:off x="8032546" y="1970074"/>
            <a:ext cx="211226" cy="211226"/>
          </a:xfrm>
          <a:prstGeom prst="rect">
            <a:avLst/>
          </a:prstGeom>
        </p:spPr>
      </p:pic>
      <p:sp>
        <p:nvSpPr>
          <p:cNvPr id="39" name="TextBox 38"/>
          <p:cNvSpPr txBox="1"/>
          <p:nvPr/>
        </p:nvSpPr>
        <p:spPr>
          <a:xfrm>
            <a:off x="7534655" y="2322576"/>
            <a:ext cx="1207007" cy="256032"/>
          </a:xfrm>
          <a:prstGeom prst="rect">
            <a:avLst/>
          </a:prstGeom>
          <a:noFill/>
        </p:spPr>
        <p:txBody>
          <a:bodyPr wrap="square" lIns="0" tIns="0" rIns="0" bIns="0" anchor="t">
            <a:spAutoFit/>
          </a:bodyPr>
          <a:lstStyle/>
          <a:p>
            <a:pPr algn="ctr"/>
            <a:r>
              <a:rPr sz="950" b="1" i="0">
                <a:solidFill>
                  <a:srgbClr val="08023F"/>
                </a:solidFill>
                <a:latin typeface="Poppins"/>
              </a:rPr>
              <a:t>Cosmos DB</a:t>
            </a:r>
          </a:p>
        </p:txBody>
      </p:sp>
      <p:sp>
        <p:nvSpPr>
          <p:cNvPr id="40" name="TextBox 39"/>
          <p:cNvSpPr txBox="1"/>
          <p:nvPr/>
        </p:nvSpPr>
        <p:spPr>
          <a:xfrm>
            <a:off x="7534655" y="2560320"/>
            <a:ext cx="1207007" cy="274320"/>
          </a:xfrm>
          <a:prstGeom prst="rect">
            <a:avLst/>
          </a:prstGeom>
          <a:noFill/>
        </p:spPr>
        <p:txBody>
          <a:bodyPr wrap="square" lIns="0" tIns="0" rIns="0" bIns="0" anchor="t">
            <a:spAutoFit/>
          </a:bodyPr>
          <a:lstStyle/>
          <a:p>
            <a:pPr algn="ctr"/>
            <a:r>
              <a:rPr sz="730" b="0" i="1">
                <a:solidFill>
                  <a:srgbClr val="005A9E"/>
                </a:solidFill>
                <a:latin typeface="Poppins Light"/>
              </a:rPr>
              <a:t>+ change feed</a:t>
            </a:r>
          </a:p>
        </p:txBody>
      </p:sp>
      <p:cxnSp>
        <p:nvCxnSpPr>
          <p:cNvPr id="41" name="Connector 40"/>
          <p:cNvCxnSpPr/>
          <p:nvPr/>
        </p:nvCxnSpPr>
        <p:spPr>
          <a:xfrm>
            <a:off x="1682495" y="2235708"/>
            <a:ext cx="292608" cy="0"/>
          </a:xfrm>
          <a:prstGeom prst="line">
            <a:avLst/>
          </a:prstGeom>
          <a:ln w="19050">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328415" y="2235708"/>
            <a:ext cx="292608" cy="0"/>
          </a:xfrm>
          <a:prstGeom prst="line">
            <a:avLst/>
          </a:prstGeom>
          <a:ln w="19050">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974336" y="2235708"/>
            <a:ext cx="292608" cy="0"/>
          </a:xfrm>
          <a:prstGeom prst="line">
            <a:avLst/>
          </a:prstGeom>
          <a:ln w="19050">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68896" y="2235708"/>
            <a:ext cx="292608" cy="0"/>
          </a:xfrm>
          <a:prstGeom prst="line">
            <a:avLst/>
          </a:prstGeom>
          <a:ln w="19050">
            <a:solidFill>
              <a:srgbClr val="0078D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303520" y="3063240"/>
            <a:ext cx="1828800" cy="566928"/>
          </a:xfrm>
          <a:prstGeom prst="roundRect">
            <a:avLst>
              <a:gd name="adj" fmla="val 9677"/>
            </a:avLst>
          </a:prstGeom>
          <a:solidFill>
            <a:srgbClr val="DFF4F5"/>
          </a:solidFill>
          <a:ln w="9525">
            <a:solidFill>
              <a:srgbClr val="00A0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5413248" y="3209544"/>
            <a:ext cx="274320" cy="2743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image.png"/>
          <p:cNvPicPr>
            <a:picLocks noChangeAspect="1"/>
          </p:cNvPicPr>
          <p:nvPr/>
        </p:nvPicPr>
        <p:blipFill>
          <a:blip r:embed="rId11"/>
          <a:stretch>
            <a:fillRect/>
          </a:stretch>
        </p:blipFill>
        <p:spPr>
          <a:xfrm>
            <a:off x="5468112" y="3264408"/>
            <a:ext cx="164592" cy="164592"/>
          </a:xfrm>
          <a:prstGeom prst="rect">
            <a:avLst/>
          </a:prstGeom>
        </p:spPr>
      </p:pic>
      <p:sp>
        <p:nvSpPr>
          <p:cNvPr id="48" name="TextBox 47"/>
          <p:cNvSpPr txBox="1"/>
          <p:nvPr/>
        </p:nvSpPr>
        <p:spPr>
          <a:xfrm>
            <a:off x="5742431" y="3118104"/>
            <a:ext cx="1316736" cy="256032"/>
          </a:xfrm>
          <a:prstGeom prst="rect">
            <a:avLst/>
          </a:prstGeom>
          <a:noFill/>
        </p:spPr>
        <p:txBody>
          <a:bodyPr wrap="square" lIns="0" tIns="0" rIns="0" bIns="0" anchor="t">
            <a:spAutoFit/>
          </a:bodyPr>
          <a:lstStyle/>
          <a:p>
            <a:pPr algn="l"/>
            <a:r>
              <a:rPr sz="950" b="1" i="0">
                <a:solidFill>
                  <a:srgbClr val="006E74"/>
                </a:solidFill>
                <a:latin typeface="Poppins"/>
              </a:rPr>
              <a:t>Human Review</a:t>
            </a:r>
          </a:p>
        </p:txBody>
      </p:sp>
      <p:sp>
        <p:nvSpPr>
          <p:cNvPr id="49" name="TextBox 48"/>
          <p:cNvSpPr txBox="1"/>
          <p:nvPr/>
        </p:nvSpPr>
        <p:spPr>
          <a:xfrm>
            <a:off x="5742431" y="3364992"/>
            <a:ext cx="1316736" cy="219456"/>
          </a:xfrm>
          <a:prstGeom prst="rect">
            <a:avLst/>
          </a:prstGeom>
          <a:noFill/>
        </p:spPr>
        <p:txBody>
          <a:bodyPr wrap="square" lIns="0" tIns="0" rIns="0" bIns="0" anchor="t">
            <a:spAutoFit/>
          </a:bodyPr>
          <a:lstStyle/>
          <a:p>
            <a:pPr algn="l"/>
            <a:r>
              <a:rPr sz="730" b="0" i="1">
                <a:solidFill>
                  <a:srgbClr val="006E74"/>
                </a:solidFill>
                <a:latin typeface="Poppins Light"/>
              </a:rPr>
              <a:t>exception queue</a:t>
            </a:r>
          </a:p>
        </p:txBody>
      </p:sp>
      <p:cxnSp>
        <p:nvCxnSpPr>
          <p:cNvPr id="50" name="Connector 49"/>
          <p:cNvCxnSpPr/>
          <p:nvPr/>
        </p:nvCxnSpPr>
        <p:spPr>
          <a:xfrm>
            <a:off x="6217920" y="2734056"/>
            <a:ext cx="0" cy="310896"/>
          </a:xfrm>
          <a:prstGeom prst="line">
            <a:avLst/>
          </a:prstGeom>
          <a:ln w="15875">
            <a:solidFill>
              <a:srgbClr val="00A0A8"/>
            </a:solidFill>
            <a:prstDash val="dash"/>
            <a:tailEnd type="triangle" w="med" len="med"/>
          </a:ln>
          <a:effectLst/>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327648" y="2825496"/>
            <a:ext cx="1645920" cy="201168"/>
          </a:xfrm>
          <a:prstGeom prst="rect">
            <a:avLst/>
          </a:prstGeom>
          <a:noFill/>
        </p:spPr>
        <p:txBody>
          <a:bodyPr wrap="square" lIns="0" tIns="0" rIns="0" bIns="0" anchor="t">
            <a:spAutoFit/>
          </a:bodyPr>
          <a:lstStyle/>
          <a:p>
            <a:pPr algn="l"/>
            <a:r>
              <a:rPr sz="730" b="0" i="1">
                <a:solidFill>
                  <a:srgbClr val="006E74"/>
                </a:solidFill>
                <a:latin typeface="Poppins Light"/>
              </a:rPr>
              <a:t>if confidence is low</a:t>
            </a:r>
          </a:p>
        </p:txBody>
      </p:sp>
      <p:sp>
        <p:nvSpPr>
          <p:cNvPr id="52" name="TextBox 51"/>
          <p:cNvSpPr txBox="1"/>
          <p:nvPr/>
        </p:nvSpPr>
        <p:spPr>
          <a:xfrm>
            <a:off x="365760" y="3831336"/>
            <a:ext cx="8412480" cy="320040"/>
          </a:xfrm>
          <a:prstGeom prst="rect">
            <a:avLst/>
          </a:prstGeom>
          <a:noFill/>
        </p:spPr>
        <p:txBody>
          <a:bodyPr wrap="square" lIns="0" tIns="0" rIns="0" bIns="0" anchor="t">
            <a:spAutoFit/>
          </a:bodyPr>
          <a:lstStyle/>
          <a:p>
            <a:pPr algn="ctr"/>
            <a:r>
              <a:rPr sz="969" b="0" i="1">
                <a:solidFill>
                  <a:srgbClr val="595959"/>
                </a:solidFill>
                <a:latin typeface="Poppins Light"/>
              </a:rPr>
              <a:t>Resolved cases return to the same Cosmos DB store as everything else — nothing forks permanently out of the pipeline.</a:t>
            </a:r>
          </a:p>
        </p:txBody>
      </p:sp>
    </p:spTree>
    <p:extLst>
      <p:ext uri="{BB962C8B-B14F-4D97-AF65-F5344CB8AC3E}">
        <p14:creationId xmlns:p14="http://schemas.microsoft.com/office/powerpoint/2010/main" val="1202633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138499"/>
          </a:xfrm>
          <a:prstGeom prst="rect">
            <a:avLst/>
          </a:prstGeom>
          <a:noFill/>
        </p:spPr>
        <p:txBody>
          <a:bodyPr wrap="square" lIns="0" tIns="0" rIns="0" bIns="0" anchor="t">
            <a:spAutoFit/>
          </a:bodyPr>
          <a:lstStyle/>
          <a:p>
            <a:pPr algn="l"/>
            <a:r>
              <a:rPr sz="900" b="1" i="0" dirty="0">
                <a:solidFill>
                  <a:srgbClr val="00A0A8"/>
                </a:solidFill>
                <a:latin typeface="Poppins"/>
              </a:rPr>
              <a:t>0</a:t>
            </a:r>
            <a:r>
              <a:rPr lang="en-US" sz="900" b="1" i="0" dirty="0">
                <a:solidFill>
                  <a:srgbClr val="00A0A8"/>
                </a:solidFill>
                <a:latin typeface="Poppins"/>
              </a:rPr>
              <a:t>4</a:t>
            </a:r>
            <a:r>
              <a:rPr sz="900" b="1" i="0" dirty="0">
                <a:solidFill>
                  <a:srgbClr val="00A0A8"/>
                </a:solidFill>
                <a:latin typeface="Poppins"/>
              </a:rPr>
              <a:t> · SCALING &amp; AGENTIC AI</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From a Single Model Call to an Orchestrated Agent</a:t>
            </a:r>
          </a:p>
        </p:txBody>
      </p:sp>
      <p:sp>
        <p:nvSpPr>
          <p:cNvPr id="4" name="Rounded Rectangle 3"/>
          <p:cNvSpPr/>
          <p:nvPr/>
        </p:nvSpPr>
        <p:spPr>
          <a:xfrm>
            <a:off x="365760" y="1417320"/>
            <a:ext cx="4069079" cy="2606040"/>
          </a:xfrm>
          <a:prstGeom prst="roundRect">
            <a:avLst>
              <a:gd name="adj" fmla="val 2105"/>
            </a:avLst>
          </a:prstGeom>
          <a:solidFill>
            <a:srgbClr val="FFFFFF"/>
          </a:solidFill>
          <a:ln w="9525">
            <a:solidFill>
              <a:srgbClr val="E1E6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585216" y="1618488"/>
            <a:ext cx="384048" cy="384048"/>
          </a:xfrm>
          <a:prstGeom prst="ellipse">
            <a:avLst/>
          </a:prstGeom>
          <a:solidFill>
            <a:srgbClr val="8A93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iletext_white.png"/>
          <p:cNvPicPr>
            <a:picLocks noChangeAspect="1"/>
          </p:cNvPicPr>
          <p:nvPr/>
        </p:nvPicPr>
        <p:blipFill>
          <a:blip r:embed="rId3"/>
          <a:stretch>
            <a:fillRect/>
          </a:stretch>
        </p:blipFill>
        <p:spPr>
          <a:xfrm>
            <a:off x="671626" y="1704898"/>
            <a:ext cx="211226" cy="211226"/>
          </a:xfrm>
          <a:prstGeom prst="rect">
            <a:avLst/>
          </a:prstGeom>
        </p:spPr>
      </p:pic>
      <p:sp>
        <p:nvSpPr>
          <p:cNvPr id="7" name="TextBox 6"/>
          <p:cNvSpPr txBox="1"/>
          <p:nvPr/>
        </p:nvSpPr>
        <p:spPr>
          <a:xfrm>
            <a:off x="1078992" y="1636776"/>
            <a:ext cx="3154679" cy="365760"/>
          </a:xfrm>
          <a:prstGeom prst="rect">
            <a:avLst/>
          </a:prstGeom>
          <a:noFill/>
        </p:spPr>
        <p:txBody>
          <a:bodyPr wrap="square" lIns="0" tIns="0" rIns="0" bIns="0" anchor="ctr">
            <a:spAutoFit/>
          </a:bodyPr>
          <a:lstStyle/>
          <a:p>
            <a:pPr algn="l"/>
            <a:r>
              <a:rPr sz="1300" b="1" i="0">
                <a:solidFill>
                  <a:srgbClr val="595959"/>
                </a:solidFill>
                <a:latin typeface="Poppins"/>
              </a:rPr>
              <a:t>Today</a:t>
            </a:r>
          </a:p>
        </p:txBody>
      </p:sp>
      <p:sp>
        <p:nvSpPr>
          <p:cNvPr id="8" name="TextBox 7"/>
          <p:cNvSpPr txBox="1"/>
          <p:nvPr/>
        </p:nvSpPr>
        <p:spPr>
          <a:xfrm>
            <a:off x="585216" y="2240280"/>
            <a:ext cx="3630167" cy="1645920"/>
          </a:xfrm>
          <a:prstGeom prst="rect">
            <a:avLst/>
          </a:prstGeom>
          <a:noFill/>
        </p:spPr>
        <p:txBody>
          <a:bodyPr wrap="square" lIns="0" tIns="0" rIns="0" bIns="0">
            <a:spAutoFit/>
          </a:bodyPr>
          <a:lstStyle/>
          <a:p>
            <a:pPr>
              <a:lnSpc>
                <a:spcPct val="115000"/>
              </a:lnSpc>
              <a:spcAft>
                <a:spcPts val="600"/>
              </a:spcAft>
            </a:pPr>
            <a:r>
              <a:rPr sz="930" b="0" i="0">
                <a:solidFill>
                  <a:srgbClr val="08023F"/>
                </a:solidFill>
                <a:latin typeface="Poppins Light"/>
              </a:rPr>
              <a:t>●  One function, one model call, one verdict</a:t>
            </a:r>
          </a:p>
          <a:p>
            <a:pPr>
              <a:lnSpc>
                <a:spcPct val="115000"/>
              </a:lnSpc>
              <a:spcAft>
                <a:spcPts val="600"/>
              </a:spcAft>
            </a:pPr>
            <a:r>
              <a:rPr sz="930" b="0" i="0">
                <a:solidFill>
                  <a:srgbClr val="08023F"/>
                </a:solidFill>
                <a:latin typeface="Poppins Light"/>
              </a:rPr>
              <a:t>●  No memory carried across steps</a:t>
            </a:r>
          </a:p>
          <a:p>
            <a:pPr>
              <a:lnSpc>
                <a:spcPct val="115000"/>
              </a:lnSpc>
              <a:spcAft>
                <a:spcPts val="600"/>
              </a:spcAft>
            </a:pPr>
            <a:r>
              <a:rPr sz="930" b="0" i="0">
                <a:solidFill>
                  <a:srgbClr val="08023F"/>
                </a:solidFill>
                <a:latin typeface="Poppins Light"/>
              </a:rPr>
              <a:t>●  No structured escalation when confidence is low</a:t>
            </a:r>
          </a:p>
          <a:p>
            <a:pPr>
              <a:lnSpc>
                <a:spcPct val="115000"/>
              </a:lnSpc>
              <a:spcAft>
                <a:spcPts val="600"/>
              </a:spcAft>
            </a:pPr>
            <a:r>
              <a:rPr sz="930" b="0" i="0">
                <a:solidFill>
                  <a:srgbClr val="08023F"/>
                </a:solidFill>
                <a:latin typeface="Poppins Light"/>
              </a:rPr>
              <a:t>●  A new check means rewriting the function</a:t>
            </a:r>
          </a:p>
        </p:txBody>
      </p:sp>
      <p:sp>
        <p:nvSpPr>
          <p:cNvPr id="9" name="Rounded Rectangle 8"/>
          <p:cNvSpPr/>
          <p:nvPr/>
        </p:nvSpPr>
        <p:spPr>
          <a:xfrm>
            <a:off x="4709159" y="1417320"/>
            <a:ext cx="4069079" cy="2606040"/>
          </a:xfrm>
          <a:prstGeom prst="roundRect">
            <a:avLst>
              <a:gd name="adj" fmla="val 2105"/>
            </a:avLst>
          </a:prstGeom>
          <a:solidFill>
            <a:srgbClr val="DFF4F5"/>
          </a:solidFill>
          <a:ln w="9525">
            <a:solidFill>
              <a:srgbClr val="00A0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928616" y="1618488"/>
            <a:ext cx="384048" cy="384048"/>
          </a:xfrm>
          <a:prstGeom prst="ellipse">
            <a:avLst/>
          </a:prstGeom>
          <a:solidFill>
            <a:srgbClr val="00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pu_white.png"/>
          <p:cNvPicPr>
            <a:picLocks noChangeAspect="1"/>
          </p:cNvPicPr>
          <p:nvPr/>
        </p:nvPicPr>
        <p:blipFill>
          <a:blip r:embed="rId4"/>
          <a:stretch>
            <a:fillRect/>
          </a:stretch>
        </p:blipFill>
        <p:spPr>
          <a:xfrm>
            <a:off x="5015026" y="1704898"/>
            <a:ext cx="211226" cy="211226"/>
          </a:xfrm>
          <a:prstGeom prst="rect">
            <a:avLst/>
          </a:prstGeom>
        </p:spPr>
      </p:pic>
      <p:sp>
        <p:nvSpPr>
          <p:cNvPr id="12" name="TextBox 11"/>
          <p:cNvSpPr txBox="1"/>
          <p:nvPr/>
        </p:nvSpPr>
        <p:spPr>
          <a:xfrm>
            <a:off x="5422392" y="1581912"/>
            <a:ext cx="3154679" cy="457200"/>
          </a:xfrm>
          <a:prstGeom prst="rect">
            <a:avLst/>
          </a:prstGeom>
          <a:noFill/>
        </p:spPr>
        <p:txBody>
          <a:bodyPr wrap="square" lIns="0" tIns="0" rIns="0" bIns="0" anchor="ctr">
            <a:spAutoFit/>
          </a:bodyPr>
          <a:lstStyle/>
          <a:p>
            <a:pPr algn="l"/>
            <a:r>
              <a:rPr sz="1150" b="1" i="0">
                <a:solidFill>
                  <a:srgbClr val="006E74"/>
                </a:solidFill>
                <a:latin typeface="Poppins"/>
              </a:rPr>
              <a:t>With an Orchestrated Agent</a:t>
            </a:r>
          </a:p>
        </p:txBody>
      </p:sp>
      <p:sp>
        <p:nvSpPr>
          <p:cNvPr id="13" name="TextBox 12"/>
          <p:cNvSpPr txBox="1"/>
          <p:nvPr/>
        </p:nvSpPr>
        <p:spPr>
          <a:xfrm>
            <a:off x="4928616" y="2240280"/>
            <a:ext cx="3630167" cy="1645920"/>
          </a:xfrm>
          <a:prstGeom prst="rect">
            <a:avLst/>
          </a:prstGeom>
          <a:noFill/>
        </p:spPr>
        <p:txBody>
          <a:bodyPr wrap="square" lIns="0" tIns="0" rIns="0" bIns="0">
            <a:spAutoFit/>
          </a:bodyPr>
          <a:lstStyle/>
          <a:p>
            <a:pPr>
              <a:lnSpc>
                <a:spcPct val="115000"/>
              </a:lnSpc>
              <a:spcAft>
                <a:spcPts val="600"/>
              </a:spcAft>
            </a:pPr>
            <a:r>
              <a:rPr sz="930" b="0" i="0">
                <a:solidFill>
                  <a:srgbClr val="004A4E"/>
                </a:solidFill>
                <a:latin typeface="Poppins Light"/>
              </a:rPr>
              <a:t>●  An orchestrator reasons across multiple tools — quality, vision, geo</a:t>
            </a:r>
          </a:p>
          <a:p>
            <a:pPr>
              <a:lnSpc>
                <a:spcPct val="115000"/>
              </a:lnSpc>
              <a:spcAft>
                <a:spcPts val="600"/>
              </a:spcAft>
            </a:pPr>
            <a:r>
              <a:rPr sz="930" b="0" i="0">
                <a:solidFill>
                  <a:srgbClr val="004A4E"/>
                </a:solidFill>
                <a:latin typeface="Poppins Light"/>
              </a:rPr>
              <a:t>●  State persists across steps: checkpoints, retries, resumes</a:t>
            </a:r>
          </a:p>
          <a:p>
            <a:pPr>
              <a:lnSpc>
                <a:spcPct val="115000"/>
              </a:lnSpc>
              <a:spcAft>
                <a:spcPts val="600"/>
              </a:spcAft>
            </a:pPr>
            <a:r>
              <a:rPr sz="930" b="0" i="0">
                <a:solidFill>
                  <a:srgbClr val="004A4E"/>
                </a:solidFill>
                <a:latin typeface="Poppins Light"/>
              </a:rPr>
              <a:t>●  Low-confidence cases pause for a human, then resume automatically</a:t>
            </a:r>
          </a:p>
          <a:p>
            <a:pPr>
              <a:lnSpc>
                <a:spcPct val="115000"/>
              </a:lnSpc>
              <a:spcAft>
                <a:spcPts val="600"/>
              </a:spcAft>
            </a:pPr>
            <a:r>
              <a:rPr sz="930" b="0" i="0">
                <a:solidFill>
                  <a:srgbClr val="004A4E"/>
                </a:solidFill>
                <a:latin typeface="Poppins Light"/>
              </a:rPr>
              <a:t>●  A new check is added as a tool, not a rewrite</a:t>
            </a:r>
          </a:p>
        </p:txBody>
      </p:sp>
    </p:spTree>
    <p:extLst>
      <p:ext uri="{BB962C8B-B14F-4D97-AF65-F5344CB8AC3E}">
        <p14:creationId xmlns:p14="http://schemas.microsoft.com/office/powerpoint/2010/main" val="1202633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56032"/>
            <a:ext cx="6858000" cy="138499"/>
          </a:xfrm>
          <a:prstGeom prst="rect">
            <a:avLst/>
          </a:prstGeom>
          <a:noFill/>
        </p:spPr>
        <p:txBody>
          <a:bodyPr wrap="square" lIns="0" tIns="0" rIns="0" bIns="0" anchor="t">
            <a:spAutoFit/>
          </a:bodyPr>
          <a:lstStyle/>
          <a:p>
            <a:pPr algn="l"/>
            <a:r>
              <a:rPr sz="900" b="1" i="0" dirty="0">
                <a:solidFill>
                  <a:srgbClr val="00A0A8"/>
                </a:solidFill>
                <a:latin typeface="Poppins"/>
              </a:rPr>
              <a:t>0</a:t>
            </a:r>
            <a:r>
              <a:rPr lang="en-US" sz="900" b="1" i="0" dirty="0">
                <a:solidFill>
                  <a:srgbClr val="00A0A8"/>
                </a:solidFill>
                <a:latin typeface="Poppins"/>
              </a:rPr>
              <a:t>4</a:t>
            </a:r>
            <a:r>
              <a:rPr sz="900" b="1" i="0" dirty="0">
                <a:solidFill>
                  <a:srgbClr val="00A0A8"/>
                </a:solidFill>
                <a:latin typeface="Poppins"/>
              </a:rPr>
              <a:t> · SCALING &amp; AGENTIC AI</a:t>
            </a:r>
          </a:p>
        </p:txBody>
      </p:sp>
      <p:sp>
        <p:nvSpPr>
          <p:cNvPr id="3" name="TextBox 2"/>
          <p:cNvSpPr txBox="1"/>
          <p:nvPr/>
        </p:nvSpPr>
        <p:spPr>
          <a:xfrm>
            <a:off x="365760" y="493776"/>
            <a:ext cx="8412480" cy="457200"/>
          </a:xfrm>
          <a:prstGeom prst="rect">
            <a:avLst/>
          </a:prstGeom>
          <a:noFill/>
        </p:spPr>
        <p:txBody>
          <a:bodyPr wrap="square" lIns="0" tIns="0" rIns="0" bIns="0" anchor="t">
            <a:spAutoFit/>
          </a:bodyPr>
          <a:lstStyle/>
          <a:p>
            <a:pPr algn="l"/>
            <a:r>
              <a:rPr sz="2100" b="1" i="0">
                <a:solidFill>
                  <a:srgbClr val="08023F"/>
                </a:solidFill>
                <a:latin typeface="Poppins"/>
              </a:rPr>
              <a:t>What to Plan for With Microsoft’s Agent Framework</a:t>
            </a:r>
          </a:p>
        </p:txBody>
      </p:sp>
      <p:sp>
        <p:nvSpPr>
          <p:cNvPr id="4" name="TextBox 3"/>
          <p:cNvSpPr txBox="1"/>
          <p:nvPr/>
        </p:nvSpPr>
        <p:spPr>
          <a:xfrm>
            <a:off x="365760" y="1188720"/>
            <a:ext cx="8412480" cy="365760"/>
          </a:xfrm>
          <a:prstGeom prst="rect">
            <a:avLst/>
          </a:prstGeom>
          <a:noFill/>
        </p:spPr>
        <p:txBody>
          <a:bodyPr wrap="square" lIns="0" tIns="0" rIns="0" bIns="0" anchor="t">
            <a:spAutoFit/>
          </a:bodyPr>
          <a:lstStyle/>
          <a:p>
            <a:pPr algn="l"/>
            <a:r>
              <a:rPr sz="869" b="0" i="1">
                <a:solidFill>
                  <a:srgbClr val="595959"/>
                </a:solidFill>
                <a:latin typeface="Poppins Light"/>
              </a:rPr>
              <a:t>Microsoft Agent Framework reached general availability in April 2026 as the successor to Semantic Kernel and AutoGen; agents can be hosted on Microsoft Foundry Agent Service.</a:t>
            </a:r>
          </a:p>
        </p:txBody>
      </p:sp>
      <p:sp>
        <p:nvSpPr>
          <p:cNvPr id="5" name="Rounded Rectangle 4"/>
          <p:cNvSpPr/>
          <p:nvPr/>
        </p:nvSpPr>
        <p:spPr>
          <a:xfrm>
            <a:off x="365760" y="1691640"/>
            <a:ext cx="2670048" cy="1421892"/>
          </a:xfrm>
          <a:prstGeom prst="roundRect">
            <a:avLst>
              <a:gd name="adj" fmla="val 3858"/>
            </a:avLst>
          </a:prstGeom>
          <a:solidFill>
            <a:srgbClr val="DFF4F5"/>
          </a:solidFill>
          <a:ln w="9525">
            <a:solidFill>
              <a:srgbClr val="B8E5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512064" y="1828800"/>
            <a:ext cx="347472" cy="347472"/>
          </a:xfrm>
          <a:prstGeom prst="ellipse">
            <a:avLst/>
          </a:prstGeom>
          <a:solidFill>
            <a:srgbClr val="00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gitbranch_white.png"/>
          <p:cNvPicPr>
            <a:picLocks noChangeAspect="1"/>
          </p:cNvPicPr>
          <p:nvPr/>
        </p:nvPicPr>
        <p:blipFill>
          <a:blip r:embed="rId3"/>
          <a:stretch>
            <a:fillRect/>
          </a:stretch>
        </p:blipFill>
        <p:spPr>
          <a:xfrm>
            <a:off x="595457" y="1912193"/>
            <a:ext cx="180685" cy="180685"/>
          </a:xfrm>
          <a:prstGeom prst="rect">
            <a:avLst/>
          </a:prstGeom>
        </p:spPr>
      </p:pic>
      <p:sp>
        <p:nvSpPr>
          <p:cNvPr id="8" name="TextBox 7"/>
          <p:cNvSpPr txBox="1"/>
          <p:nvPr/>
        </p:nvSpPr>
        <p:spPr>
          <a:xfrm>
            <a:off x="512064" y="2221992"/>
            <a:ext cx="2377440" cy="320040"/>
          </a:xfrm>
          <a:prstGeom prst="rect">
            <a:avLst/>
          </a:prstGeom>
          <a:noFill/>
        </p:spPr>
        <p:txBody>
          <a:bodyPr wrap="square" lIns="0" tIns="0" rIns="0" bIns="0" anchor="t">
            <a:spAutoFit/>
          </a:bodyPr>
          <a:lstStyle/>
          <a:p>
            <a:pPr algn="l">
              <a:lnSpc>
                <a:spcPct val="100000"/>
              </a:lnSpc>
            </a:pPr>
            <a:r>
              <a:rPr sz="950" b="1" i="0">
                <a:solidFill>
                  <a:srgbClr val="006E74"/>
                </a:solidFill>
                <a:latin typeface="Poppins"/>
              </a:rPr>
              <a:t>Orchestration Model</a:t>
            </a:r>
          </a:p>
        </p:txBody>
      </p:sp>
      <p:sp>
        <p:nvSpPr>
          <p:cNvPr id="9" name="TextBox 8"/>
          <p:cNvSpPr txBox="1"/>
          <p:nvPr/>
        </p:nvSpPr>
        <p:spPr>
          <a:xfrm>
            <a:off x="512064" y="2532888"/>
            <a:ext cx="2377440" cy="507491"/>
          </a:xfrm>
          <a:prstGeom prst="rect">
            <a:avLst/>
          </a:prstGeom>
          <a:noFill/>
        </p:spPr>
        <p:txBody>
          <a:bodyPr wrap="square" lIns="0" tIns="0" rIns="0" bIns="0" anchor="t">
            <a:spAutoFit/>
          </a:bodyPr>
          <a:lstStyle/>
          <a:p>
            <a:pPr algn="l">
              <a:lnSpc>
                <a:spcPct val="105000"/>
              </a:lnSpc>
            </a:pPr>
            <a:r>
              <a:rPr sz="780" b="0" i="0">
                <a:solidFill>
                  <a:srgbClr val="1F5A5C"/>
                </a:solidFill>
                <a:latin typeface="Poppins Light"/>
              </a:rPr>
              <a:t>Graph-based workflows give sequential, concurrent, and hand-off patterns across your tools.</a:t>
            </a:r>
          </a:p>
        </p:txBody>
      </p:sp>
      <p:sp>
        <p:nvSpPr>
          <p:cNvPr id="10" name="Rounded Rectangle 9"/>
          <p:cNvSpPr/>
          <p:nvPr/>
        </p:nvSpPr>
        <p:spPr>
          <a:xfrm>
            <a:off x="3236976" y="1691640"/>
            <a:ext cx="2670048" cy="1421892"/>
          </a:xfrm>
          <a:prstGeom prst="roundRect">
            <a:avLst>
              <a:gd name="adj" fmla="val 3858"/>
            </a:avLst>
          </a:prstGeom>
          <a:solidFill>
            <a:srgbClr val="DFF4F5"/>
          </a:solidFill>
          <a:ln w="9525">
            <a:solidFill>
              <a:srgbClr val="B8E5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383280" y="1828800"/>
            <a:ext cx="347472" cy="347472"/>
          </a:xfrm>
          <a:prstGeom prst="ellipse">
            <a:avLst/>
          </a:prstGeom>
          <a:solidFill>
            <a:srgbClr val="00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pu_white.png"/>
          <p:cNvPicPr>
            <a:picLocks noChangeAspect="1"/>
          </p:cNvPicPr>
          <p:nvPr/>
        </p:nvPicPr>
        <p:blipFill>
          <a:blip r:embed="rId4"/>
          <a:stretch>
            <a:fillRect/>
          </a:stretch>
        </p:blipFill>
        <p:spPr>
          <a:xfrm>
            <a:off x="3466673" y="1912193"/>
            <a:ext cx="180685" cy="180685"/>
          </a:xfrm>
          <a:prstGeom prst="rect">
            <a:avLst/>
          </a:prstGeom>
        </p:spPr>
      </p:pic>
      <p:sp>
        <p:nvSpPr>
          <p:cNvPr id="13" name="TextBox 12"/>
          <p:cNvSpPr txBox="1"/>
          <p:nvPr/>
        </p:nvSpPr>
        <p:spPr>
          <a:xfrm>
            <a:off x="3383280" y="2221992"/>
            <a:ext cx="2377440" cy="320040"/>
          </a:xfrm>
          <a:prstGeom prst="rect">
            <a:avLst/>
          </a:prstGeom>
          <a:noFill/>
        </p:spPr>
        <p:txBody>
          <a:bodyPr wrap="square" lIns="0" tIns="0" rIns="0" bIns="0" anchor="t">
            <a:spAutoFit/>
          </a:bodyPr>
          <a:lstStyle/>
          <a:p>
            <a:pPr algn="l">
              <a:lnSpc>
                <a:spcPct val="100000"/>
              </a:lnSpc>
            </a:pPr>
            <a:r>
              <a:rPr sz="950" b="1" i="0">
                <a:solidFill>
                  <a:srgbClr val="006E74"/>
                </a:solidFill>
                <a:latin typeface="Poppins"/>
              </a:rPr>
              <a:t>Hosting &amp; Runtime</a:t>
            </a:r>
          </a:p>
        </p:txBody>
      </p:sp>
      <p:sp>
        <p:nvSpPr>
          <p:cNvPr id="14" name="TextBox 13"/>
          <p:cNvSpPr txBox="1"/>
          <p:nvPr/>
        </p:nvSpPr>
        <p:spPr>
          <a:xfrm>
            <a:off x="3383280" y="2532888"/>
            <a:ext cx="2377440" cy="507491"/>
          </a:xfrm>
          <a:prstGeom prst="rect">
            <a:avLst/>
          </a:prstGeom>
          <a:noFill/>
        </p:spPr>
        <p:txBody>
          <a:bodyPr wrap="square" lIns="0" tIns="0" rIns="0" bIns="0" anchor="t">
            <a:spAutoFit/>
          </a:bodyPr>
          <a:lstStyle/>
          <a:p>
            <a:pPr algn="l">
              <a:lnSpc>
                <a:spcPct val="105000"/>
              </a:lnSpc>
            </a:pPr>
            <a:r>
              <a:rPr sz="780" b="0" i="0">
                <a:solidFill>
                  <a:srgbClr val="1F5A5C"/>
                </a:solidFill>
                <a:latin typeface="Poppins Light"/>
              </a:rPr>
              <a:t>Microsoft Foundry Agent Service runs agents in a managed, sandboxed environment.</a:t>
            </a:r>
          </a:p>
        </p:txBody>
      </p:sp>
      <p:sp>
        <p:nvSpPr>
          <p:cNvPr id="15" name="Rounded Rectangle 14"/>
          <p:cNvSpPr/>
          <p:nvPr/>
        </p:nvSpPr>
        <p:spPr>
          <a:xfrm>
            <a:off x="6108192" y="1691640"/>
            <a:ext cx="2670048" cy="1421892"/>
          </a:xfrm>
          <a:prstGeom prst="roundRect">
            <a:avLst>
              <a:gd name="adj" fmla="val 3858"/>
            </a:avLst>
          </a:prstGeom>
          <a:solidFill>
            <a:srgbClr val="DFF4F5"/>
          </a:solidFill>
          <a:ln w="9525">
            <a:solidFill>
              <a:srgbClr val="B8E5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254496" y="1828800"/>
            <a:ext cx="347472" cy="347472"/>
          </a:xfrm>
          <a:prstGeom prst="ellipse">
            <a:avLst/>
          </a:prstGeom>
          <a:solidFill>
            <a:srgbClr val="00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png"/>
          <p:cNvPicPr>
            <a:picLocks noChangeAspect="1"/>
          </p:cNvPicPr>
          <p:nvPr/>
        </p:nvPicPr>
        <p:blipFill>
          <a:blip r:embed="rId5"/>
          <a:stretch>
            <a:fillRect/>
          </a:stretch>
        </p:blipFill>
        <p:spPr>
          <a:xfrm>
            <a:off x="6337889" y="1912193"/>
            <a:ext cx="180685" cy="180685"/>
          </a:xfrm>
          <a:prstGeom prst="rect">
            <a:avLst/>
          </a:prstGeom>
        </p:spPr>
      </p:pic>
      <p:sp>
        <p:nvSpPr>
          <p:cNvPr id="18" name="TextBox 17"/>
          <p:cNvSpPr txBox="1"/>
          <p:nvPr/>
        </p:nvSpPr>
        <p:spPr>
          <a:xfrm>
            <a:off x="6254496" y="2221992"/>
            <a:ext cx="2377440" cy="320040"/>
          </a:xfrm>
          <a:prstGeom prst="rect">
            <a:avLst/>
          </a:prstGeom>
          <a:noFill/>
        </p:spPr>
        <p:txBody>
          <a:bodyPr wrap="square" lIns="0" tIns="0" rIns="0" bIns="0" anchor="t">
            <a:spAutoFit/>
          </a:bodyPr>
          <a:lstStyle/>
          <a:p>
            <a:pPr algn="l">
              <a:lnSpc>
                <a:spcPct val="100000"/>
              </a:lnSpc>
            </a:pPr>
            <a:r>
              <a:rPr sz="950" b="1" i="0">
                <a:solidFill>
                  <a:srgbClr val="006E74"/>
                </a:solidFill>
                <a:latin typeface="Poppins"/>
              </a:rPr>
              <a:t>Human-in-the-Loop</a:t>
            </a:r>
          </a:p>
        </p:txBody>
      </p:sp>
      <p:sp>
        <p:nvSpPr>
          <p:cNvPr id="19" name="TextBox 18"/>
          <p:cNvSpPr txBox="1"/>
          <p:nvPr/>
        </p:nvSpPr>
        <p:spPr>
          <a:xfrm>
            <a:off x="6254496" y="2532888"/>
            <a:ext cx="2377440" cy="507491"/>
          </a:xfrm>
          <a:prstGeom prst="rect">
            <a:avLst/>
          </a:prstGeom>
          <a:noFill/>
        </p:spPr>
        <p:txBody>
          <a:bodyPr wrap="square" lIns="0" tIns="0" rIns="0" bIns="0" anchor="t">
            <a:spAutoFit/>
          </a:bodyPr>
          <a:lstStyle/>
          <a:p>
            <a:pPr algn="l">
              <a:lnSpc>
                <a:spcPct val="105000"/>
              </a:lnSpc>
            </a:pPr>
            <a:r>
              <a:rPr sz="780" b="0" i="0">
                <a:solidFill>
                  <a:srgbClr val="1F5A5C"/>
                </a:solidFill>
                <a:latin typeface="Poppins Light"/>
              </a:rPr>
              <a:t>Built-in checkpointing pauses a workflow on low confidence and resumes after review.</a:t>
            </a:r>
          </a:p>
        </p:txBody>
      </p:sp>
      <p:sp>
        <p:nvSpPr>
          <p:cNvPr id="20" name="Rounded Rectangle 19"/>
          <p:cNvSpPr/>
          <p:nvPr/>
        </p:nvSpPr>
        <p:spPr>
          <a:xfrm>
            <a:off x="365760" y="3259836"/>
            <a:ext cx="2670048" cy="1421892"/>
          </a:xfrm>
          <a:prstGeom prst="roundRect">
            <a:avLst>
              <a:gd name="adj" fmla="val 3858"/>
            </a:avLst>
          </a:prstGeom>
          <a:solidFill>
            <a:srgbClr val="DFF4F5"/>
          </a:solidFill>
          <a:ln w="9525">
            <a:solidFill>
              <a:srgbClr val="B8E5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12064" y="3396996"/>
            <a:ext cx="347472" cy="347472"/>
          </a:xfrm>
          <a:prstGeom prst="ellipse">
            <a:avLst/>
          </a:prstGeom>
          <a:solidFill>
            <a:srgbClr val="00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link_white.png"/>
          <p:cNvPicPr>
            <a:picLocks noChangeAspect="1"/>
          </p:cNvPicPr>
          <p:nvPr/>
        </p:nvPicPr>
        <p:blipFill>
          <a:blip r:embed="rId6"/>
          <a:stretch>
            <a:fillRect/>
          </a:stretch>
        </p:blipFill>
        <p:spPr>
          <a:xfrm>
            <a:off x="595457" y="3480389"/>
            <a:ext cx="180685" cy="180685"/>
          </a:xfrm>
          <a:prstGeom prst="rect">
            <a:avLst/>
          </a:prstGeom>
        </p:spPr>
      </p:pic>
      <p:sp>
        <p:nvSpPr>
          <p:cNvPr id="23" name="TextBox 22"/>
          <p:cNvSpPr txBox="1"/>
          <p:nvPr/>
        </p:nvSpPr>
        <p:spPr>
          <a:xfrm>
            <a:off x="512064" y="3790187"/>
            <a:ext cx="2377440" cy="320040"/>
          </a:xfrm>
          <a:prstGeom prst="rect">
            <a:avLst/>
          </a:prstGeom>
          <a:noFill/>
        </p:spPr>
        <p:txBody>
          <a:bodyPr wrap="square" lIns="0" tIns="0" rIns="0" bIns="0" anchor="t">
            <a:spAutoFit/>
          </a:bodyPr>
          <a:lstStyle/>
          <a:p>
            <a:pPr algn="l">
              <a:lnSpc>
                <a:spcPct val="100000"/>
              </a:lnSpc>
            </a:pPr>
            <a:r>
              <a:rPr sz="950" b="1" i="0">
                <a:solidFill>
                  <a:srgbClr val="006E74"/>
                </a:solidFill>
                <a:latin typeface="Poppins"/>
              </a:rPr>
              <a:t>Interoperability</a:t>
            </a:r>
          </a:p>
        </p:txBody>
      </p:sp>
      <p:sp>
        <p:nvSpPr>
          <p:cNvPr id="24" name="TextBox 23"/>
          <p:cNvSpPr txBox="1"/>
          <p:nvPr/>
        </p:nvSpPr>
        <p:spPr>
          <a:xfrm>
            <a:off x="512064" y="4101084"/>
            <a:ext cx="2377440" cy="507491"/>
          </a:xfrm>
          <a:prstGeom prst="rect">
            <a:avLst/>
          </a:prstGeom>
          <a:noFill/>
        </p:spPr>
        <p:txBody>
          <a:bodyPr wrap="square" lIns="0" tIns="0" rIns="0" bIns="0" anchor="t">
            <a:spAutoFit/>
          </a:bodyPr>
          <a:lstStyle/>
          <a:p>
            <a:pPr algn="l">
              <a:lnSpc>
                <a:spcPct val="105000"/>
              </a:lnSpc>
            </a:pPr>
            <a:r>
              <a:rPr sz="780" b="0" i="0">
                <a:solidFill>
                  <a:srgbClr val="1F5A5C"/>
                </a:solidFill>
                <a:latin typeface="Poppins Light"/>
              </a:rPr>
              <a:t>A2A and MCP support let the agent expose or consume tools without one-off integrations.</a:t>
            </a:r>
          </a:p>
        </p:txBody>
      </p:sp>
      <p:sp>
        <p:nvSpPr>
          <p:cNvPr id="25" name="Rounded Rectangle 24"/>
          <p:cNvSpPr/>
          <p:nvPr/>
        </p:nvSpPr>
        <p:spPr>
          <a:xfrm>
            <a:off x="3236976" y="3259836"/>
            <a:ext cx="2670048" cy="1421892"/>
          </a:xfrm>
          <a:prstGeom prst="roundRect">
            <a:avLst>
              <a:gd name="adj" fmla="val 3858"/>
            </a:avLst>
          </a:prstGeom>
          <a:solidFill>
            <a:srgbClr val="DFF4F5"/>
          </a:solidFill>
          <a:ln w="9525">
            <a:solidFill>
              <a:srgbClr val="B8E5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3383280" y="3396996"/>
            <a:ext cx="347472" cy="347472"/>
          </a:xfrm>
          <a:prstGeom prst="ellipse">
            <a:avLst/>
          </a:prstGeom>
          <a:solidFill>
            <a:srgbClr val="00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image.png"/>
          <p:cNvPicPr>
            <a:picLocks noChangeAspect="1"/>
          </p:cNvPicPr>
          <p:nvPr/>
        </p:nvPicPr>
        <p:blipFill>
          <a:blip r:embed="rId7"/>
          <a:stretch>
            <a:fillRect/>
          </a:stretch>
        </p:blipFill>
        <p:spPr>
          <a:xfrm>
            <a:off x="3466673" y="3480389"/>
            <a:ext cx="180685" cy="180685"/>
          </a:xfrm>
          <a:prstGeom prst="rect">
            <a:avLst/>
          </a:prstGeom>
        </p:spPr>
      </p:pic>
      <p:sp>
        <p:nvSpPr>
          <p:cNvPr id="28" name="TextBox 27"/>
          <p:cNvSpPr txBox="1"/>
          <p:nvPr/>
        </p:nvSpPr>
        <p:spPr>
          <a:xfrm>
            <a:off x="3383280" y="3790187"/>
            <a:ext cx="2377440" cy="320040"/>
          </a:xfrm>
          <a:prstGeom prst="rect">
            <a:avLst/>
          </a:prstGeom>
          <a:noFill/>
        </p:spPr>
        <p:txBody>
          <a:bodyPr wrap="square" lIns="0" tIns="0" rIns="0" bIns="0" anchor="t">
            <a:spAutoFit/>
          </a:bodyPr>
          <a:lstStyle/>
          <a:p>
            <a:pPr algn="l">
              <a:lnSpc>
                <a:spcPct val="100000"/>
              </a:lnSpc>
            </a:pPr>
            <a:r>
              <a:rPr sz="950" b="1" i="0">
                <a:solidFill>
                  <a:srgbClr val="006E74"/>
                </a:solidFill>
                <a:latin typeface="Poppins"/>
              </a:rPr>
              <a:t>Cost &amp; Model Routing</a:t>
            </a:r>
          </a:p>
        </p:txBody>
      </p:sp>
      <p:sp>
        <p:nvSpPr>
          <p:cNvPr id="29" name="TextBox 28"/>
          <p:cNvSpPr txBox="1"/>
          <p:nvPr/>
        </p:nvSpPr>
        <p:spPr>
          <a:xfrm>
            <a:off x="3383280" y="4101084"/>
            <a:ext cx="2377440" cy="507491"/>
          </a:xfrm>
          <a:prstGeom prst="rect">
            <a:avLst/>
          </a:prstGeom>
          <a:noFill/>
        </p:spPr>
        <p:txBody>
          <a:bodyPr wrap="square" lIns="0" tIns="0" rIns="0" bIns="0" anchor="t">
            <a:spAutoFit/>
          </a:bodyPr>
          <a:lstStyle/>
          <a:p>
            <a:pPr algn="l">
              <a:lnSpc>
                <a:spcPct val="105000"/>
              </a:lnSpc>
            </a:pPr>
            <a:r>
              <a:rPr sz="780" b="0" i="0">
                <a:solidFill>
                  <a:srgbClr val="1F5A5C"/>
                </a:solidFill>
                <a:latin typeface="Poppins Light"/>
              </a:rPr>
              <a:t>Route easy cases to a lighter model; escalate only ambiguous images to a larger one.</a:t>
            </a:r>
          </a:p>
        </p:txBody>
      </p:sp>
      <p:sp>
        <p:nvSpPr>
          <p:cNvPr id="30" name="Rounded Rectangle 29"/>
          <p:cNvSpPr/>
          <p:nvPr/>
        </p:nvSpPr>
        <p:spPr>
          <a:xfrm>
            <a:off x="6108192" y="3259836"/>
            <a:ext cx="2670048" cy="1421892"/>
          </a:xfrm>
          <a:prstGeom prst="roundRect">
            <a:avLst>
              <a:gd name="adj" fmla="val 3858"/>
            </a:avLst>
          </a:prstGeom>
          <a:solidFill>
            <a:srgbClr val="DFF4F5"/>
          </a:solidFill>
          <a:ln w="9525">
            <a:solidFill>
              <a:srgbClr val="B8E5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6254496" y="3396996"/>
            <a:ext cx="347472" cy="347472"/>
          </a:xfrm>
          <a:prstGeom prst="ellipse">
            <a:avLst/>
          </a:prstGeom>
          <a:solidFill>
            <a:srgbClr val="00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descr="image.png"/>
          <p:cNvPicPr>
            <a:picLocks noChangeAspect="1"/>
          </p:cNvPicPr>
          <p:nvPr/>
        </p:nvPicPr>
        <p:blipFill>
          <a:blip r:embed="rId8"/>
          <a:stretch>
            <a:fillRect/>
          </a:stretch>
        </p:blipFill>
        <p:spPr>
          <a:xfrm>
            <a:off x="6337889" y="3480389"/>
            <a:ext cx="180685" cy="180685"/>
          </a:xfrm>
          <a:prstGeom prst="rect">
            <a:avLst/>
          </a:prstGeom>
        </p:spPr>
      </p:pic>
      <p:sp>
        <p:nvSpPr>
          <p:cNvPr id="33" name="TextBox 32"/>
          <p:cNvSpPr txBox="1"/>
          <p:nvPr/>
        </p:nvSpPr>
        <p:spPr>
          <a:xfrm>
            <a:off x="6254496" y="3790187"/>
            <a:ext cx="2377440" cy="320040"/>
          </a:xfrm>
          <a:prstGeom prst="rect">
            <a:avLst/>
          </a:prstGeom>
          <a:noFill/>
        </p:spPr>
        <p:txBody>
          <a:bodyPr wrap="square" lIns="0" tIns="0" rIns="0" bIns="0" anchor="t">
            <a:spAutoFit/>
          </a:bodyPr>
          <a:lstStyle/>
          <a:p>
            <a:pPr algn="l">
              <a:lnSpc>
                <a:spcPct val="100000"/>
              </a:lnSpc>
            </a:pPr>
            <a:r>
              <a:rPr sz="950" b="1" i="0">
                <a:solidFill>
                  <a:srgbClr val="006E74"/>
                </a:solidFill>
                <a:latin typeface="Poppins"/>
              </a:rPr>
              <a:t>Observability &amp; Governance</a:t>
            </a:r>
          </a:p>
        </p:txBody>
      </p:sp>
      <p:sp>
        <p:nvSpPr>
          <p:cNvPr id="34" name="TextBox 33"/>
          <p:cNvSpPr txBox="1"/>
          <p:nvPr/>
        </p:nvSpPr>
        <p:spPr>
          <a:xfrm>
            <a:off x="6254496" y="4101084"/>
            <a:ext cx="2377440" cy="507491"/>
          </a:xfrm>
          <a:prstGeom prst="rect">
            <a:avLst/>
          </a:prstGeom>
          <a:noFill/>
        </p:spPr>
        <p:txBody>
          <a:bodyPr wrap="square" lIns="0" tIns="0" rIns="0" bIns="0" anchor="t">
            <a:spAutoFit/>
          </a:bodyPr>
          <a:lstStyle/>
          <a:p>
            <a:pPr algn="l">
              <a:lnSpc>
                <a:spcPct val="105000"/>
              </a:lnSpc>
            </a:pPr>
            <a:r>
              <a:rPr sz="780" b="0" i="0">
                <a:solidFill>
                  <a:srgbClr val="1F5A5C"/>
                </a:solidFill>
                <a:latin typeface="Poppins Light"/>
              </a:rPr>
              <a:t>Built-in tracing and agent-identity controls matter once autonomous steps touch production data.</a:t>
            </a:r>
          </a:p>
        </p:txBody>
      </p:sp>
    </p:spTree>
    <p:extLst>
      <p:ext uri="{BB962C8B-B14F-4D97-AF65-F5344CB8AC3E}">
        <p14:creationId xmlns:p14="http://schemas.microsoft.com/office/powerpoint/2010/main" val="1202633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659C7E2A-1841-4AA0-8084-E8A63CE13743}"/>
              </a:ext>
            </a:extLst>
          </p:cNvPr>
          <p:cNvSpPr>
            <a:spLocks noGrp="1"/>
          </p:cNvSpPr>
          <p:nvPr>
            <p:ph type="title"/>
          </p:nvPr>
        </p:nvSpPr>
        <p:spPr>
          <a:xfrm>
            <a:off x="500144" y="587319"/>
            <a:ext cx="2928856" cy="373941"/>
          </a:xfrm>
        </p:spPr>
        <p:txBody>
          <a:bodyPr/>
          <a:lstStyle/>
          <a:p>
            <a:r>
              <a:rPr lang="en-IN" dirty="0"/>
              <a:t>Open for Q&amp;A</a:t>
            </a:r>
          </a:p>
        </p:txBody>
      </p:sp>
      <p:sp>
        <p:nvSpPr>
          <p:cNvPr id="20" name="TextBox 19">
            <a:extLst>
              <a:ext uri="{FF2B5EF4-FFF2-40B4-BE49-F238E27FC236}">
                <a16:creationId xmlns:a16="http://schemas.microsoft.com/office/drawing/2014/main" id="{00BF7C1C-5346-439E-84A8-6144DDA42BB2}"/>
              </a:ext>
            </a:extLst>
          </p:cNvPr>
          <p:cNvSpPr txBox="1"/>
          <p:nvPr/>
        </p:nvSpPr>
        <p:spPr>
          <a:xfrm>
            <a:off x="2677990" y="2746752"/>
            <a:ext cx="5473211" cy="226985"/>
          </a:xfrm>
          <a:prstGeom prst="rect">
            <a:avLst/>
          </a:prstGeom>
          <a:noFill/>
        </p:spPr>
        <p:txBody>
          <a:bodyPr wrap="square">
            <a:spAutoFit/>
          </a:bodyPr>
          <a:lstStyle/>
          <a:p>
            <a:r>
              <a:rPr lang="en-US" sz="875" dirty="0">
                <a:solidFill>
                  <a:srgbClr val="FFFFFF"/>
                </a:solidFill>
                <a:latin typeface="Segoe UI Semibold (Headings)"/>
                <a:cs typeface="Segoe UI" panose="020B0502040204020203" pitchFamily="34" charset="0"/>
              </a:rPr>
              <a:t>Presentation title </a:t>
            </a:r>
          </a:p>
        </p:txBody>
      </p:sp>
      <p:sp>
        <p:nvSpPr>
          <p:cNvPr id="7" name="Title 20">
            <a:extLst>
              <a:ext uri="{FF2B5EF4-FFF2-40B4-BE49-F238E27FC236}">
                <a16:creationId xmlns:a16="http://schemas.microsoft.com/office/drawing/2014/main" id="{6BC36688-58C9-313C-C61E-D417574C524E}"/>
              </a:ext>
            </a:extLst>
          </p:cNvPr>
          <p:cNvSpPr txBox="1">
            <a:spLocks/>
          </p:cNvSpPr>
          <p:nvPr/>
        </p:nvSpPr>
        <p:spPr>
          <a:xfrm>
            <a:off x="500144" y="3832236"/>
            <a:ext cx="2928856" cy="373941"/>
          </a:xfrm>
          <a:prstGeom prst="rect">
            <a:avLst/>
          </a:prstGeom>
          <a:noFill/>
          <a:ln>
            <a:noFill/>
          </a:ln>
        </p:spPr>
        <p:txBody>
          <a:bodyPr spcFirstLastPara="1" wrap="square" lIns="0" tIns="0" rIns="0" bIns="0" anchor="b" anchorCtr="0">
            <a:spAutoFit/>
          </a:bodyPr>
          <a:lstStyle>
            <a:defPPr marR="0" lvl="0" algn="l" rtl="0">
              <a:lnSpc>
                <a:spcPct val="100000"/>
              </a:lnSpc>
              <a:spcBef>
                <a:spcPts val="0"/>
              </a:spcBef>
              <a:spcAft>
                <a:spcPts val="0"/>
              </a:spcAft>
            </a:defPPr>
            <a:lvl1pPr marR="0" lvl="0" algn="l" defTabSz="699556" rtl="0" eaLnBrk="1" latinLnBrk="0" hangingPunct="1">
              <a:lnSpc>
                <a:spcPct val="90000"/>
              </a:lnSpc>
              <a:spcBef>
                <a:spcPct val="0"/>
              </a:spcBef>
              <a:spcAft>
                <a:spcPts val="0"/>
              </a:spcAft>
              <a:buClr>
                <a:schemeClr val="dk1"/>
              </a:buClr>
              <a:buSzPts val="2800"/>
              <a:buFont typeface="Arial"/>
              <a:buNone/>
              <a:defRPr lang="en-US" sz="2700" b="0" i="0" u="none" strike="noStrike" kern="1200" cap="none" spc="-38" baseline="0" dirty="0">
                <a:ln w="3175">
                  <a:noFill/>
                </a:ln>
                <a:solidFill>
                  <a:srgbClr val="08023F"/>
                </a:solidFill>
                <a:effectLst/>
                <a:latin typeface="+mj-lt"/>
                <a:ea typeface="Segoe UI Black" panose="020B0A02040204020203" pitchFamily="34" charset="0"/>
                <a:cs typeface="Segoe UI" pitchFamily="34" charset="0"/>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t>Thank you!!</a:t>
            </a:r>
          </a:p>
        </p:txBody>
      </p:sp>
      <p:pic>
        <p:nvPicPr>
          <p:cNvPr id="3" name="Image 0" descr="/home/claude/assets/linkedin_qr.png">
            <a:extLst>
              <a:ext uri="{FF2B5EF4-FFF2-40B4-BE49-F238E27FC236}">
                <a16:creationId xmlns:a16="http://schemas.microsoft.com/office/drawing/2014/main" id="{F6428220-D8EE-0928-5FF4-65FE84CE08A7}"/>
              </a:ext>
            </a:extLst>
          </p:cNvPr>
          <p:cNvPicPr>
            <a:picLocks noChangeAspect="1"/>
          </p:cNvPicPr>
          <p:nvPr/>
        </p:nvPicPr>
        <p:blipFill>
          <a:blip r:embed="rId3"/>
          <a:stretch>
            <a:fillRect/>
          </a:stretch>
        </p:blipFill>
        <p:spPr>
          <a:xfrm>
            <a:off x="500144" y="1436628"/>
            <a:ext cx="1920240" cy="1920240"/>
          </a:xfrm>
          <a:prstGeom prst="rect">
            <a:avLst/>
          </a:prstGeom>
        </p:spPr>
      </p:pic>
    </p:spTree>
    <p:extLst>
      <p:ext uri="{BB962C8B-B14F-4D97-AF65-F5344CB8AC3E}">
        <p14:creationId xmlns:p14="http://schemas.microsoft.com/office/powerpoint/2010/main" val="78350860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azconf</Template>
  <TotalTime>9854</TotalTime>
  <Words>1844</Words>
  <Application>Microsoft Office PowerPoint</Application>
  <PresentationFormat>On-screen Show (16:9)</PresentationFormat>
  <Paragraphs>215</Paragraphs>
  <Slides>16</Slides>
  <Notes>16</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Segoe UI Semibold (Headings)</vt:lpstr>
      <vt:lpstr>Arial</vt:lpstr>
      <vt:lpstr>Segoe UI</vt:lpstr>
      <vt:lpstr>Poppins Light</vt:lpstr>
      <vt:lpstr>Poppins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Open for 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 Navaneethan</dc:creator>
  <cp:lastModifiedBy>Srikanth Srigiri</cp:lastModifiedBy>
  <cp:revision>57</cp:revision>
  <dcterms:modified xsi:type="dcterms:W3CDTF">2026-09-12T01:22:56Z</dcterms:modified>
</cp:coreProperties>
</file>