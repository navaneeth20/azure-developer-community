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82" r:id="rId3"/>
    <p:sldId id="2877" r:id="rId4"/>
    <p:sldId id="2878" r:id="rId5"/>
    <p:sldId id="2879" r:id="rId6"/>
    <p:sldId id="2880" r:id="rId7"/>
    <p:sldId id="2881" r:id="rId8"/>
    <p:sldId id="258" r:id="rId9"/>
    <p:sldId id="259" r:id="rId10"/>
    <p:sldId id="263" r:id="rId11"/>
    <p:sldId id="2884" r:id="rId12"/>
    <p:sldId id="265" r:id="rId13"/>
    <p:sldId id="266" r:id="rId14"/>
    <p:sldId id="267" r:id="rId15"/>
    <p:sldId id="2883" r:id="rId16"/>
    <p:sldId id="2886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44CAD-D6C6-4897-87D4-D6A644F49C2B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E29AE-A966-4AC5-BE79-40647A4AD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136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5759D-AE2D-718C-26E2-AC7668554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FF3551-B464-C988-AE08-C647ABADA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22113-5FFE-0E0B-FD23-CD3E090F4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AAA75-1468-40B4-AC3D-490171A5301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4BC96-8D8C-5EB9-4A56-800C99A2E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37245-264D-820B-A200-5570ACE2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B41E-C226-4507-8D77-3C63DBA73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634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0B3C-3F44-897E-7E55-AF9F877E6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3CE04-7C1E-07E9-0BA3-F44685D23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34E5-D4C9-4586-6EFB-7DC234F42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AAA75-1468-40B4-AC3D-490171A5301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6AFE4-8E2E-2FB0-FBE1-9A2BF9245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8C681-7D65-6571-BECA-B8E9161A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B41E-C226-4507-8D77-3C63DBA73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022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40E81-369C-195A-5444-55369282D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CD542-4614-DB83-1DB7-917633BCB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B77D3-8429-D2E0-DC31-7CF7B96C4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AAA75-1468-40B4-AC3D-490171A5301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25EDF-93F5-99B8-277A-5570588D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EB4E6-3A88-C56B-9F0B-2355048AC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B41E-C226-4507-8D77-3C63DBA73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73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B7210-0D96-8C4E-46BC-73ED3D5D5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18202-9D13-5C10-2456-45F387B50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3DEB1-B70B-FA5C-BA77-F78B52CA7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BFAA2-833F-E187-2AD5-ABB7BCA43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AAA75-1468-40B4-AC3D-490171A5301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3847-961D-7BEC-346B-D47C3637C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85BEB-F258-9C8E-52E9-AA1E9CA3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B41E-C226-4507-8D77-3C63DBA73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841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2462-B465-B47F-CAD8-5D6FC33D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D7098-DF19-4E03-EEF2-EE4AF5F56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A4C9D-D5C8-1DE8-3C99-7DC1530DC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793A8-CE5E-FC01-59B5-F87020356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E1E37-657E-BE02-C184-A1013AAF9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CC476-78DE-ABED-D16F-4D1E9B74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AAA75-1468-40B4-AC3D-490171A5301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55D1F6-C855-E22F-841B-F8C1C88E5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609B4B-A957-A8D5-3DE0-B02B4AD04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B41E-C226-4507-8D77-3C63DBA73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04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50C6A-751E-0393-A1F3-7B705F5E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398635-96F4-60C2-3CDB-E8150B7B1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AAA75-1468-40B4-AC3D-490171A5301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0EB9A1-3C29-C5CC-BFF6-37BCBD5D2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E6817-0542-5556-AF3E-53E04E7F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B41E-C226-4507-8D77-3C63DBA73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42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720614-DF4A-12C3-5077-07AD2A9F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AAA75-1468-40B4-AC3D-490171A5301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64733-643F-527F-F86C-A43BAA08B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F6990-6C42-EA30-EC82-62ABD156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B41E-C226-4507-8D77-3C63DBA73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134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A4BE-E0C6-9933-BC6B-DC94F3E65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23F87-2672-1DEC-9803-FA2F43F99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B9CAA-158C-7E0B-B97D-F266C9AA8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30C6E-C5D6-C7ED-28F2-DFA85AA4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AAA75-1468-40B4-AC3D-490171A5301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4D3F1-09BC-70C2-0591-F791AD065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FAC37-0F7D-0E77-AF30-71174EA57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B41E-C226-4507-8D77-3C63DBA73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38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E6587-8FD1-B018-E900-510BF3F8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AE5DC2-B13B-DA04-2CB3-003807819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00C18-D37B-5E25-9DB9-D7A06F334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D01AD-6890-7B5A-77CF-52A8E3194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AAA75-1468-40B4-AC3D-490171A5301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F6575-E96B-303D-AD1C-6786BFE9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19660-4EB9-AF5B-40EA-C71D52A17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B41E-C226-4507-8D77-3C63DBA73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894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1E953-BFFA-55A6-571C-D499B2A3E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CE70-37AF-5BC5-2099-452926DD7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470F9-A71B-29E4-C409-B8A0EDCD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AAA75-1468-40B4-AC3D-490171A5301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808AA-2EDB-D74C-CFC0-D4129FDB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D7BD5-7896-3069-1F65-15A12714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B41E-C226-4507-8D77-3C63DBA73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977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4A5158-70B9-BF6F-CEB3-197B509348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4BE14-7515-3A1D-9B9B-E07E5C29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BD06C-2E50-79EC-0D8E-20DB2D5E2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AAA75-1468-40B4-AC3D-490171A5301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0952E-C3B1-5469-569A-6609B14CD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1A39F-CBA0-742B-A089-373AC902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0B41E-C226-4507-8D77-3C63DBA73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615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C44B05-2006-2E28-D67C-013A90F5E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DF7A2-BFBC-C6BD-80BD-283CCB463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167E5-89E6-BA06-1550-B66DDD3DD3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AAA75-1468-40B4-AC3D-490171A53011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0BBF6-B716-B7C6-E9A5-496687AE2E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DF15D-9A43-C7FD-D86D-8661DF17A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0B41E-C226-4507-8D77-3C63DBA73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0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D6777C4-E44A-908F-6C20-D65968FED3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71" r="-2" b="-2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585" y="1756816"/>
            <a:ext cx="5751769" cy="3021662"/>
          </a:xfrm>
          <a:solidFill>
            <a:schemeClr val="tx1">
              <a:lumMod val="95000"/>
              <a:lumOff val="5000"/>
            </a:schemeClr>
          </a:solidFill>
        </p:spPr>
        <p:txBody>
          <a:bodyPr anchor="ctr">
            <a:normAutofit fontScale="90000"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Building Intelligent AI Workflows with </a:t>
            </a:r>
            <a:r>
              <a:rPr lang="en-US" b="1" dirty="0" err="1">
                <a:solidFill>
                  <a:schemeClr val="bg1"/>
                </a:solidFill>
              </a:rPr>
              <a:t>LangChain</a:t>
            </a:r>
            <a:r>
              <a:rPr lang="en-US" b="1" dirty="0">
                <a:solidFill>
                  <a:schemeClr val="bg1"/>
                </a:solidFill>
              </a:rPr>
              <a:t> &amp; </a:t>
            </a:r>
            <a:r>
              <a:rPr lang="en-US" b="1" dirty="0" err="1">
                <a:solidFill>
                  <a:schemeClr val="bg1"/>
                </a:solidFill>
              </a:rPr>
              <a:t>LangGraph</a:t>
            </a:r>
            <a:endParaRPr lang="en-US" sz="3100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1974" y="5335941"/>
            <a:ext cx="4670233" cy="540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dirty="0"/>
              <a:t>C R Bhargavi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20110" y="31217"/>
            <a:ext cx="8162998" cy="1086559"/>
          </a:xfrm>
          <a:prstGeom prst="round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dirty="0"/>
              <a:t>C R Bhargavi </a:t>
            </a:r>
            <a:endParaRPr lang="en-IN" sz="2400" dirty="0"/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en-IN" sz="2400" dirty="0"/>
              <a:t>Microsoft MVP |Azure Community Champion </a:t>
            </a:r>
            <a:r>
              <a:rPr sz="2400" dirty="0"/>
              <a:t>| Microsoft MCT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6777" y="1113040"/>
            <a:ext cx="57792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Data Scientist</a:t>
            </a:r>
            <a:r>
              <a:rPr lang="en-IN" dirty="0"/>
              <a:t> Lead &amp; Power Platform Expert 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IN" dirty="0"/>
              <a:t>Global Speaker | Mentor | Blogger | Author  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IN" dirty="0"/>
              <a:t>Microsoft Most Valuable Professional &amp; Community Contributor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Passionate about </a:t>
            </a:r>
            <a:r>
              <a:rPr lang="en-IN" dirty="0"/>
              <a:t>AI, ML, Data Science, Data Engineering and </a:t>
            </a:r>
            <a:r>
              <a:rPr dirty="0"/>
              <a:t>Low-code AI</a:t>
            </a:r>
            <a:r>
              <a:rPr lang="en-IN" dirty="0"/>
              <a:t> Automations </a:t>
            </a: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67BE68-FBC5-04CF-3602-CB4E097FD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696" y="117090"/>
            <a:ext cx="3229063" cy="940014"/>
          </a:xfrm>
          <a:prstGeom prst="rect">
            <a:avLst/>
          </a:prstGeom>
        </p:spPr>
      </p:pic>
      <p:pic>
        <p:nvPicPr>
          <p:cNvPr id="1028" name="Picture 4" descr="Microsoft Fabric Data Engineering ...">
            <a:extLst>
              <a:ext uri="{FF2B5EF4-FFF2-40B4-BE49-F238E27FC236}">
                <a16:creationId xmlns:a16="http://schemas.microsoft.com/office/drawing/2014/main" id="{4E9687D3-9322-A25F-4BE2-EA3186631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977" y="5120298"/>
            <a:ext cx="1368246" cy="169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appy to share that I passed the AI-102 : Microsoft Certified: Azure AI  Engineer Associate exam. | Benjamin Perkins">
            <a:extLst>
              <a:ext uri="{FF2B5EF4-FFF2-40B4-BE49-F238E27FC236}">
                <a16:creationId xmlns:a16="http://schemas.microsoft.com/office/drawing/2014/main" id="{0D9CC7A3-7146-E893-D0A7-FBC2AF0082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28" t="17324" r="25787" b="20159"/>
          <a:stretch>
            <a:fillRect/>
          </a:stretch>
        </p:blipFill>
        <p:spPr bwMode="auto">
          <a:xfrm>
            <a:off x="10640326" y="5044453"/>
            <a:ext cx="1431564" cy="168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lance over Microsoft Certified: Azure Data Scientist Associate (DP-100)  Exam | by Subhasree Mohapatra | Cognizant Servian">
            <a:extLst>
              <a:ext uri="{FF2B5EF4-FFF2-40B4-BE49-F238E27FC236}">
                <a16:creationId xmlns:a16="http://schemas.microsoft.com/office/drawing/2014/main" id="{491FFBBF-8E52-A8F2-FB6C-9E8957EE85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3" r="11550"/>
          <a:stretch>
            <a:fillRect/>
          </a:stretch>
        </p:blipFill>
        <p:spPr bwMode="auto">
          <a:xfrm>
            <a:off x="8805696" y="1095569"/>
            <a:ext cx="1650215" cy="169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B8E59BF-9C5B-4C27-45B4-5C075B3665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110" y="2923302"/>
            <a:ext cx="8345677" cy="3802858"/>
          </a:xfrm>
          <a:prstGeom prst="rect">
            <a:avLst/>
          </a:prstGeom>
        </p:spPr>
      </p:pic>
      <p:pic>
        <p:nvPicPr>
          <p:cNvPr id="1036" name="Picture 12" descr="No alternative text description for this image">
            <a:extLst>
              <a:ext uri="{FF2B5EF4-FFF2-40B4-BE49-F238E27FC236}">
                <a16:creationId xmlns:a16="http://schemas.microsoft.com/office/drawing/2014/main" id="{716A90FC-9050-1191-FB14-824C99236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1794" y="1131315"/>
            <a:ext cx="1430206" cy="162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06E7933-4117-C0DE-680D-7C225CC338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232" y="2783075"/>
            <a:ext cx="2800362" cy="2312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an AI workflow</a:t>
            </a:r>
          </a:p>
          <a:p>
            <a:r>
              <a:rPr dirty="0"/>
              <a:t> Introduction to </a:t>
            </a:r>
            <a:r>
              <a:rPr dirty="0" err="1"/>
              <a:t>LangChain</a:t>
            </a:r>
            <a:endParaRPr dirty="0"/>
          </a:p>
          <a:p>
            <a:r>
              <a:rPr dirty="0"/>
              <a:t> Limitations of linear chains</a:t>
            </a:r>
          </a:p>
          <a:p>
            <a:r>
              <a:rPr dirty="0"/>
              <a:t> Introduction to </a:t>
            </a:r>
            <a:r>
              <a:rPr dirty="0" err="1"/>
              <a:t>LangGraph</a:t>
            </a:r>
            <a:endParaRPr dirty="0"/>
          </a:p>
          <a:p>
            <a:r>
              <a:rPr dirty="0"/>
              <a:t> Demo: Intelligent AI workflow</a:t>
            </a:r>
          </a:p>
          <a:p>
            <a:r>
              <a:rPr dirty="0"/>
              <a:t> Key takeaways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AI Workflow?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workflows connect multiple steps together.</a:t>
            </a:r>
          </a:p>
          <a:p>
            <a:r>
              <a:t>Example:</a:t>
            </a:r>
          </a:p>
          <a:p>
            <a:r>
              <a:t>User Question → Retrieve Data → Call Tool → Generate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LangChain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450394" cy="4351338"/>
          </a:xfrm>
        </p:spPr>
        <p:txBody>
          <a:bodyPr/>
          <a:lstStyle/>
          <a:p>
            <a:r>
              <a:rPr dirty="0" err="1"/>
              <a:t>LangChain</a:t>
            </a:r>
            <a:r>
              <a:rPr dirty="0"/>
              <a:t> is a framework for building applications powered by LLMs.</a:t>
            </a:r>
          </a:p>
          <a:p>
            <a:r>
              <a:rPr dirty="0"/>
              <a:t>It provides reusable components for integrating models, prompts, and tools.</a:t>
            </a:r>
            <a:endParaRPr lang="en-IN" dirty="0"/>
          </a:p>
          <a:p>
            <a:r>
              <a:rPr lang="en-US" dirty="0"/>
              <a:t>It provides tools and abstractions to build complex applications by chaining together different components in a flexible and modular way</a:t>
            </a:r>
            <a:endParaRPr dirty="0"/>
          </a:p>
        </p:txBody>
      </p:sp>
      <p:pic>
        <p:nvPicPr>
          <p:cNvPr id="4" name="Picture 3" descr="A bird and chain with black text&#10;&#10;AI-generated content may be incorrect.">
            <a:extLst>
              <a:ext uri="{FF2B5EF4-FFF2-40B4-BE49-F238E27FC236}">
                <a16:creationId xmlns:a16="http://schemas.microsoft.com/office/drawing/2014/main" id="{4D33C8B9-8327-8FB0-7AB2-4B330D5AAF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4" r="1771" b="2"/>
          <a:stretch>
            <a:fillRect/>
          </a:stretch>
        </p:blipFill>
        <p:spPr>
          <a:xfrm>
            <a:off x="8381386" y="1690688"/>
            <a:ext cx="2972414" cy="250534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LangChain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LLM integrations</a:t>
            </a:r>
            <a:r>
              <a:rPr lang="en-IN" dirty="0"/>
              <a:t> : Model </a:t>
            </a:r>
            <a:endParaRPr dirty="0"/>
          </a:p>
          <a:p>
            <a:r>
              <a:rPr dirty="0"/>
              <a:t> Prompt templates</a:t>
            </a:r>
            <a:r>
              <a:rPr lang="en-IN" dirty="0"/>
              <a:t> : Structure prompts dynamically.</a:t>
            </a:r>
            <a:endParaRPr dirty="0"/>
          </a:p>
          <a:p>
            <a:r>
              <a:rPr dirty="0"/>
              <a:t> Chains</a:t>
            </a:r>
            <a:r>
              <a:rPr lang="en-IN" dirty="0"/>
              <a:t> : </a:t>
            </a:r>
            <a:r>
              <a:rPr lang="en-US" dirty="0"/>
              <a:t>Connect multiple steps into a pipeline.</a:t>
            </a:r>
            <a:endParaRPr dirty="0"/>
          </a:p>
          <a:p>
            <a:r>
              <a:rPr dirty="0"/>
              <a:t> Tools</a:t>
            </a:r>
            <a:r>
              <a:rPr lang="en-IN" dirty="0"/>
              <a:t> : External systems like API or search engines </a:t>
            </a:r>
            <a:endParaRPr dirty="0"/>
          </a:p>
          <a:p>
            <a:r>
              <a:rPr dirty="0"/>
              <a:t> Memory</a:t>
            </a:r>
            <a:r>
              <a:rPr lang="en-IN" dirty="0"/>
              <a:t> : Maintain conversation context</a:t>
            </a:r>
            <a:endParaRPr dirty="0"/>
          </a:p>
          <a:p>
            <a:r>
              <a:rPr dirty="0"/>
              <a:t> Retrievers</a:t>
            </a:r>
            <a:r>
              <a:rPr lang="en-IN" dirty="0"/>
              <a:t> : </a:t>
            </a:r>
            <a:r>
              <a:rPr lang="en-US" dirty="0"/>
              <a:t>Fetch relevant data from external knowledge sources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LangChain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588" y="2002606"/>
            <a:ext cx="4481051" cy="4351338"/>
          </a:xfrm>
        </p:spPr>
        <p:txBody>
          <a:bodyPr/>
          <a:lstStyle/>
          <a:p>
            <a:r>
              <a:rPr dirty="0"/>
              <a:t>User Query → Retriever → Context → LLM → Response</a:t>
            </a:r>
          </a:p>
          <a:p>
            <a:r>
              <a:rPr dirty="0"/>
              <a:t>Used in applications like RAG chatbots and assistants.</a:t>
            </a:r>
          </a:p>
        </p:txBody>
      </p:sp>
      <p:pic>
        <p:nvPicPr>
          <p:cNvPr id="3074" name="Picture 2" descr="Basic RAG - Quivr">
            <a:extLst>
              <a:ext uri="{FF2B5EF4-FFF2-40B4-BE49-F238E27FC236}">
                <a16:creationId xmlns:a16="http://schemas.microsoft.com/office/drawing/2014/main" id="{9C6C6735-2508-EE01-BB73-30CB7EBD9A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01"/>
          <a:stretch>
            <a:fillRect/>
          </a:stretch>
        </p:blipFill>
        <p:spPr bwMode="auto">
          <a:xfrm>
            <a:off x="4854675" y="1392676"/>
            <a:ext cx="6990737" cy="534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LangChain Explained: The Ultimate Framework for Building LLM Applications |  DigitalOcean">
            <a:extLst>
              <a:ext uri="{FF2B5EF4-FFF2-40B4-BE49-F238E27FC236}">
                <a16:creationId xmlns:a16="http://schemas.microsoft.com/office/drawing/2014/main" id="{64D875A0-249F-7690-066C-9055975463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" t="5836" r="-152" b="3097"/>
          <a:stretch>
            <a:fillRect/>
          </a:stretch>
        </p:blipFill>
        <p:spPr bwMode="auto">
          <a:xfrm>
            <a:off x="6440128" y="1690688"/>
            <a:ext cx="5631425" cy="419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Simple 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573" y="1994130"/>
            <a:ext cx="5828071" cy="3591949"/>
          </a:xfrm>
        </p:spPr>
        <p:txBody>
          <a:bodyPr>
            <a:normAutofit/>
          </a:bodyPr>
          <a:lstStyle/>
          <a:p>
            <a:r>
              <a:rPr dirty="0"/>
              <a:t>Create a chain that takes a user's input, processes it with a language model, and performs a specific action based on the output.</a:t>
            </a:r>
          </a:p>
          <a:p>
            <a:r>
              <a:rPr lang="en-IN" dirty="0"/>
              <a:t>Works well for </a:t>
            </a:r>
            <a:r>
              <a:rPr lang="en-US" dirty="0"/>
              <a:t>basic tasks like summarization, translation, or text generation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8C6D9-F4B8-A272-B975-F4CFFB5FFF6F}"/>
              </a:ext>
            </a:extLst>
          </p:cNvPr>
          <p:cNvSpPr txBox="1"/>
          <p:nvPr/>
        </p:nvSpPr>
        <p:spPr>
          <a:xfrm>
            <a:off x="5869858" y="61929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 query -&gt; Language model Process -&gt; Response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eet Langchain: The Glue Between LLMs and Your Workflows | by Sanat Ladkat  | Python in Plain English">
            <a:extLst>
              <a:ext uri="{FF2B5EF4-FFF2-40B4-BE49-F238E27FC236}">
                <a16:creationId xmlns:a16="http://schemas.microsoft.com/office/drawing/2014/main" id="{69112528-FC28-A51E-6647-49932AC2B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650" y="3077496"/>
            <a:ext cx="8308259" cy="364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Advanced 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548" y="1599484"/>
            <a:ext cx="9269361" cy="4351338"/>
          </a:xfrm>
        </p:spPr>
        <p:txBody>
          <a:bodyPr/>
          <a:lstStyle/>
          <a:p>
            <a:r>
              <a:rPr dirty="0"/>
              <a:t>Chains can include </a:t>
            </a:r>
            <a:r>
              <a:rPr lang="en-IN" dirty="0"/>
              <a:t> </a:t>
            </a:r>
            <a:r>
              <a:rPr dirty="0"/>
              <a:t>branching, looping, </a:t>
            </a:r>
            <a:r>
              <a:rPr lang="en-IN" dirty="0"/>
              <a:t>additional processing step </a:t>
            </a:r>
            <a:r>
              <a:rPr dirty="0"/>
              <a:t>and conditional logic.</a:t>
            </a:r>
          </a:p>
          <a:p>
            <a:pPr marL="0" indent="0">
              <a:buNone/>
            </a:pPr>
            <a:r>
              <a:rPr dirty="0"/>
              <a:t>User query -&gt; Language model -&gt; Conditional logic -&gt; Different responses.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Linear 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pipelines follow fixed steps.</a:t>
            </a:r>
          </a:p>
          <a:p>
            <a:r>
              <a:t>Challenges:</a:t>
            </a:r>
          </a:p>
          <a:p>
            <a:r>
              <a:t>• Cannot dynamically decide next actions</a:t>
            </a:r>
          </a:p>
          <a:p>
            <a:r>
              <a:t>• Limited reasoning loops</a:t>
            </a:r>
          </a:p>
          <a:p>
            <a:r>
              <a:t>• Difficult to handle complex tasks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8DCA8-0906-7DAE-DB0E-40BF67DA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9A26F-29DA-E4FA-29F2-4020AC5BF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 descr="Understanding LangChain 🦜️🔗: PART 1 | by Chinmay Bhalerao | Towards AI">
            <a:extLst>
              <a:ext uri="{FF2B5EF4-FFF2-40B4-BE49-F238E27FC236}">
                <a16:creationId xmlns:a16="http://schemas.microsoft.com/office/drawing/2014/main" id="{829CE236-DCA3-9001-2C70-3F16DA020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" r="-1806"/>
          <a:stretch>
            <a:fillRect/>
          </a:stretch>
        </p:blipFill>
        <p:spPr bwMode="auto">
          <a:xfrm>
            <a:off x="108154" y="0"/>
            <a:ext cx="1208384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865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of LangGraph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Nodes – individual tasks (LLM, tool, retrieval)</a:t>
            </a:r>
          </a:p>
          <a:p>
            <a:r>
              <a:t>• Edges – transitions between tasks</a:t>
            </a:r>
          </a:p>
          <a:p>
            <a:r>
              <a:t>• State – shared context across workflow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LangGraph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Query → Agent Node → Tool Node → Evaluate Result → Final Response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Example: AI Research Assistant</a:t>
            </a:r>
            <a:endParaRPr lang="en-IN" dirty="0"/>
          </a:p>
          <a:p>
            <a:r>
              <a:rPr lang="en-IN" dirty="0"/>
              <a:t>User Query → </a:t>
            </a:r>
            <a:r>
              <a:rPr lang="en-IN" dirty="0" err="1"/>
              <a:t>LangGraph</a:t>
            </a:r>
            <a:r>
              <a:rPr lang="en-IN" dirty="0"/>
              <a:t> Agent → Search Tool → Summarize Results → Final Answer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18BF-686C-4E4C-B891-2309FD2A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A2BD6-731C-6160-1FF3-7A2CD6137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 descr="🔗 What is LangChain in AI? Unlocking Complex Task Chaining with Ease! | by  ShivajiKant | Medium">
            <a:extLst>
              <a:ext uri="{FF2B5EF4-FFF2-40B4-BE49-F238E27FC236}">
                <a16:creationId xmlns:a16="http://schemas.microsoft.com/office/drawing/2014/main" id="{877775B8-3221-7B32-F770-D2CE3781E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5407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03F34-6D17-CE63-38BC-0D1B6463C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</a:t>
            </a:r>
            <a:r>
              <a:rPr lang="en-US" dirty="0" err="1"/>
              <a:t>LangChain</a:t>
            </a:r>
            <a:r>
              <a:rPr lang="en-US" dirty="0"/>
              <a:t> and </a:t>
            </a:r>
            <a:r>
              <a:rPr lang="en-US" dirty="0" err="1"/>
              <a:t>LangGraph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A89E90-8DBB-E1CA-97B8-1181F0BB65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639662"/>
              </p:ext>
            </p:extLst>
          </p:nvPr>
        </p:nvGraphicFramePr>
        <p:xfrm>
          <a:off x="769374" y="1848003"/>
          <a:ext cx="10515600" cy="4802184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76259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5096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44332124"/>
                    </a:ext>
                  </a:extLst>
                </a:gridCol>
              </a:tblGrid>
              <a:tr h="533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LangChain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LangGraph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850851"/>
                  </a:ext>
                </a:extLst>
              </a:tr>
              <a:tr h="533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Prompt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04235"/>
                  </a:ext>
                </a:extLst>
              </a:tr>
              <a:tr h="533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LLM wrappers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960785"/>
                  </a:ext>
                </a:extLst>
              </a:tr>
              <a:tr h="533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RAG pipelines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595564"/>
                  </a:ext>
                </a:extLst>
              </a:tr>
              <a:tr h="533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 calling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586525"/>
                  </a:ext>
                </a:extLst>
              </a:tr>
              <a:tr h="533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chains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192480"/>
                  </a:ext>
                </a:extLst>
              </a:tr>
              <a:tr h="533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568050"/>
                  </a:ext>
                </a:extLst>
              </a:tr>
              <a:tr h="533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Stateful 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94933"/>
                  </a:ext>
                </a:extLst>
              </a:tr>
              <a:tr h="533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Loops / retries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Built-in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907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856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Demo will show:</a:t>
            </a:r>
          </a:p>
          <a:p>
            <a:pPr lvl="1"/>
            <a:r>
              <a:rPr dirty="0"/>
              <a:t>Agent reasoning</a:t>
            </a:r>
          </a:p>
          <a:p>
            <a:pPr lvl="1"/>
            <a:r>
              <a:rPr dirty="0"/>
              <a:t>Tool usage</a:t>
            </a:r>
          </a:p>
          <a:p>
            <a:pPr lvl="1"/>
            <a:r>
              <a:rPr dirty="0"/>
              <a:t>Multi‑step workflow</a:t>
            </a:r>
            <a:endParaRPr lang="en-IN" dirty="0"/>
          </a:p>
          <a:p>
            <a:pPr lvl="1"/>
            <a:r>
              <a:rPr lang="en-IN" dirty="0"/>
              <a:t>LCEL (</a:t>
            </a:r>
            <a:r>
              <a:rPr lang="en-IN" dirty="0" err="1"/>
              <a:t>LangChain</a:t>
            </a:r>
            <a:r>
              <a:rPr lang="en-IN" dirty="0"/>
              <a:t> Expression Language)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r>
              <a:rPr lang="en-IN" dirty="0"/>
              <a:t>All agents implemented with:</a:t>
            </a:r>
          </a:p>
          <a:p>
            <a:pPr lvl="1"/>
            <a:r>
              <a:rPr lang="en-IN" dirty="0" err="1"/>
              <a:t>LangChain</a:t>
            </a:r>
            <a:r>
              <a:rPr lang="en-IN" dirty="0"/>
              <a:t> </a:t>
            </a:r>
            <a:r>
              <a:rPr lang="en-IN" dirty="0" err="1"/>
              <a:t>Runnables</a:t>
            </a:r>
            <a:endParaRPr lang="en-IN" dirty="0"/>
          </a:p>
          <a:p>
            <a:pPr lvl="1"/>
            <a:r>
              <a:rPr lang="en-IN" dirty="0"/>
              <a:t>Prompt Templates</a:t>
            </a:r>
          </a:p>
          <a:p>
            <a:pPr lvl="1"/>
            <a:r>
              <a:rPr lang="en-IN" dirty="0"/>
              <a:t>Output Parsers</a:t>
            </a:r>
          </a:p>
          <a:p>
            <a:pPr lvl="1"/>
            <a:r>
              <a:rPr lang="en-IN" dirty="0"/>
              <a:t>Tools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484</Words>
  <Application>Microsoft Office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Building Intelligent AI Workflows with LangChain &amp; LangGraph</vt:lpstr>
      <vt:lpstr>PowerPoint Presentation</vt:lpstr>
      <vt:lpstr>Session Agenda</vt:lpstr>
      <vt:lpstr>What is an AI Workflow?</vt:lpstr>
      <vt:lpstr>Introduction to LangChain</vt:lpstr>
      <vt:lpstr>Key Components of LangChain</vt:lpstr>
      <vt:lpstr>Example LangChain Pipeline</vt:lpstr>
      <vt:lpstr>Simple Chains</vt:lpstr>
      <vt:lpstr>Advanced Chains</vt:lpstr>
      <vt:lpstr>Limitations of Linear Chains</vt:lpstr>
      <vt:lpstr>PowerPoint Presentation</vt:lpstr>
      <vt:lpstr>Core Concepts of LangGraph</vt:lpstr>
      <vt:lpstr>Example LangGraph Workflow</vt:lpstr>
      <vt:lpstr>Demo Architecture</vt:lpstr>
      <vt:lpstr>PowerPoint Presentation</vt:lpstr>
      <vt:lpstr>Difference Between LangChain and LangGraph</vt:lpstr>
      <vt:lpstr>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Chakaravarthi Rangarajan Bhargavi</dc:creator>
  <cp:lastModifiedBy>Chakaravarthi Rangarajan Bhargavi</cp:lastModifiedBy>
  <cp:revision>13</cp:revision>
  <dcterms:created xsi:type="dcterms:W3CDTF">2026-03-14T01:06:24Z</dcterms:created>
  <dcterms:modified xsi:type="dcterms:W3CDTF">2026-03-21T13:11:22Z</dcterms:modified>
</cp:coreProperties>
</file>